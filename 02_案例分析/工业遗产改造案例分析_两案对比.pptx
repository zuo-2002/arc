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C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789920" cy="640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3600" b="1">
                <a:solidFill>
                  <a:srgbClr val="F7F5EF"/>
                </a:solidFill>
                <a:latin typeface="Noto Sans CJK SC"/>
              </a:defRPr>
            </a:pPr>
            <a:r>
              <a:t>工业遗产改造案例分析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05840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200" b="0">
                <a:solidFill>
                  <a:srgbClr val="D9EADF"/>
                </a:solidFill>
                <a:latin typeface="Noto Sans CJK SC"/>
              </a:defRPr>
            </a:pPr>
            <a:r>
              <a:t>Tonsley 主装配厂房 × 南京压缩机厂尤家凹社区中心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2011680"/>
            <a:ext cx="4709160" cy="0"/>
          </a:xfrm>
          <a:prstGeom prst="line">
            <a:avLst/>
          </a:prstGeom>
          <a:ln w="50800">
            <a:solidFill>
              <a:srgbClr val="D06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2331720"/>
            <a:ext cx="576072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500" b="1">
                <a:solidFill>
                  <a:srgbClr val="F7F5EF"/>
                </a:solidFill>
                <a:latin typeface="Noto Sans CJK SC"/>
              </a:defRPr>
            </a:pPr>
            <a:r>
              <a:t>面向广州 1935 发电厂干煤棚的</a:t>
            </a:r>
            <a:br/>
            <a:r>
              <a:t>开放公共空间设计参考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77639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456C5B"/>
          </a:solidFill>
          <a:ln w="15240">
            <a:solidFill>
              <a:srgbClr val="45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28346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2100" b="1">
                <a:solidFill>
                  <a:srgbClr val="F7F5EF"/>
                </a:solidFill>
                <a:latin typeface="Noto Sans CJK SC"/>
              </a:defRPr>
            </a:pPr>
            <a:r>
              <a:t>保留工业骨架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28346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400" b="0">
                <a:solidFill>
                  <a:srgbClr val="D9EADF"/>
                </a:solidFill>
                <a:latin typeface="Noto Sans CJK SC"/>
              </a:defRPr>
            </a:pPr>
            <a:r>
              <a:t>结构成为公共空间的秩序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977639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251960"/>
            <a:ext cx="28346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2100" b="1">
                <a:solidFill>
                  <a:srgbClr val="F7F5EF"/>
                </a:solidFill>
                <a:latin typeface="Noto Sans CJK SC"/>
              </a:defRPr>
            </a:pPr>
            <a:r>
              <a:t>植入复合功能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617720"/>
            <a:ext cx="28346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400" b="0">
                <a:solidFill>
                  <a:srgbClr val="F7F5EF"/>
                </a:solidFill>
                <a:latin typeface="Noto Sans CJK SC"/>
              </a:defRPr>
            </a:pPr>
            <a:r>
              <a:t>盒子、长廊与社区活动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977639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42A9C4"/>
          </a:solidFill>
          <a:ln w="15240">
            <a:solidFill>
              <a:srgbClr val="42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251960"/>
            <a:ext cx="28346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2100" b="1">
                <a:solidFill>
                  <a:srgbClr val="F7F5EF"/>
                </a:solidFill>
                <a:latin typeface="Noto Sans CJK SC"/>
              </a:defRPr>
            </a:pPr>
            <a:r>
              <a:t>生态公共化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617720"/>
            <a:ext cx="28346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400" b="0">
                <a:solidFill>
                  <a:srgbClr val="F7F5EF"/>
                </a:solidFill>
                <a:latin typeface="Noto Sans CJK SC"/>
              </a:defRPr>
            </a:pPr>
            <a:r>
              <a:t>绿化、通风、雨洪与日常使用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26480"/>
            <a:ext cx="10058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100" b="0">
                <a:solidFill>
                  <a:srgbClr val="D9EADF"/>
                </a:solidFill>
                <a:latin typeface="Noto Sans CJK SC"/>
              </a:defRPr>
            </a:pPr>
            <a:r>
              <a:t>案例资料来源：谷德设计、东南大学建筑学院及相关项目公开资料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0"/>
            </a:avLst>
          </a:prstGeom>
          <a:solidFill>
            <a:srgbClr val="193C35"/>
          </a:solidFill>
          <a:ln w="1524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457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600" b="1">
                <a:solidFill>
                  <a:srgbClr val="D9EAD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73152"/>
            <a:ext cx="80467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400" b="1">
                <a:solidFill>
                  <a:srgbClr val="193C35"/>
                </a:solidFill>
                <a:latin typeface="Noto Sans CJK SC"/>
              </a:defRPr>
            </a:pPr>
            <a:r>
              <a:t>研究框架：从工业遗产到公共空间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09728"/>
            <a:ext cx="2743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0">
                <a:solidFill>
                  <a:srgbClr val="65746D"/>
                </a:solidFill>
                <a:latin typeface="Noto Sans CJK SC"/>
              </a:defRPr>
            </a:pPr>
            <a:r>
              <a:t>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51206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200" b="1">
                <a:solidFill>
                  <a:srgbClr val="193C35"/>
                </a:solidFill>
                <a:latin typeface="Noto Sans CJK SC"/>
              </a:defRPr>
            </a:pPr>
            <a:r>
              <a:t>本次分析关注四个问题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658368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800" b="1">
                <a:solidFill>
                  <a:srgbClr val="F7F5E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344168"/>
            <a:ext cx="320040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900" b="1">
                <a:solidFill>
                  <a:srgbClr val="193C35"/>
                </a:solidFill>
                <a:latin typeface="Noto Sans CJK SC"/>
              </a:defRPr>
            </a:pPr>
            <a:r>
              <a:t>保留什么？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36776"/>
            <a:ext cx="402336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400" b="0">
                <a:solidFill>
                  <a:srgbClr val="65746D"/>
                </a:solidFill>
                <a:latin typeface="Noto Sans CJK SC"/>
              </a:defRPr>
            </a:pPr>
            <a:r>
              <a:t>结构、构筑物、生产流程与场地记忆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39"/>
            <a:ext cx="658368" cy="658368"/>
          </a:xfrm>
          <a:prstGeom prst="roundRect">
            <a:avLst>
              <a:gd name="adj" fmla="val 8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42032"/>
            <a:ext cx="658368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800" b="1">
                <a:solidFill>
                  <a:srgbClr val="F7F5E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395727"/>
            <a:ext cx="320040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900" b="1">
                <a:solidFill>
                  <a:srgbClr val="193C35"/>
                </a:solidFill>
                <a:latin typeface="Noto Sans CJK SC"/>
              </a:defRPr>
            </a:pPr>
            <a:r>
              <a:t>如何植入？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88335"/>
            <a:ext cx="402336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400" b="0">
                <a:solidFill>
                  <a:srgbClr val="65746D"/>
                </a:solidFill>
                <a:latin typeface="Noto Sans CJK SC"/>
              </a:defRPr>
            </a:pPr>
            <a:r>
              <a:t>盒子、长廊、平台与复合功能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93592"/>
            <a:ext cx="658368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800" b="1">
                <a:solidFill>
                  <a:srgbClr val="F7F5E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47288"/>
            <a:ext cx="320040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900" b="1">
                <a:solidFill>
                  <a:srgbClr val="193C35"/>
                </a:solidFill>
                <a:latin typeface="Noto Sans CJK SC"/>
              </a:defRPr>
            </a:pPr>
            <a:r>
              <a:t>如何开放？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39896"/>
            <a:ext cx="402336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400" b="0">
                <a:solidFill>
                  <a:srgbClr val="65746D"/>
                </a:solidFill>
                <a:latin typeface="Noto Sans CJK SC"/>
              </a:defRPr>
            </a:pPr>
            <a:r>
              <a:t>公共主街、步行网络与分时运营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80559"/>
            <a:ext cx="658368" cy="658368"/>
          </a:xfrm>
          <a:prstGeom prst="roundRect">
            <a:avLst>
              <a:gd name="adj" fmla="val 8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45151"/>
            <a:ext cx="658368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800" b="1">
                <a:solidFill>
                  <a:srgbClr val="F7F5E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98847"/>
            <a:ext cx="320040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900" b="1">
                <a:solidFill>
                  <a:srgbClr val="193C35"/>
                </a:solidFill>
                <a:latin typeface="Noto Sans CJK SC"/>
              </a:defRPr>
            </a:pPr>
            <a:r>
              <a:t>如何生态？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791455"/>
            <a:ext cx="402336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400" b="0">
                <a:solidFill>
                  <a:srgbClr val="65746D"/>
                </a:solidFill>
                <a:latin typeface="Noto Sans CJK SC"/>
              </a:defRPr>
            </a:pPr>
            <a:r>
              <a:t>绿化、遮阳、采光、通风与雨洪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005840"/>
            <a:ext cx="4937760" cy="4480560"/>
          </a:xfrm>
          <a:prstGeom prst="roundRect">
            <a:avLst>
              <a:gd name="adj" fmla="val 8000"/>
            </a:avLst>
          </a:prstGeom>
          <a:solidFill>
            <a:srgbClr val="D9EADF"/>
          </a:solidFill>
          <a:ln w="15240">
            <a:solidFill>
              <a:srgbClr val="45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1234440"/>
            <a:ext cx="42976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2200" b="1">
                <a:solidFill>
                  <a:srgbClr val="193C35"/>
                </a:solidFill>
                <a:latin typeface="Noto Sans CJK SC"/>
              </a:defRPr>
            </a:pPr>
            <a:r>
              <a:t>对干煤棚的目标转译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1828800"/>
            <a:ext cx="2743200" cy="548640"/>
          </a:xfrm>
          <a:prstGeom prst="roundRect">
            <a:avLst>
              <a:gd name="adj" fmla="val 8000"/>
            </a:avLst>
          </a:prstGeom>
          <a:solidFill>
            <a:srgbClr val="EFC78D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1993392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500" b="1">
                <a:solidFill>
                  <a:srgbClr val="193C35"/>
                </a:solidFill>
                <a:latin typeface="Noto Sans CJK SC"/>
              </a:defRPr>
            </a:pPr>
            <a:r>
              <a:t>保留 216m 柱网与网架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69680" y="2377440"/>
            <a:ext cx="0" cy="411480"/>
          </a:xfrm>
          <a:prstGeom prst="line">
            <a:avLst/>
          </a:prstGeom>
          <a:ln w="38100">
            <a:solidFill>
              <a:srgbClr val="456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98079" y="2788920"/>
            <a:ext cx="2743200" cy="548640"/>
          </a:xfrm>
          <a:prstGeom prst="roundRect">
            <a:avLst>
              <a:gd name="adj" fmla="val 8000"/>
            </a:avLst>
          </a:prstGeom>
          <a:solidFill>
            <a:srgbClr val="8B5DE7"/>
          </a:solidFill>
          <a:ln w="15240">
            <a:solidFill>
              <a:srgbClr val="8B5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2953512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500" b="1">
                <a:solidFill>
                  <a:srgbClr val="F7F5EF"/>
                </a:solidFill>
                <a:latin typeface="Noto Sans CJK SC"/>
              </a:defRPr>
            </a:pPr>
            <a:r>
              <a:t>首层公共街 + 二层环廊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69680" y="3337560"/>
            <a:ext cx="0" cy="411479"/>
          </a:xfrm>
          <a:prstGeom prst="line">
            <a:avLst/>
          </a:prstGeom>
          <a:ln w="38100">
            <a:solidFill>
              <a:srgbClr val="456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498079" y="3749039"/>
            <a:ext cx="2743200" cy="548640"/>
          </a:xfrm>
          <a:prstGeom prst="roundRect">
            <a:avLst>
              <a:gd name="adj" fmla="val 8000"/>
            </a:avLst>
          </a:prstGeom>
          <a:solidFill>
            <a:srgbClr val="42A9C4"/>
          </a:solidFill>
          <a:ln w="15240">
            <a:solidFill>
              <a:srgbClr val="42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3913632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500" b="1">
                <a:solidFill>
                  <a:srgbClr val="F7F5EF"/>
                </a:solidFill>
                <a:latin typeface="Noto Sans CJK SC"/>
              </a:defRPr>
            </a:pPr>
            <a:r>
              <a:t>室内森林 + 雨水花园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69680" y="4297680"/>
            <a:ext cx="0" cy="411480"/>
          </a:xfrm>
          <a:prstGeom prst="line">
            <a:avLst/>
          </a:prstGeom>
          <a:ln w="38100">
            <a:solidFill>
              <a:srgbClr val="456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498079" y="4709160"/>
            <a:ext cx="2743200" cy="548640"/>
          </a:xfrm>
          <a:prstGeom prst="roundRect">
            <a:avLst>
              <a:gd name="adj" fmla="val 8000"/>
            </a:avLst>
          </a:prstGeom>
          <a:solidFill>
            <a:srgbClr val="193C35"/>
          </a:solidFill>
          <a:ln w="1524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4873752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500" b="1">
                <a:solidFill>
                  <a:srgbClr val="F7F5EF"/>
                </a:solidFill>
                <a:latin typeface="Noto Sans CJK SC"/>
              </a:defRPr>
            </a:pPr>
            <a:r>
              <a:t>开放公共空间综合体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1480" y="6510528"/>
            <a:ext cx="11384280" cy="0"/>
          </a:xfrm>
          <a:prstGeom prst="line">
            <a:avLst/>
          </a:prstGeom>
          <a:ln w="12700">
            <a:solidFill>
              <a:srgbClr val="D9E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11480" y="6556248"/>
            <a:ext cx="7315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1935 发电厂干煤棚改造 · 案例研究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50040" y="6556248"/>
            <a:ext cx="27432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0"/>
            </a:avLst>
          </a:prstGeom>
          <a:solidFill>
            <a:srgbClr val="193C35"/>
          </a:solidFill>
          <a:ln w="1524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457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600" b="1">
                <a:solidFill>
                  <a:srgbClr val="D9EAD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73152"/>
            <a:ext cx="80467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400" b="1">
                <a:solidFill>
                  <a:srgbClr val="193C35"/>
                </a:solidFill>
                <a:latin typeface="Noto Sans CJK SC"/>
              </a:defRPr>
            </a:pPr>
            <a:r>
              <a:t>案例一：Tonsley 主装配厂房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09728"/>
            <a:ext cx="2743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0">
                <a:solidFill>
                  <a:srgbClr val="65746D"/>
                </a:solidFill>
                <a:latin typeface="Noto Sans CJK SC"/>
              </a:defRPr>
            </a:pPr>
            <a:r>
              <a:t>ADELAIDE · WOODS BAGOT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54864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300" b="1">
                <a:solidFill>
                  <a:srgbClr val="193C35"/>
                </a:solidFill>
                <a:latin typeface="Noto Sans CJK SC"/>
              </a:defRPr>
            </a:pPr>
            <a:r>
              <a:t>从汽车工厂到知识与创新街区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303520" cy="8229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500" b="0">
                <a:solidFill>
                  <a:srgbClr val="15221E"/>
                </a:solidFill>
                <a:latin typeface="Noto Sans CJK SC"/>
              </a:defRPr>
            </a:pPr>
            <a:r>
              <a:t>原三菱汽车工厂的主装配厂房被保留为大型“工业伞盖”，内部容纳清洁技术、先进制造、教育科研、创业办公和公共活动。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914400"/>
            <a:ext cx="5120640" cy="3108960"/>
          </a:xfrm>
          <a:prstGeom prst="roundRect">
            <a:avLst>
              <a:gd name="adj" fmla="val 8000"/>
            </a:avLst>
          </a:prstGeom>
          <a:solidFill>
            <a:srgbClr val="D9EADF"/>
          </a:solidFill>
          <a:ln w="15240">
            <a:solidFill>
              <a:srgbClr val="45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024128"/>
            <a:ext cx="484632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300" b="1">
                <a:solidFill>
                  <a:srgbClr val="193C35"/>
                </a:solidFill>
                <a:latin typeface="Noto Sans CJK SC"/>
              </a:defRPr>
            </a:pPr>
            <a:r>
              <a:t>原有大跨度“伞盖”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12280" y="1417320"/>
            <a:ext cx="0" cy="2194560"/>
          </a:xfrm>
          <a:prstGeom prst="line">
            <a:avLst/>
          </a:prstGeom>
          <a:ln w="38100">
            <a:solidFill>
              <a:srgbClr val="456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28560" y="1417320"/>
            <a:ext cx="0" cy="2194560"/>
          </a:xfrm>
          <a:prstGeom prst="line">
            <a:avLst/>
          </a:prstGeom>
          <a:ln w="38100">
            <a:solidFill>
              <a:srgbClr val="456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44839" y="1417320"/>
            <a:ext cx="0" cy="2194560"/>
          </a:xfrm>
          <a:prstGeom prst="line">
            <a:avLst/>
          </a:prstGeom>
          <a:ln w="38100">
            <a:solidFill>
              <a:srgbClr val="456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61120" y="1417320"/>
            <a:ext cx="0" cy="2194560"/>
          </a:xfrm>
          <a:prstGeom prst="line">
            <a:avLst/>
          </a:prstGeom>
          <a:ln w="38100">
            <a:solidFill>
              <a:srgbClr val="456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77399" y="1417320"/>
            <a:ext cx="0" cy="2194560"/>
          </a:xfrm>
          <a:prstGeom prst="line">
            <a:avLst/>
          </a:prstGeom>
          <a:ln w="38100">
            <a:solidFill>
              <a:srgbClr val="456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93680" y="1417320"/>
            <a:ext cx="0" cy="2194560"/>
          </a:xfrm>
          <a:prstGeom prst="line">
            <a:avLst/>
          </a:prstGeom>
          <a:ln w="38100">
            <a:solidFill>
              <a:srgbClr val="456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109959" y="1417320"/>
            <a:ext cx="0" cy="2194560"/>
          </a:xfrm>
          <a:prstGeom prst="line">
            <a:avLst/>
          </a:prstGeom>
          <a:ln w="38100">
            <a:solidFill>
              <a:srgbClr val="456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720840" y="1783080"/>
            <a:ext cx="868680" cy="685800"/>
          </a:xfrm>
          <a:prstGeom prst="roundRect">
            <a:avLst>
              <a:gd name="adj" fmla="val 5000"/>
            </a:avLst>
          </a:prstGeom>
          <a:solidFill>
            <a:srgbClr val="EFC78D"/>
          </a:solidFill>
          <a:ln w="15240">
            <a:solidFill>
              <a:srgbClr val="EFC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18120" y="1783080"/>
            <a:ext cx="1005840" cy="685800"/>
          </a:xfrm>
          <a:prstGeom prst="roundRect">
            <a:avLst>
              <a:gd name="adj" fmla="val 5000"/>
            </a:avLst>
          </a:prstGeom>
          <a:solidFill>
            <a:srgbClr val="8B5DE7"/>
          </a:solidFill>
          <a:ln w="15240">
            <a:solidFill>
              <a:srgbClr val="8B5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52560" y="1783080"/>
            <a:ext cx="914400" cy="685800"/>
          </a:xfrm>
          <a:prstGeom prst="roundRect">
            <a:avLst>
              <a:gd name="adj" fmla="val 5000"/>
            </a:avLst>
          </a:prstGeom>
          <a:solidFill>
            <a:srgbClr val="C95AA9"/>
          </a:solidFill>
          <a:ln w="15240">
            <a:solidFill>
              <a:srgbClr val="C95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2697480"/>
            <a:ext cx="1051560" cy="502920"/>
          </a:xfrm>
          <a:prstGeom prst="roundRect">
            <a:avLst>
              <a:gd name="adj" fmla="val 5000"/>
            </a:avLst>
          </a:prstGeom>
          <a:solidFill>
            <a:srgbClr val="F5D02F"/>
          </a:solidFill>
          <a:ln w="15240">
            <a:solidFill>
              <a:srgbClr val="F5D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32520" y="2697480"/>
            <a:ext cx="1051560" cy="502920"/>
          </a:xfrm>
          <a:prstGeom prst="roundRect">
            <a:avLst>
              <a:gd name="adj" fmla="val 5000"/>
            </a:avLst>
          </a:prstGeom>
          <a:solidFill>
            <a:srgbClr val="42A9C4"/>
          </a:solidFill>
          <a:ln w="15240">
            <a:solidFill>
              <a:srgbClr val="42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675888"/>
            <a:ext cx="466344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200" b="1">
                <a:solidFill>
                  <a:srgbClr val="456C5B"/>
                </a:solidFill>
                <a:latin typeface="Noto Sans CJK SC"/>
              </a:defRPr>
            </a:pPr>
            <a:r>
              <a:t>可变 Pods / 盒子插入 · 公共活动共享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423160"/>
            <a:ext cx="109728" cy="109728"/>
          </a:xfrm>
          <a:prstGeom prst="roundRect">
            <a:avLst>
              <a:gd name="adj" fmla="val 2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2386584"/>
            <a:ext cx="49377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500" b="0">
                <a:solidFill>
                  <a:srgbClr val="15221E"/>
                </a:solidFill>
                <a:latin typeface="Noto Sans CJK SC"/>
              </a:defRPr>
            </a:pPr>
            <a:r>
              <a:t>61ha 园区总体更新，主装配厂房约 47,000㎡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770632"/>
            <a:ext cx="109728" cy="109728"/>
          </a:xfrm>
          <a:prstGeom prst="roundRect">
            <a:avLst>
              <a:gd name="adj" fmla="val 2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2734056"/>
            <a:ext cx="49377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500" b="0">
                <a:solidFill>
                  <a:srgbClr val="15221E"/>
                </a:solidFill>
                <a:latin typeface="Noto Sans CJK SC"/>
              </a:defRPr>
            </a:pPr>
            <a:r>
              <a:t>2015 年完成主厂房改造；园区持续发展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118104"/>
            <a:ext cx="109728" cy="109728"/>
          </a:xfrm>
          <a:prstGeom prst="roundRect">
            <a:avLst>
              <a:gd name="adj" fmla="val 2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081528"/>
            <a:ext cx="49377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500" b="0">
                <a:solidFill>
                  <a:srgbClr val="15221E"/>
                </a:solidFill>
                <a:latin typeface="Noto Sans CJK SC"/>
              </a:defRPr>
            </a:pPr>
            <a:r>
              <a:t>澳大利亚首个获得 6 Star Green Star–Communities 认证的项目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465576"/>
            <a:ext cx="109728" cy="109728"/>
          </a:xfrm>
          <a:prstGeom prst="roundRect">
            <a:avLst>
              <a:gd name="adj" fmla="val 2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3429000"/>
            <a:ext cx="49377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500" b="0">
                <a:solidFill>
                  <a:srgbClr val="15221E"/>
                </a:solidFill>
                <a:latin typeface="Noto Sans CJK SC"/>
              </a:defRPr>
            </a:pPr>
            <a:r>
              <a:t>改造据报道节省约 90,000 吨隐含碳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800600"/>
            <a:ext cx="10789920" cy="822960"/>
          </a:xfrm>
          <a:prstGeom prst="roundRect">
            <a:avLst>
              <a:gd name="adj" fmla="val 8000"/>
            </a:avLst>
          </a:prstGeom>
          <a:solidFill>
            <a:srgbClr val="EFC78D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010912"/>
            <a:ext cx="103327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800" b="1">
                <a:solidFill>
                  <a:srgbClr val="193C35"/>
                </a:solidFill>
                <a:latin typeface="Noto Sans CJK SC"/>
              </a:defRPr>
            </a:pPr>
            <a:r>
              <a:t>关键判断：结构不只是被保存的遗产，而是承载新产业、新社交和新生态的公共屋盖。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1480" y="6510528"/>
            <a:ext cx="11384280" cy="0"/>
          </a:xfrm>
          <a:prstGeom prst="line">
            <a:avLst/>
          </a:prstGeom>
          <a:ln w="12700">
            <a:solidFill>
              <a:srgbClr val="D9E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6556248"/>
            <a:ext cx="7315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1935 发电厂干煤棚改造 · 案例研究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50040" y="6556248"/>
            <a:ext cx="27432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0"/>
            </a:avLst>
          </a:prstGeom>
          <a:solidFill>
            <a:srgbClr val="193C35"/>
          </a:solidFill>
          <a:ln w="1524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457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600" b="1">
                <a:solidFill>
                  <a:srgbClr val="D9EAD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73152"/>
            <a:ext cx="80467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400" b="1">
                <a:solidFill>
                  <a:srgbClr val="193C35"/>
                </a:solidFill>
                <a:latin typeface="Noto Sans CJK SC"/>
              </a:defRPr>
            </a:pPr>
            <a:r>
              <a:t>Tonsley：空间与生态策略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09728"/>
            <a:ext cx="2743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0">
                <a:solidFill>
                  <a:srgbClr val="65746D"/>
                </a:solidFill>
                <a:latin typeface="Noto Sans CJK SC"/>
              </a:defRPr>
            </a:pPr>
            <a:r>
              <a:t>CASE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14400"/>
            <a:ext cx="4983480" cy="1828800"/>
          </a:xfrm>
          <a:prstGeom prst="roundRect">
            <a:avLst>
              <a:gd name="adj" fmla="val 8000"/>
            </a:avLst>
          </a:prstGeom>
          <a:solidFill>
            <a:srgbClr val="EFC78D"/>
          </a:solidFill>
          <a:ln w="15240">
            <a:solidFill>
              <a:srgbClr val="EFC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15568"/>
            <a:ext cx="45262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100" b="1">
                <a:solidFill>
                  <a:srgbClr val="193C35"/>
                </a:solidFill>
                <a:latin typeface="Noto Sans CJK SC"/>
              </a:defRPr>
            </a:pPr>
            <a:r>
              <a:t>结构伞盖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452628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500" b="0">
                <a:solidFill>
                  <a:srgbClr val="15221E"/>
                </a:solidFill>
                <a:latin typeface="Noto Sans CJK SC"/>
              </a:defRPr>
            </a:pPr>
            <a:r>
              <a:t>保留大跨度屋架与工业尺度，形成连续、可识别的公共室内空间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914400"/>
            <a:ext cx="4983480" cy="1828800"/>
          </a:xfrm>
          <a:prstGeom prst="roundRect">
            <a:avLst>
              <a:gd name="adj" fmla="val 8000"/>
            </a:avLst>
          </a:prstGeom>
          <a:solidFill>
            <a:srgbClr val="8B5DE7"/>
          </a:solidFill>
          <a:ln w="15240">
            <a:solidFill>
              <a:srgbClr val="8B5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115568"/>
            <a:ext cx="45262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100" b="1">
                <a:solidFill>
                  <a:srgbClr val="F7F5EF"/>
                </a:solidFill>
                <a:latin typeface="Noto Sans CJK SC"/>
              </a:defRPr>
            </a:pPr>
            <a:r>
              <a:t>可变 Pods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572768"/>
            <a:ext cx="452628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500" b="0">
                <a:solidFill>
                  <a:srgbClr val="F7F5EF"/>
                </a:solidFill>
                <a:latin typeface="Noto Sans CJK SC"/>
              </a:defRPr>
            </a:pPr>
            <a:r>
              <a:t>以盒子和轻质单元植入不同功能，便于调整、分期和混合使用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46120"/>
            <a:ext cx="4983480" cy="1828800"/>
          </a:xfrm>
          <a:prstGeom prst="roundRect">
            <a:avLst>
              <a:gd name="adj" fmla="val 8000"/>
            </a:avLst>
          </a:prstGeom>
          <a:solidFill>
            <a:srgbClr val="42A9C4"/>
          </a:solidFill>
          <a:ln w="15240">
            <a:solidFill>
              <a:srgbClr val="42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5262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100" b="1">
                <a:solidFill>
                  <a:srgbClr val="F7F5EF"/>
                </a:solidFill>
                <a:latin typeface="Noto Sans CJK SC"/>
              </a:defRPr>
            </a:pPr>
            <a:r>
              <a:t>环境模拟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7"/>
            <a:ext cx="452628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500" b="0">
                <a:solidFill>
                  <a:srgbClr val="F7F5EF"/>
                </a:solidFill>
                <a:latin typeface="Noto Sans CJK SC"/>
              </a:defRPr>
            </a:pPr>
            <a:r>
              <a:t>用采光、热工、声学与 CFD 分析决定实心面板、透明面板、窗洞和屋面渗透性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46120"/>
            <a:ext cx="4983480" cy="1828800"/>
          </a:xfrm>
          <a:prstGeom prst="roundRect">
            <a:avLst>
              <a:gd name="adj" fmla="val 8000"/>
            </a:avLst>
          </a:prstGeom>
          <a:solidFill>
            <a:srgbClr val="456C5B"/>
          </a:solidFill>
          <a:ln w="15240">
            <a:solidFill>
              <a:srgbClr val="45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447288"/>
            <a:ext cx="45262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100" b="1">
                <a:solidFill>
                  <a:srgbClr val="F7F5EF"/>
                </a:solidFill>
                <a:latin typeface="Noto Sans CJK SC"/>
              </a:defRPr>
            </a:pPr>
            <a:r>
              <a:t>室内城市森林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904487"/>
            <a:ext cx="452628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500" b="0">
                <a:solidFill>
                  <a:srgbClr val="F7F5EF"/>
                </a:solidFill>
                <a:latin typeface="Noto Sans CJK SC"/>
              </a:defRPr>
            </a:pPr>
            <a:r>
              <a:t>四个室内绿化空间提供遮阴、降温和公共停留，同时降低屋面热负荷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800" b="1">
                <a:solidFill>
                  <a:srgbClr val="193C35"/>
                </a:solidFill>
                <a:latin typeface="Noto Sans CJK SC"/>
              </a:defRPr>
            </a:pPr>
            <a:r>
              <a:t>对干煤棚的直接借鉴：用“结构—盒子—环境性能—绿化”四层系统替代单纯的功能分房。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" y="6510528"/>
            <a:ext cx="11384280" cy="0"/>
          </a:xfrm>
          <a:prstGeom prst="line">
            <a:avLst/>
          </a:prstGeom>
          <a:ln w="12700">
            <a:solidFill>
              <a:srgbClr val="D9E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556248"/>
            <a:ext cx="7315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1935 发电厂干煤棚改造 · 案例研究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50040" y="6556248"/>
            <a:ext cx="27432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0"/>
            </a:avLst>
          </a:prstGeom>
          <a:solidFill>
            <a:srgbClr val="193C35"/>
          </a:solidFill>
          <a:ln w="1524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457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600" b="1">
                <a:solidFill>
                  <a:srgbClr val="D9EADF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73152"/>
            <a:ext cx="80467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400" b="1">
                <a:solidFill>
                  <a:srgbClr val="193C35"/>
                </a:solidFill>
                <a:latin typeface="Noto Sans CJK SC"/>
              </a:defRPr>
            </a:pPr>
            <a:r>
              <a:t>案例二：南京压缩机厂尤家凹社区中心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09728"/>
            <a:ext cx="2743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0">
                <a:solidFill>
                  <a:srgbClr val="65746D"/>
                </a:solidFill>
                <a:latin typeface="Noto Sans CJK SC"/>
              </a:defRPr>
            </a:pPr>
            <a:r>
              <a:t>NANJING · SEU-ARCH UAG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4672"/>
            <a:ext cx="54864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300" b="1">
                <a:solidFill>
                  <a:srgbClr val="193C35"/>
                </a:solidFill>
                <a:latin typeface="Noto Sans CJK SC"/>
              </a:defRPr>
            </a:pPr>
            <a:r>
              <a:t>从闲置厂区到社区日常生活网络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30352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500" b="0">
                <a:solidFill>
                  <a:srgbClr val="15221E"/>
                </a:solidFill>
                <a:latin typeface="Noto Sans CJK SC"/>
              </a:defRPr>
            </a:pPr>
            <a:r>
              <a:t>项目保留四栋厂房、两处构筑物、林荫道、气力输送塔和循环水池，将社区服务、文体活动、医疗养老、小型商业等高频功能植入旧厂区。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914400"/>
            <a:ext cx="5120640" cy="3383280"/>
          </a:xfrm>
          <a:prstGeom prst="roundRect">
            <a:avLst>
              <a:gd name="adj" fmla="val 8000"/>
            </a:avLst>
          </a:prstGeom>
          <a:solidFill>
            <a:srgbClr val="D9EADF"/>
          </a:solidFill>
          <a:ln w="15240">
            <a:solidFill>
              <a:srgbClr val="45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024128"/>
            <a:ext cx="484632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300" b="1">
                <a:solidFill>
                  <a:srgbClr val="193C35"/>
                </a:solidFill>
                <a:latin typeface="Noto Sans CJK SC"/>
              </a:defRPr>
            </a:pPr>
            <a:r>
              <a:t>保留厂房群 + 新公共长廊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600200"/>
            <a:ext cx="640080" cy="1188720"/>
          </a:xfrm>
          <a:prstGeom prst="roundRect">
            <a:avLst>
              <a:gd name="adj" fmla="val 4000"/>
            </a:avLst>
          </a:prstGeom>
          <a:solidFill>
            <a:srgbClr val="EFC78D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79" y="1600200"/>
            <a:ext cx="640080" cy="1188720"/>
          </a:xfrm>
          <a:prstGeom prst="roundRect">
            <a:avLst>
              <a:gd name="adj" fmla="val 4000"/>
            </a:avLst>
          </a:prstGeom>
          <a:solidFill>
            <a:srgbClr val="EFC78D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75319" y="1600200"/>
            <a:ext cx="640080" cy="1188720"/>
          </a:xfrm>
          <a:prstGeom prst="roundRect">
            <a:avLst>
              <a:gd name="adj" fmla="val 4000"/>
            </a:avLst>
          </a:prstGeom>
          <a:solidFill>
            <a:srgbClr val="EFC78D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52559" y="1600200"/>
            <a:ext cx="640080" cy="1188720"/>
          </a:xfrm>
          <a:prstGeom prst="roundRect">
            <a:avLst>
              <a:gd name="adj" fmla="val 4000"/>
            </a:avLst>
          </a:prstGeom>
          <a:solidFill>
            <a:srgbClr val="EFC78D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0" y="2880360"/>
            <a:ext cx="4572000" cy="347472"/>
          </a:xfrm>
          <a:prstGeom prst="roundRect">
            <a:avLst>
              <a:gd name="adj" fmla="val 4000"/>
            </a:avLst>
          </a:prstGeom>
          <a:solidFill>
            <a:srgbClr val="BCA6E6"/>
          </a:solidFill>
          <a:ln w="15240">
            <a:solidFill>
              <a:srgbClr val="BCA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944368"/>
            <a:ext cx="4352544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100" b="1">
                <a:solidFill>
                  <a:srgbClr val="193C35"/>
                </a:solidFill>
                <a:latin typeface="Noto Sans CJK SC"/>
              </a:defRPr>
            </a:pPr>
            <a:r>
              <a:t>“云影”长廊 / 步行桥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52760" y="1627632"/>
            <a:ext cx="438912" cy="822960"/>
          </a:xfrm>
          <a:prstGeom prst="roundRect">
            <a:avLst>
              <a:gd name="adj" fmla="val 4000"/>
            </a:avLst>
          </a:prstGeom>
          <a:solidFill>
            <a:srgbClr val="42A9C4"/>
          </a:solidFill>
          <a:ln w="15240">
            <a:solidFill>
              <a:srgbClr val="42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52760" y="1874519"/>
            <a:ext cx="438912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2" y="3474720"/>
            <a:ext cx="914400" cy="411480"/>
          </a:xfrm>
          <a:prstGeom prst="roundRect">
            <a:avLst>
              <a:gd name="adj" fmla="val 4000"/>
            </a:avLst>
          </a:prstGeom>
          <a:solidFill>
            <a:srgbClr val="8B5DE7"/>
          </a:solidFill>
          <a:ln w="15240">
            <a:solidFill>
              <a:srgbClr val="8B5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3566160"/>
            <a:ext cx="9144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下沉广场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514600"/>
            <a:ext cx="109728" cy="109728"/>
          </a:xfrm>
          <a:prstGeom prst="roundRect">
            <a:avLst>
              <a:gd name="adj" fmla="val 2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2478024"/>
            <a:ext cx="49377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500" b="0">
                <a:solidFill>
                  <a:srgbClr val="15221E"/>
                </a:solidFill>
                <a:latin typeface="Noto Sans CJK SC"/>
              </a:defRPr>
            </a:pPr>
            <a:r>
              <a:t>项目设计 2019—2022 年，约 22,000㎡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862072"/>
            <a:ext cx="109728" cy="109728"/>
          </a:xfrm>
          <a:prstGeom prst="roundRect">
            <a:avLst>
              <a:gd name="adj" fmla="val 2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2825496"/>
            <a:ext cx="49377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500" b="0">
                <a:solidFill>
                  <a:srgbClr val="15221E"/>
                </a:solidFill>
                <a:latin typeface="Noto Sans CJK SC"/>
              </a:defRPr>
            </a:pPr>
            <a:r>
              <a:t>原厂区形成于 20 世纪 50—80 年代，属于二类工业遗产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209544"/>
            <a:ext cx="109728" cy="109728"/>
          </a:xfrm>
          <a:prstGeom prst="roundRect">
            <a:avLst>
              <a:gd name="adj" fmla="val 2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172968"/>
            <a:ext cx="49377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500" b="0">
                <a:solidFill>
                  <a:srgbClr val="15221E"/>
                </a:solidFill>
                <a:latin typeface="Noto Sans CJK SC"/>
              </a:defRPr>
            </a:pPr>
            <a:r>
              <a:t>“云影”长廊插入旧厂房之间，承担遮阳、通行和公共活动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557016"/>
            <a:ext cx="109728" cy="109728"/>
          </a:xfrm>
          <a:prstGeom prst="roundRect">
            <a:avLst>
              <a:gd name="adj" fmla="val 2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520440"/>
            <a:ext cx="49377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500" b="0">
                <a:solidFill>
                  <a:srgbClr val="15221E"/>
                </a:solidFill>
                <a:latin typeface="Noto Sans CJK SC"/>
              </a:defRPr>
            </a:pPr>
            <a:r>
              <a:t>循环水池转化为下沉广场，气力输送塔成为入口标志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937760"/>
            <a:ext cx="10789920" cy="685800"/>
          </a:xfrm>
          <a:prstGeom prst="roundRect">
            <a:avLst>
              <a:gd name="adj" fmla="val 8000"/>
            </a:avLst>
          </a:prstGeom>
          <a:solidFill>
            <a:srgbClr val="BCA6E6"/>
          </a:solidFill>
          <a:ln w="15240">
            <a:solidFill>
              <a:srgbClr val="BCA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148072"/>
            <a:ext cx="104241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700" b="1">
                <a:solidFill>
                  <a:srgbClr val="193C35"/>
                </a:solidFill>
                <a:latin typeface="Noto Sans CJK SC"/>
              </a:defRPr>
            </a:pPr>
            <a:r>
              <a:t>关键判断：遗产价值来自“厂房 + 构筑物 + 林荫道 + 生产流程”，更新应修复整体场所而非只修复一栋建筑。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1480" y="6510528"/>
            <a:ext cx="11384280" cy="0"/>
          </a:xfrm>
          <a:prstGeom prst="line">
            <a:avLst/>
          </a:prstGeom>
          <a:ln w="12700">
            <a:solidFill>
              <a:srgbClr val="D9E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11480" y="6556248"/>
            <a:ext cx="7315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1935 发电厂干煤棚改造 · 案例研究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50040" y="6556248"/>
            <a:ext cx="27432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0"/>
            </a:avLst>
          </a:prstGeom>
          <a:solidFill>
            <a:srgbClr val="193C35"/>
          </a:solidFill>
          <a:ln w="1524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457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600" b="1">
                <a:solidFill>
                  <a:srgbClr val="D9EADF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73152"/>
            <a:ext cx="80467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400" b="1">
                <a:solidFill>
                  <a:srgbClr val="193C35"/>
                </a:solidFill>
                <a:latin typeface="Noto Sans CJK SC"/>
              </a:defRPr>
            </a:pPr>
            <a:r>
              <a:t>尤家凹：新旧连接与社区化策略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09728"/>
            <a:ext cx="2743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0">
                <a:solidFill>
                  <a:srgbClr val="65746D"/>
                </a:solidFill>
                <a:latin typeface="Noto Sans CJK SC"/>
              </a:defRPr>
            </a:pPr>
            <a:r>
              <a:t>CASE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22960"/>
            <a:ext cx="10789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2100" b="1">
                <a:solidFill>
                  <a:srgbClr val="193C35"/>
                </a:solidFill>
                <a:latin typeface="Noto Sans CJK SC"/>
              </a:defRPr>
            </a:pPr>
            <a:r>
              <a:t>保留遗存 → 插入连接 → 导入日常功能 → 形成社区公共性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2148840" cy="2240280"/>
          </a:xfrm>
          <a:prstGeom prst="roundRect">
            <a:avLst>
              <a:gd name="adj" fmla="val 8000"/>
            </a:avLst>
          </a:prstGeom>
          <a:solidFill>
            <a:srgbClr val="EFC78D"/>
          </a:solidFill>
          <a:ln w="15240">
            <a:solidFill>
              <a:srgbClr val="EFC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87451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800" b="1">
                <a:solidFill>
                  <a:srgbClr val="193C35"/>
                </a:solidFill>
                <a:latin typeface="Noto Sans CJK SC"/>
              </a:defRPr>
            </a:pPr>
            <a:r>
              <a:t>保留厂房群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23160"/>
            <a:ext cx="1819656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400" b="0">
                <a:solidFill>
                  <a:srgbClr val="15221E"/>
                </a:solidFill>
                <a:latin typeface="Noto Sans CJK SC"/>
              </a:defRPr>
            </a:pPr>
            <a:r>
              <a:t>红砖厂房、林荫道、塔和水池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2651760"/>
            <a:ext cx="530352" cy="0"/>
          </a:xfrm>
          <a:prstGeom prst="line">
            <a:avLst/>
          </a:prstGeom>
          <a:ln w="38100">
            <a:solidFill>
              <a:srgbClr val="D06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11880" y="1554480"/>
            <a:ext cx="2148840" cy="2240280"/>
          </a:xfrm>
          <a:prstGeom prst="roundRect">
            <a:avLst>
              <a:gd name="adj" fmla="val 8000"/>
            </a:avLst>
          </a:prstGeom>
          <a:solidFill>
            <a:srgbClr val="BCA6E6"/>
          </a:solidFill>
          <a:ln w="15240">
            <a:solidFill>
              <a:srgbClr val="BCA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783080"/>
            <a:ext cx="187451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800" b="1">
                <a:solidFill>
                  <a:srgbClr val="F7F5EF"/>
                </a:solidFill>
                <a:latin typeface="Noto Sans CJK SC"/>
              </a:defRPr>
            </a:pPr>
            <a:r>
              <a:t>云影长廊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423160"/>
            <a:ext cx="1819656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400" b="0">
                <a:solidFill>
                  <a:srgbClr val="F7F5EF"/>
                </a:solidFill>
                <a:latin typeface="Noto Sans CJK SC"/>
              </a:defRPr>
            </a:pPr>
            <a:r>
              <a:t>新构件跨越旧厂房，形成连续遮蔽步行轴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20" y="2651760"/>
            <a:ext cx="530352" cy="0"/>
          </a:xfrm>
          <a:prstGeom prst="line">
            <a:avLst/>
          </a:prstGeom>
          <a:ln w="38100">
            <a:solidFill>
              <a:srgbClr val="D06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1554480"/>
            <a:ext cx="2148840" cy="2240280"/>
          </a:xfrm>
          <a:prstGeom prst="roundRect">
            <a:avLst>
              <a:gd name="adj" fmla="val 8000"/>
            </a:avLst>
          </a:prstGeom>
          <a:solidFill>
            <a:srgbClr val="8B5DE7"/>
          </a:solidFill>
          <a:ln w="15240">
            <a:solidFill>
              <a:srgbClr val="8B5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783080"/>
            <a:ext cx="187451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800" b="1">
                <a:solidFill>
                  <a:srgbClr val="F7F5EF"/>
                </a:solidFill>
                <a:latin typeface="Noto Sans CJK SC"/>
              </a:defRPr>
            </a:pPr>
            <a:r>
              <a:t>功能复合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423160"/>
            <a:ext cx="1819656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400" b="0">
                <a:solidFill>
                  <a:srgbClr val="F7F5EF"/>
                </a:solidFill>
                <a:latin typeface="Noto Sans CJK SC"/>
              </a:defRPr>
            </a:pPr>
            <a:r>
              <a:t>文化、体育、商业、菜场、育儿、养老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49640" y="2651760"/>
            <a:ext cx="530352" cy="0"/>
          </a:xfrm>
          <a:prstGeom prst="line">
            <a:avLst/>
          </a:prstGeom>
          <a:ln w="38100">
            <a:solidFill>
              <a:srgbClr val="D06B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89720" y="1554480"/>
            <a:ext cx="2148840" cy="2240280"/>
          </a:xfrm>
          <a:prstGeom prst="roundRect">
            <a:avLst>
              <a:gd name="adj" fmla="val 8000"/>
            </a:avLst>
          </a:prstGeom>
          <a:solidFill>
            <a:srgbClr val="456C5B"/>
          </a:solidFill>
          <a:ln w="15240">
            <a:solidFill>
              <a:srgbClr val="45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783080"/>
            <a:ext cx="187451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800" b="1">
                <a:solidFill>
                  <a:srgbClr val="F7F5EF"/>
                </a:solidFill>
                <a:latin typeface="Noto Sans CJK SC"/>
              </a:defRPr>
            </a:pPr>
            <a:r>
              <a:t>日常使用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2423160"/>
            <a:ext cx="1819656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400" b="0">
                <a:solidFill>
                  <a:srgbClr val="F7F5EF"/>
                </a:solidFill>
                <a:latin typeface="Noto Sans CJK SC"/>
              </a:defRPr>
            </a:pPr>
            <a:r>
              <a:t>居民活动进入遗产空间，提升使用频率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3891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D9EADF"/>
          </a:solidFill>
          <a:ln w="15240">
            <a:solidFill>
              <a:srgbClr val="45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617720"/>
            <a:ext cx="1005840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800" b="1">
                <a:solidFill>
                  <a:srgbClr val="193C35"/>
                </a:solidFill>
                <a:latin typeface="Noto Sans CJK SC"/>
              </a:defRPr>
            </a:pPr>
            <a:r>
              <a:t>对干煤棚的借鉴：输煤廊道、挡煤墙、码头、行车轨道和煤斗应被组织成“工业记忆游线”，而非作为孤立展品。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6510528"/>
            <a:ext cx="11384280" cy="0"/>
          </a:xfrm>
          <a:prstGeom prst="line">
            <a:avLst/>
          </a:prstGeom>
          <a:ln w="12700">
            <a:solidFill>
              <a:srgbClr val="D9E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" y="6556248"/>
            <a:ext cx="7315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1935 发电厂干煤棚改造 · 案例研究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50040" y="6556248"/>
            <a:ext cx="27432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0"/>
            </a:avLst>
          </a:prstGeom>
          <a:solidFill>
            <a:srgbClr val="193C35"/>
          </a:solidFill>
          <a:ln w="1524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457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600" b="1">
                <a:solidFill>
                  <a:srgbClr val="D9EADF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73152"/>
            <a:ext cx="80467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400" b="1">
                <a:solidFill>
                  <a:srgbClr val="193C35"/>
                </a:solidFill>
                <a:latin typeface="Noto Sans CJK SC"/>
              </a:defRPr>
            </a:pPr>
            <a:r>
              <a:t>两案对比：从案例提炼可复制的方法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09728"/>
            <a:ext cx="2743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0">
                <a:solidFill>
                  <a:srgbClr val="65746D"/>
                </a:solidFill>
                <a:latin typeface="Noto Sans CJK SC"/>
              </a:defRPr>
            </a:pPr>
            <a:r>
              <a:t>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1371600" cy="475488"/>
          </a:xfrm>
          <a:prstGeom prst="roundRect">
            <a:avLst>
              <a:gd name="adj" fmla="val 2000"/>
            </a:avLst>
          </a:prstGeom>
          <a:solidFill>
            <a:srgbClr val="193C35"/>
          </a:solidFill>
          <a:ln w="1524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088136"/>
            <a:ext cx="126187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400" b="1">
                <a:solidFill>
                  <a:srgbClr val="F7F5EF"/>
                </a:solidFill>
                <a:latin typeface="Noto Sans CJK SC"/>
              </a:defRPr>
            </a:pPr>
            <a:r>
              <a:t>维度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960120"/>
            <a:ext cx="2743200" cy="475488"/>
          </a:xfrm>
          <a:prstGeom prst="roundRect">
            <a:avLst>
              <a:gd name="adj" fmla="val 2000"/>
            </a:avLst>
          </a:prstGeom>
          <a:solidFill>
            <a:srgbClr val="193C35"/>
          </a:solidFill>
          <a:ln w="1524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66544" y="1088136"/>
            <a:ext cx="263347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400" b="1">
                <a:solidFill>
                  <a:srgbClr val="F7F5EF"/>
                </a:solidFill>
                <a:latin typeface="Noto Sans CJK SC"/>
              </a:defRPr>
            </a:pPr>
            <a:r>
              <a:t>Tonsley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960120"/>
            <a:ext cx="2743200" cy="475488"/>
          </a:xfrm>
          <a:prstGeom prst="roundRect">
            <a:avLst>
              <a:gd name="adj" fmla="val 2000"/>
            </a:avLst>
          </a:prstGeom>
          <a:solidFill>
            <a:srgbClr val="193C35"/>
          </a:solidFill>
          <a:ln w="1524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9744" y="1088136"/>
            <a:ext cx="263347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400" b="1">
                <a:solidFill>
                  <a:srgbClr val="F7F5EF"/>
                </a:solidFill>
                <a:latin typeface="Noto Sans CJK SC"/>
              </a:defRPr>
            </a:pPr>
            <a:r>
              <a:t>尤家凹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960120"/>
            <a:ext cx="4297680" cy="475488"/>
          </a:xfrm>
          <a:prstGeom prst="roundRect">
            <a:avLst>
              <a:gd name="adj" fmla="val 2000"/>
            </a:avLst>
          </a:prstGeom>
          <a:solidFill>
            <a:srgbClr val="193C35"/>
          </a:solidFill>
          <a:ln w="1524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52944" y="1088136"/>
            <a:ext cx="4187952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400" b="1">
                <a:solidFill>
                  <a:srgbClr val="F7F5EF"/>
                </a:solidFill>
                <a:latin typeface="Noto Sans CJK SC"/>
              </a:defRPr>
            </a:pPr>
            <a:r>
              <a:t>干煤棚转译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481328"/>
            <a:ext cx="1371600" cy="640080"/>
          </a:xfrm>
          <a:prstGeom prst="roundRect">
            <a:avLst>
              <a:gd name="adj" fmla="val 1000"/>
            </a:avLst>
          </a:prstGeom>
          <a:solidFill>
            <a:srgbClr val="D9EAD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1" y="1591056"/>
            <a:ext cx="122529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193C35"/>
                </a:solidFill>
                <a:latin typeface="Noto Sans CJK SC"/>
              </a:defRPr>
            </a:pPr>
            <a:r>
              <a:t>遗产对象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1481328"/>
            <a:ext cx="2743200" cy="640080"/>
          </a:xfrm>
          <a:prstGeom prst="roundRect">
            <a:avLst>
              <a:gd name="adj" fmla="val 1000"/>
            </a:avLst>
          </a:prstGeom>
          <a:solidFill>
            <a:srgbClr val="D9EAD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1591056"/>
            <a:ext cx="259689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15221E"/>
                </a:solidFill>
                <a:latin typeface="Noto Sans CJK SC"/>
              </a:defRPr>
            </a:pPr>
            <a:r>
              <a:t>大跨度主厂房与屋盖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481328"/>
            <a:ext cx="2743200" cy="640080"/>
          </a:xfrm>
          <a:prstGeom prst="roundRect">
            <a:avLst>
              <a:gd name="adj" fmla="val 1000"/>
            </a:avLst>
          </a:prstGeom>
          <a:solidFill>
            <a:srgbClr val="D9EAD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2" y="1591056"/>
            <a:ext cx="259689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15221E"/>
                </a:solidFill>
                <a:latin typeface="Noto Sans CJK SC"/>
              </a:defRPr>
            </a:pPr>
            <a:r>
              <a:t>厂房群、塔、水池、林荫道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481328"/>
            <a:ext cx="4297680" cy="640080"/>
          </a:xfrm>
          <a:prstGeom prst="roundRect">
            <a:avLst>
              <a:gd name="adj" fmla="val 1000"/>
            </a:avLst>
          </a:prstGeom>
          <a:solidFill>
            <a:srgbClr val="D9EAD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1591056"/>
            <a:ext cx="415137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15221E"/>
                </a:solidFill>
                <a:latin typeface="Noto Sans CJK SC"/>
              </a:defRPr>
            </a:pPr>
            <a:r>
              <a:t>柱列、网架、行车、输煤廊道、挡煤墙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167128"/>
            <a:ext cx="1371600" cy="640080"/>
          </a:xfrm>
          <a:prstGeom prst="roundRect">
            <a:avLst>
              <a:gd name="adj" fmla="val 1000"/>
            </a:avLst>
          </a:prstGeom>
          <a:solidFill>
            <a:srgbClr val="F7F5E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1" y="2276856"/>
            <a:ext cx="122529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193C35"/>
                </a:solidFill>
                <a:latin typeface="Noto Sans CJK SC"/>
              </a:defRPr>
            </a:pPr>
            <a:r>
              <a:t>公共空间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2167128"/>
            <a:ext cx="2743200" cy="640080"/>
          </a:xfrm>
          <a:prstGeom prst="roundRect">
            <a:avLst>
              <a:gd name="adj" fmla="val 1000"/>
            </a:avLst>
          </a:prstGeom>
          <a:solidFill>
            <a:srgbClr val="F7F5E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2" y="2276856"/>
            <a:ext cx="259689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15221E"/>
                </a:solidFill>
                <a:latin typeface="Noto Sans CJK SC"/>
              </a:defRPr>
            </a:pPr>
            <a:r>
              <a:t>工业屋盖下的创新社区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2167128"/>
            <a:ext cx="2743200" cy="640080"/>
          </a:xfrm>
          <a:prstGeom prst="roundRect">
            <a:avLst>
              <a:gd name="adj" fmla="val 1000"/>
            </a:avLst>
          </a:prstGeom>
          <a:solidFill>
            <a:srgbClr val="F7F5E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2276856"/>
            <a:ext cx="259689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15221E"/>
                </a:solidFill>
                <a:latin typeface="Noto Sans CJK SC"/>
              </a:defRPr>
            </a:pPr>
            <a:r>
              <a:t>云影长廊串联社区服务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2167128"/>
            <a:ext cx="4297680" cy="640080"/>
          </a:xfrm>
          <a:prstGeom prst="roundRect">
            <a:avLst>
              <a:gd name="adj" fmla="val 1000"/>
            </a:avLst>
          </a:prstGeom>
          <a:solidFill>
            <a:srgbClr val="F7F5E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1" y="2276856"/>
            <a:ext cx="415137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15221E"/>
                </a:solidFill>
                <a:latin typeface="Noto Sans CJK SC"/>
              </a:defRPr>
            </a:pPr>
            <a:r>
              <a:t>首层公共街 + 二层空中环廊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2852928"/>
            <a:ext cx="1371600" cy="640080"/>
          </a:xfrm>
          <a:prstGeom prst="roundRect">
            <a:avLst>
              <a:gd name="adj" fmla="val 1000"/>
            </a:avLst>
          </a:prstGeom>
          <a:solidFill>
            <a:srgbClr val="D9EAD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1" y="2962656"/>
            <a:ext cx="122529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193C35"/>
                </a:solidFill>
                <a:latin typeface="Noto Sans CJK SC"/>
              </a:defRPr>
            </a:pPr>
            <a:r>
              <a:t>功能逻辑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11680" y="2852928"/>
            <a:ext cx="2743200" cy="640080"/>
          </a:xfrm>
          <a:prstGeom prst="roundRect">
            <a:avLst>
              <a:gd name="adj" fmla="val 1000"/>
            </a:avLst>
          </a:prstGeom>
          <a:solidFill>
            <a:srgbClr val="D9EAD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2" y="2962656"/>
            <a:ext cx="259689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15221E"/>
                </a:solidFill>
                <a:latin typeface="Noto Sans CJK SC"/>
              </a:defRPr>
            </a:pPr>
            <a:r>
              <a:t>创新产业、教育、办公、活动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2852928"/>
            <a:ext cx="2743200" cy="640080"/>
          </a:xfrm>
          <a:prstGeom prst="roundRect">
            <a:avLst>
              <a:gd name="adj" fmla="val 1000"/>
            </a:avLst>
          </a:prstGeom>
          <a:solidFill>
            <a:srgbClr val="D9EAD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8032" y="2962656"/>
            <a:ext cx="259689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15221E"/>
                </a:solidFill>
                <a:latin typeface="Noto Sans CJK SC"/>
              </a:defRPr>
            </a:pPr>
            <a:r>
              <a:t>文化、体育、商业、养老、育儿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2852928"/>
            <a:ext cx="4297680" cy="640080"/>
          </a:xfrm>
          <a:prstGeom prst="roundRect">
            <a:avLst>
              <a:gd name="adj" fmla="val 1000"/>
            </a:avLst>
          </a:prstGeom>
          <a:solidFill>
            <a:srgbClr val="D9EAD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71231" y="2962656"/>
            <a:ext cx="415137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15221E"/>
                </a:solidFill>
                <a:latin typeface="Noto Sans CJK SC"/>
              </a:defRPr>
            </a:pPr>
            <a:r>
              <a:t>展览、零售、餐饮、工作坊、休闲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3538728"/>
            <a:ext cx="1371600" cy="640080"/>
          </a:xfrm>
          <a:prstGeom prst="roundRect">
            <a:avLst>
              <a:gd name="adj" fmla="val 1000"/>
            </a:avLst>
          </a:prstGeom>
          <a:solidFill>
            <a:srgbClr val="F7F5E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1" y="3648456"/>
            <a:ext cx="122529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193C35"/>
                </a:solidFill>
                <a:latin typeface="Noto Sans CJK SC"/>
              </a:defRPr>
            </a:pPr>
            <a:r>
              <a:t>生态方法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11680" y="3538728"/>
            <a:ext cx="2743200" cy="640080"/>
          </a:xfrm>
          <a:prstGeom prst="roundRect">
            <a:avLst>
              <a:gd name="adj" fmla="val 1000"/>
            </a:avLst>
          </a:prstGeom>
          <a:solidFill>
            <a:srgbClr val="F7F5E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4832" y="3648456"/>
            <a:ext cx="259689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15221E"/>
                </a:solidFill>
                <a:latin typeface="Noto Sans CJK SC"/>
              </a:defRPr>
            </a:pPr>
            <a:r>
              <a:t>绿化、采光、通风、光伏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0" y="3538728"/>
            <a:ext cx="2743200" cy="640080"/>
          </a:xfrm>
          <a:prstGeom prst="roundRect">
            <a:avLst>
              <a:gd name="adj" fmla="val 1000"/>
            </a:avLst>
          </a:prstGeom>
          <a:solidFill>
            <a:srgbClr val="F7F5E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28032" y="3648456"/>
            <a:ext cx="259689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15221E"/>
                </a:solidFill>
                <a:latin typeface="Noto Sans CJK SC"/>
              </a:defRPr>
            </a:pPr>
            <a:r>
              <a:t>遮阳、树荫、下沉广场、雨洪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79" y="3538728"/>
            <a:ext cx="4297680" cy="640080"/>
          </a:xfrm>
          <a:prstGeom prst="roundRect">
            <a:avLst>
              <a:gd name="adj" fmla="val 1000"/>
            </a:avLst>
          </a:prstGeom>
          <a:solidFill>
            <a:srgbClr val="F7F5E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71231" y="3648456"/>
            <a:ext cx="415137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15221E"/>
                </a:solidFill>
                <a:latin typeface="Noto Sans CJK SC"/>
              </a:defRPr>
            </a:pPr>
            <a:r>
              <a:t>室内森林、可开启侧墙、雨水花园、光伏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224528"/>
            <a:ext cx="1371600" cy="640080"/>
          </a:xfrm>
          <a:prstGeom prst="roundRect">
            <a:avLst>
              <a:gd name="adj" fmla="val 1000"/>
            </a:avLst>
          </a:prstGeom>
          <a:solidFill>
            <a:srgbClr val="D9EAD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1" y="4334256"/>
            <a:ext cx="122529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1">
                <a:solidFill>
                  <a:srgbClr val="193C35"/>
                </a:solidFill>
                <a:latin typeface="Noto Sans CJK SC"/>
              </a:defRPr>
            </a:pPr>
            <a:r>
              <a:t>新旧关系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11680" y="4224528"/>
            <a:ext cx="2743200" cy="640080"/>
          </a:xfrm>
          <a:prstGeom prst="roundRect">
            <a:avLst>
              <a:gd name="adj" fmla="val 1000"/>
            </a:avLst>
          </a:prstGeom>
          <a:solidFill>
            <a:srgbClr val="D9EAD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84832" y="4334256"/>
            <a:ext cx="259689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15221E"/>
                </a:solidFill>
                <a:latin typeface="Noto Sans CJK SC"/>
              </a:defRPr>
            </a:pPr>
            <a:r>
              <a:t>轻质 Pods 插入旧结构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80" y="4224528"/>
            <a:ext cx="2743200" cy="640080"/>
          </a:xfrm>
          <a:prstGeom prst="roundRect">
            <a:avLst>
              <a:gd name="adj" fmla="val 1000"/>
            </a:avLst>
          </a:prstGeom>
          <a:solidFill>
            <a:srgbClr val="D9EAD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28032" y="4334256"/>
            <a:ext cx="259689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15221E"/>
                </a:solidFill>
                <a:latin typeface="Noto Sans CJK SC"/>
              </a:defRPr>
            </a:pPr>
            <a:r>
              <a:t>新长廊与旧厂房对读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79" y="4224528"/>
            <a:ext cx="4297680" cy="640080"/>
          </a:xfrm>
          <a:prstGeom prst="roundRect">
            <a:avLst>
              <a:gd name="adj" fmla="val 1000"/>
            </a:avLst>
          </a:prstGeom>
          <a:solidFill>
            <a:srgbClr val="D9EADF"/>
          </a:solidFill>
          <a:ln w="15240">
            <a:solidFill>
              <a:srgbClr val="D9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71231" y="4334256"/>
            <a:ext cx="4151376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200" b="0">
                <a:solidFill>
                  <a:srgbClr val="15221E"/>
                </a:solidFill>
                <a:latin typeface="Noto Sans CJK SC"/>
              </a:defRPr>
            </a:pPr>
            <a:r>
              <a:t>可逆轻体量插入，结构与新构件脱开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11480" y="6510528"/>
            <a:ext cx="11384280" cy="0"/>
          </a:xfrm>
          <a:prstGeom prst="line">
            <a:avLst/>
          </a:prstGeom>
          <a:ln w="12700">
            <a:solidFill>
              <a:srgbClr val="D9E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11480" y="6556248"/>
            <a:ext cx="7315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1935 发电厂干煤棚改造 · 案例研究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750040" y="6556248"/>
            <a:ext cx="27432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0"/>
            </a:avLst>
          </a:prstGeom>
          <a:solidFill>
            <a:srgbClr val="193C35"/>
          </a:solidFill>
          <a:ln w="1524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457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600" b="1">
                <a:solidFill>
                  <a:srgbClr val="D9EADF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73152"/>
            <a:ext cx="80467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400" b="1">
                <a:solidFill>
                  <a:srgbClr val="193C35"/>
                </a:solidFill>
                <a:latin typeface="Noto Sans CJK SC"/>
              </a:defRPr>
            </a:pPr>
            <a:r>
              <a:t>对干煤棚的一草转译：三条空间线索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09728"/>
            <a:ext cx="2743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0">
                <a:solidFill>
                  <a:srgbClr val="65746D"/>
                </a:solidFill>
                <a:latin typeface="Noto Sans CJK SC"/>
              </a:defRPr>
            </a:pPr>
            <a:r>
              <a:t>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601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8B5DE7"/>
          </a:solidFill>
          <a:ln w="15240">
            <a:solidFill>
              <a:srgbClr val="8B5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9659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2000" b="1">
                <a:solidFill>
                  <a:srgbClr val="F7F5EF"/>
                </a:solidFill>
                <a:latin typeface="Noto Sans CJK SC"/>
              </a:defRPr>
            </a:pPr>
            <a:r>
              <a:t>公共街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1417320"/>
            <a:ext cx="7452360" cy="0"/>
          </a:xfrm>
          <a:prstGeom prst="line">
            <a:avLst/>
          </a:prstGeom>
          <a:ln w="50800">
            <a:solidFill>
              <a:srgbClr val="D06B4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561320" y="1097280"/>
            <a:ext cx="685800" cy="640080"/>
          </a:xfrm>
          <a:prstGeom prst="roundRect">
            <a:avLst>
              <a:gd name="adj" fmla="val 8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61320" y="1307592"/>
            <a:ext cx="6858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2000" b="1">
                <a:solidFill>
                  <a:srgbClr val="F7F5EF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069848"/>
            <a:ext cx="7132320" cy="640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700" b="1">
                <a:solidFill>
                  <a:srgbClr val="193C35"/>
                </a:solidFill>
                <a:latin typeface="Noto Sans CJK SC"/>
              </a:defRPr>
            </a:pPr>
            <a:r>
              <a:t>两端入口 → 首层连续主街 → 展览/零售 → 滨江雨水花园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BCA6E6"/>
          </a:solidFill>
          <a:ln w="15240">
            <a:solidFill>
              <a:srgbClr val="BCA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19659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2000" b="1">
                <a:solidFill>
                  <a:srgbClr val="F7F5EF"/>
                </a:solidFill>
                <a:latin typeface="Noto Sans CJK SC"/>
              </a:defRPr>
            </a:pPr>
            <a:r>
              <a:t>空中环廊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71800" y="2926080"/>
            <a:ext cx="7452360" cy="0"/>
          </a:xfrm>
          <a:prstGeom prst="line">
            <a:avLst/>
          </a:prstGeom>
          <a:ln w="50800">
            <a:solidFill>
              <a:srgbClr val="D06B4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561320" y="2606040"/>
            <a:ext cx="685800" cy="640080"/>
          </a:xfrm>
          <a:prstGeom prst="roundRect">
            <a:avLst>
              <a:gd name="adj" fmla="val 8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61320" y="2816352"/>
            <a:ext cx="6858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2000" b="1">
                <a:solidFill>
                  <a:srgbClr val="F7F5EF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578608"/>
            <a:ext cx="7132320" cy="640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700" b="1">
                <a:solidFill>
                  <a:srgbClr val="193C35"/>
                </a:solidFill>
                <a:latin typeface="Noto Sans CJK SC"/>
              </a:defRPr>
            </a:pPr>
            <a:r>
              <a:t>两侧核心上楼 → 二层餐饮/展廊 → 观江平台 → 屋顶花园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456C5B"/>
          </a:solidFill>
          <a:ln w="15240">
            <a:solidFill>
              <a:srgbClr val="45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51959"/>
            <a:ext cx="19659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2000" b="1">
                <a:solidFill>
                  <a:srgbClr val="F7F5EF"/>
                </a:solidFill>
                <a:latin typeface="Noto Sans CJK SC"/>
              </a:defRPr>
            </a:pPr>
            <a:r>
              <a:t>生态基础设施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71800" y="4434840"/>
            <a:ext cx="7452360" cy="0"/>
          </a:xfrm>
          <a:prstGeom prst="line">
            <a:avLst/>
          </a:prstGeom>
          <a:ln w="50800">
            <a:solidFill>
              <a:srgbClr val="D06B4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561320" y="4114800"/>
            <a:ext cx="685800" cy="640080"/>
          </a:xfrm>
          <a:prstGeom prst="roundRect">
            <a:avLst>
              <a:gd name="adj" fmla="val 8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61320" y="4325112"/>
            <a:ext cx="6858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2000" b="1">
                <a:solidFill>
                  <a:srgbClr val="F7F5EF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087368"/>
            <a:ext cx="7132320" cy="640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700" b="1">
                <a:solidFill>
                  <a:srgbClr val="193C35"/>
                </a:solidFill>
                <a:latin typeface="Noto Sans CJK SC"/>
              </a:defRPr>
            </a:pPr>
            <a:r>
              <a:t>室内绿岛 → 侧墙通风 → 雨水花园 → 屋面光伏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10515600" cy="594360"/>
          </a:xfrm>
          <a:prstGeom prst="roundRect">
            <a:avLst>
              <a:gd name="adj" fmla="val 8000"/>
            </a:avLst>
          </a:prstGeom>
          <a:solidFill>
            <a:srgbClr val="EFC78D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69280"/>
            <a:ext cx="101498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700" b="1">
                <a:solidFill>
                  <a:srgbClr val="193C35"/>
                </a:solidFill>
                <a:latin typeface="Noto Sans CJK SC"/>
              </a:defRPr>
            </a:pPr>
            <a:r>
              <a:t>设计原则：保留结构秩序，新增构件可读可逆，公共流线连续，生态策略与日常运营绑定。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1480" y="6510528"/>
            <a:ext cx="11384280" cy="0"/>
          </a:xfrm>
          <a:prstGeom prst="line">
            <a:avLst/>
          </a:prstGeom>
          <a:ln w="12700">
            <a:solidFill>
              <a:srgbClr val="D9E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1480" y="6556248"/>
            <a:ext cx="7315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1935 发电厂干煤棚改造 · 案例研究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50040" y="6556248"/>
            <a:ext cx="27432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0"/>
            </a:avLst>
          </a:prstGeom>
          <a:solidFill>
            <a:srgbClr val="193C35"/>
          </a:solidFill>
          <a:ln w="1524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457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600" b="1">
                <a:solidFill>
                  <a:srgbClr val="D9EADF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73152"/>
            <a:ext cx="80467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400" b="1">
                <a:solidFill>
                  <a:srgbClr val="193C35"/>
                </a:solidFill>
                <a:latin typeface="Noto Sans CJK SC"/>
              </a:defRPr>
            </a:pPr>
            <a:r>
              <a:t>结论与下一步分析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09728"/>
            <a:ext cx="2743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1000" b="0">
                <a:solidFill>
                  <a:srgbClr val="65746D"/>
                </a:solidFill>
                <a:latin typeface="Noto Sans CJK SC"/>
              </a:defRPr>
            </a:pPr>
            <a: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51206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300" b="1">
                <a:solidFill>
                  <a:srgbClr val="193C35"/>
                </a:solidFill>
                <a:latin typeface="Noto Sans CJK SC"/>
              </a:defRPr>
            </a:pPr>
            <a:r>
              <a:t>案例研究结论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109728" cy="109728"/>
          </a:xfrm>
          <a:prstGeom prst="roundRect">
            <a:avLst>
              <a:gd name="adj" fmla="val 2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72184"/>
            <a:ext cx="5029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700" b="0">
                <a:solidFill>
                  <a:srgbClr val="15221E"/>
                </a:solidFill>
                <a:latin typeface="Noto Sans CJK SC"/>
              </a:defRPr>
            </a:pPr>
            <a:r>
              <a:t>工业遗产更新的重点不是“做旧”，而是让原有结构继续承担公共生活。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48839"/>
            <a:ext cx="109728" cy="109728"/>
          </a:xfrm>
          <a:prstGeom prst="roundRect">
            <a:avLst>
              <a:gd name="adj" fmla="val 2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12263"/>
            <a:ext cx="5029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700" b="0">
                <a:solidFill>
                  <a:srgbClr val="15221E"/>
                </a:solidFill>
                <a:latin typeface="Noto Sans CJK SC"/>
              </a:defRPr>
            </a:pPr>
            <a:r>
              <a:t>大跨度空间适合采用可变盒子、连续长廊和分时运营。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88920"/>
            <a:ext cx="109728" cy="109728"/>
          </a:xfrm>
          <a:prstGeom prst="roundRect">
            <a:avLst>
              <a:gd name="adj" fmla="val 2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52344"/>
            <a:ext cx="5029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700" b="0">
                <a:solidFill>
                  <a:srgbClr val="15221E"/>
                </a:solidFill>
                <a:latin typeface="Noto Sans CJK SC"/>
              </a:defRPr>
            </a:pPr>
            <a:r>
              <a:t>绿化、遮阳、通风和雨洪应成为空间组织条件，而非附加装饰。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28999"/>
            <a:ext cx="109728" cy="109728"/>
          </a:xfrm>
          <a:prstGeom prst="roundRect">
            <a:avLst>
              <a:gd name="adj" fmla="val 2000"/>
            </a:avLst>
          </a:prstGeom>
          <a:solidFill>
            <a:srgbClr val="D06B42"/>
          </a:solidFill>
          <a:ln w="1524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92423"/>
            <a:ext cx="5029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700" b="0">
                <a:solidFill>
                  <a:srgbClr val="15221E"/>
                </a:solidFill>
                <a:latin typeface="Noto Sans CJK SC"/>
              </a:defRPr>
            </a:pPr>
            <a:r>
              <a:t>遗产价值需要从单栋厂房扩展到构筑物、路径和生产流程。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914400"/>
            <a:ext cx="4937760" cy="4297680"/>
          </a:xfrm>
          <a:prstGeom prst="roundRect">
            <a:avLst>
              <a:gd name="adj" fmla="val 8000"/>
            </a:avLst>
          </a:prstGeom>
          <a:solidFill>
            <a:srgbClr val="193C35"/>
          </a:solidFill>
          <a:ln w="1524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234440"/>
            <a:ext cx="43891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2200" b="1">
                <a:solidFill>
                  <a:srgbClr val="F7F5EF"/>
                </a:solidFill>
                <a:latin typeface="Noto Sans CJK SC"/>
              </a:defRPr>
            </a:pPr>
            <a:r>
              <a:t>建议的后续工作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1828800"/>
            <a:ext cx="3749039" cy="384048"/>
          </a:xfrm>
          <a:prstGeom prst="roundRect">
            <a:avLst>
              <a:gd name="adj" fmla="val 5000"/>
            </a:avLst>
          </a:prstGeom>
          <a:solidFill>
            <a:srgbClr val="456C5B"/>
          </a:solidFill>
          <a:ln w="15240">
            <a:solidFill>
              <a:srgbClr val="45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929384"/>
            <a:ext cx="347472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400" b="1">
                <a:solidFill>
                  <a:srgbClr val="F7F5EF"/>
                </a:solidFill>
                <a:latin typeface="Noto Sans CJK SC"/>
              </a:defRPr>
            </a:pPr>
            <a:r>
              <a:t>01  建立柱网与遗产要素分级图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2395728"/>
            <a:ext cx="3749039" cy="384048"/>
          </a:xfrm>
          <a:prstGeom prst="roundRect">
            <a:avLst>
              <a:gd name="adj" fmla="val 5000"/>
            </a:avLst>
          </a:prstGeom>
          <a:solidFill>
            <a:srgbClr val="456C5B"/>
          </a:solidFill>
          <a:ln w="15240">
            <a:solidFill>
              <a:srgbClr val="45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2496312"/>
            <a:ext cx="347472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400" b="1">
                <a:solidFill>
                  <a:srgbClr val="F7F5EF"/>
                </a:solidFill>
                <a:latin typeface="Noto Sans CJK SC"/>
              </a:defRPr>
            </a:pPr>
            <a:r>
              <a:t>02  完成首层/二层功能面积校核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2962656"/>
            <a:ext cx="3749039" cy="384048"/>
          </a:xfrm>
          <a:prstGeom prst="roundRect">
            <a:avLst>
              <a:gd name="adj" fmla="val 5000"/>
            </a:avLst>
          </a:prstGeom>
          <a:solidFill>
            <a:srgbClr val="456C5B"/>
          </a:solidFill>
          <a:ln w="15240">
            <a:solidFill>
              <a:srgbClr val="45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063239"/>
            <a:ext cx="347472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400" b="1">
                <a:solidFill>
                  <a:srgbClr val="F7F5EF"/>
                </a:solidFill>
                <a:latin typeface="Noto Sans CJK SC"/>
              </a:defRPr>
            </a:pPr>
            <a:r>
              <a:t>03  做日照与东南风环境模拟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3529584"/>
            <a:ext cx="3749039" cy="384048"/>
          </a:xfrm>
          <a:prstGeom prst="roundRect">
            <a:avLst>
              <a:gd name="adj" fmla="val 5000"/>
            </a:avLst>
          </a:prstGeom>
          <a:solidFill>
            <a:srgbClr val="456C5B"/>
          </a:solidFill>
          <a:ln w="15240">
            <a:solidFill>
              <a:srgbClr val="45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630168"/>
            <a:ext cx="347472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400" b="1">
                <a:solidFill>
                  <a:srgbClr val="F7F5EF"/>
                </a:solidFill>
                <a:latin typeface="Noto Sans CJK SC"/>
              </a:defRPr>
            </a:pPr>
            <a:r>
              <a:t>04  做暴雨雨洪与绿化率核算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95160" y="4096512"/>
            <a:ext cx="3749039" cy="384048"/>
          </a:xfrm>
          <a:prstGeom prst="roundRect">
            <a:avLst>
              <a:gd name="adj" fmla="val 5000"/>
            </a:avLst>
          </a:prstGeom>
          <a:solidFill>
            <a:srgbClr val="456C5B"/>
          </a:solidFill>
          <a:ln w="15240">
            <a:solidFill>
              <a:srgbClr val="45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4197096"/>
            <a:ext cx="347472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400" b="1">
                <a:solidFill>
                  <a:srgbClr val="F7F5EF"/>
                </a:solidFill>
                <a:latin typeface="Noto Sans CJK SC"/>
              </a:defRPr>
            </a:pPr>
            <a:r>
              <a:t>05  深化消防、无障碍与后勤流线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107899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300" b="0">
                <a:solidFill>
                  <a:srgbClr val="65746D"/>
                </a:solidFill>
                <a:latin typeface="Noto Sans CJK SC"/>
              </a:defRPr>
            </a:pPr>
            <a:r>
              <a:t>资料来源与进一步阅读见配套 Markdown 分析文档。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" y="6510528"/>
            <a:ext cx="11384280" cy="0"/>
          </a:xfrm>
          <a:prstGeom prst="line">
            <a:avLst/>
          </a:prstGeom>
          <a:ln w="12700">
            <a:solidFill>
              <a:srgbClr val="D9E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1480" y="6556248"/>
            <a:ext cx="7315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1935 发电厂干煤棚改造 · 案例研究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556248"/>
            <a:ext cx="27432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/>
          </a:prstGeom>
          <a:solidFill>
            <a:srgbClr val="193C35"/>
          </a:solidFill>
          <a:ln w="1270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457200" cy="22860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l">
              <a:defRPr sz="1600" b="1">
                <a:solidFill>
                  <a:srgbClr val="D9EADF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73152"/>
            <a:ext cx="8229600" cy="27432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l">
              <a:defRPr sz="2400" b="1">
                <a:solidFill>
                  <a:srgbClr val="193C35"/>
                </a:solidFill>
                <a:latin typeface="Noto Sans CJK SC"/>
              </a:defRPr>
            </a:pPr>
            <a:r>
              <a:t>案例一独立分析：实地照片与空间阅读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18872"/>
            <a:ext cx="2743200" cy="18288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r">
              <a:defRPr sz="1000" b="0">
                <a:solidFill>
                  <a:srgbClr val="65746D"/>
                </a:solidFill>
                <a:latin typeface="Noto Sans CJK SC"/>
              </a:defRPr>
            </a:pPr>
            <a:r>
              <a:t>TONSLEY · PHOTO INDEX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14400"/>
            <a:ext cx="5212080" cy="3474720"/>
          </a:xfrm>
          <a:prstGeom prst="roundRect">
            <a:avLst/>
          </a:prstGeom>
          <a:solidFill>
            <a:srgbClr val="193C35"/>
          </a:solidFill>
          <a:ln w="1270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051560"/>
            <a:ext cx="54864" cy="3200400"/>
          </a:xfrm>
          <a:prstGeom prst="rect">
            <a:avLst/>
          </a:prstGeom>
          <a:solidFill>
            <a:srgbClr val="EFC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48409" y="1051560"/>
            <a:ext cx="54864" cy="3200400"/>
          </a:xfrm>
          <a:prstGeom prst="rect">
            <a:avLst/>
          </a:prstGeom>
          <a:solidFill>
            <a:srgbClr val="EFC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73859" y="1051560"/>
            <a:ext cx="54864" cy="3200400"/>
          </a:xfrm>
          <a:prstGeom prst="rect">
            <a:avLst/>
          </a:prstGeom>
          <a:solidFill>
            <a:srgbClr val="EFC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9308" y="1051560"/>
            <a:ext cx="54864" cy="3200400"/>
          </a:xfrm>
          <a:prstGeom prst="rect">
            <a:avLst/>
          </a:prstGeom>
          <a:solidFill>
            <a:srgbClr val="EFC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4758" y="1051560"/>
            <a:ext cx="54864" cy="3200400"/>
          </a:xfrm>
          <a:prstGeom prst="rect">
            <a:avLst/>
          </a:prstGeom>
          <a:solidFill>
            <a:srgbClr val="EFC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50208" y="1051560"/>
            <a:ext cx="54864" cy="3200400"/>
          </a:xfrm>
          <a:prstGeom prst="rect">
            <a:avLst/>
          </a:prstGeom>
          <a:solidFill>
            <a:srgbClr val="EFC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5657" y="1051560"/>
            <a:ext cx="54864" cy="3200400"/>
          </a:xfrm>
          <a:prstGeom prst="rect">
            <a:avLst/>
          </a:prstGeom>
          <a:solidFill>
            <a:srgbClr val="EFC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103473"/>
            <a:ext cx="4754880" cy="625449"/>
          </a:xfrm>
          <a:prstGeom prst="roundRect">
            <a:avLst/>
          </a:prstGeom>
          <a:solidFill>
            <a:srgbClr val="456C5B"/>
          </a:solidFill>
          <a:ln w="12700">
            <a:solidFill>
              <a:srgbClr val="45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23974" y="2478024"/>
            <a:ext cx="3335731" cy="382219"/>
          </a:xfrm>
          <a:prstGeom prst="roundRect">
            <a:avLst/>
          </a:prstGeom>
          <a:solidFill>
            <a:srgbClr val="BCA6E6"/>
          </a:solidFill>
          <a:ln w="12700">
            <a:solidFill>
              <a:srgbClr val="BCA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3670"/>
            <a:ext cx="4846320" cy="22860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公开实景照片索引：工业伞盖与公共绿化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914400"/>
            <a:ext cx="5212080" cy="3474720"/>
          </a:xfrm>
          <a:prstGeom prst="roundRect">
            <a:avLst/>
          </a:prstGeom>
          <a:solidFill>
            <a:srgbClr val="193C35"/>
          </a:solidFill>
          <a:ln w="1270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1051560"/>
            <a:ext cx="54864" cy="3200400"/>
          </a:xfrm>
          <a:prstGeom prst="rect">
            <a:avLst/>
          </a:prstGeom>
          <a:solidFill>
            <a:srgbClr val="EFC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71969" y="1051560"/>
            <a:ext cx="54864" cy="3200400"/>
          </a:xfrm>
          <a:prstGeom prst="rect">
            <a:avLst/>
          </a:prstGeom>
          <a:solidFill>
            <a:srgbClr val="EFC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97419" y="1051560"/>
            <a:ext cx="54864" cy="3200400"/>
          </a:xfrm>
          <a:prstGeom prst="rect">
            <a:avLst/>
          </a:prstGeom>
          <a:solidFill>
            <a:srgbClr val="EFC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2868" y="1051560"/>
            <a:ext cx="54864" cy="3200400"/>
          </a:xfrm>
          <a:prstGeom prst="rect">
            <a:avLst/>
          </a:prstGeom>
          <a:solidFill>
            <a:srgbClr val="EFC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48318" y="1051560"/>
            <a:ext cx="54864" cy="3200400"/>
          </a:xfrm>
          <a:prstGeom prst="rect">
            <a:avLst/>
          </a:prstGeom>
          <a:solidFill>
            <a:srgbClr val="EFC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73768" y="1051560"/>
            <a:ext cx="54864" cy="3200400"/>
          </a:xfrm>
          <a:prstGeom prst="rect">
            <a:avLst/>
          </a:prstGeom>
          <a:solidFill>
            <a:srgbClr val="EFC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99217" y="1051560"/>
            <a:ext cx="54864" cy="3200400"/>
          </a:xfrm>
          <a:prstGeom prst="rect">
            <a:avLst/>
          </a:prstGeom>
          <a:solidFill>
            <a:srgbClr val="EFC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37960" y="3103473"/>
            <a:ext cx="4754880" cy="625449"/>
          </a:xfrm>
          <a:prstGeom prst="roundRect">
            <a:avLst/>
          </a:prstGeom>
          <a:solidFill>
            <a:srgbClr val="456C5B"/>
          </a:solidFill>
          <a:ln w="12700">
            <a:solidFill>
              <a:srgbClr val="45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47534" y="2478024"/>
            <a:ext cx="3335731" cy="382219"/>
          </a:xfrm>
          <a:prstGeom prst="roundRect">
            <a:avLst/>
          </a:prstGeom>
          <a:solidFill>
            <a:srgbClr val="BCA6E6"/>
          </a:solidFill>
          <a:ln w="12700">
            <a:solidFill>
              <a:srgbClr val="BCA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763670"/>
            <a:ext cx="4846320" cy="22860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公开实景照片索引：工业伞盖与公共绿化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617720"/>
            <a:ext cx="4937760" cy="32004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l">
              <a:defRPr sz="1600" b="1">
                <a:solidFill>
                  <a:srgbClr val="193C35"/>
                </a:solidFill>
                <a:latin typeface="Noto Sans CJK SC"/>
              </a:defRPr>
            </a:pPr>
            <a:r>
              <a:t>照片 A：主装配厂房外部 / Sawtooth canopy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17720"/>
            <a:ext cx="4937760" cy="32004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l">
              <a:defRPr sz="1600" b="1">
                <a:solidFill>
                  <a:srgbClr val="193C35"/>
                </a:solidFill>
                <a:latin typeface="Noto Sans CJK SC"/>
              </a:defRPr>
            </a:pPr>
            <a:r>
              <a:t>照片 B：室内森林 / Foyer Forest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29200"/>
            <a:ext cx="4892040" cy="73152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l">
              <a:defRPr sz="1100" b="0">
                <a:solidFill>
                  <a:srgbClr val="65746D"/>
                </a:solidFill>
                <a:latin typeface="Noto Sans CJK SC"/>
              </a:defRPr>
            </a:pPr>
            <a:r>
              <a:t>来源：ArchitectureAu</a:t>
            </a:r>
            <a:br/>
            <a:r>
              <a:t>https://architectureau.com/articles/tonsley-main-assembly-building-redevelopment/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029200"/>
            <a:ext cx="4892040" cy="73152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l">
              <a:defRPr sz="1100" b="0">
                <a:solidFill>
                  <a:srgbClr val="65746D"/>
                </a:solidFill>
                <a:latin typeface="Noto Sans CJK SC"/>
              </a:defRPr>
            </a:pPr>
            <a:r>
              <a:t>来源：Tonsley</a:t>
            </a:r>
            <a:br/>
            <a:r>
              <a:t>https://tonsley.com.au/news/tonsley-drives-towards-a-greener-future-with-new-mab-forest/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806440"/>
            <a:ext cx="10424160" cy="384048"/>
          </a:xfrm>
          <a:prstGeom prst="roundRect">
            <a:avLst/>
          </a:prstGeom>
          <a:solidFill>
            <a:srgbClr val="EFC78D"/>
          </a:solidFill>
          <a:ln w="1270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897880"/>
            <a:ext cx="10149840" cy="164592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ctr">
              <a:defRPr sz="1500" b="1">
                <a:solidFill>
                  <a:srgbClr val="193C35"/>
                </a:solidFill>
                <a:latin typeface="Noto Sans CJK SC"/>
              </a:defRPr>
            </a:pPr>
            <a:r>
              <a:t>照片阅读：保留屋盖的连续性 + 室内绿化的停留性，共同把“工厂”转化为“公共客厅”。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547104"/>
            <a:ext cx="10972800" cy="164592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l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照片索引页：图片来自项目公开页面，点击链接查看原图；分析图为本次重新绘制。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/>
          </a:prstGeom>
          <a:solidFill>
            <a:srgbClr val="193C35"/>
          </a:solidFill>
          <a:ln w="1270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457200" cy="22860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l">
              <a:defRPr sz="1600" b="1">
                <a:solidFill>
                  <a:srgbClr val="D9EADF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73152"/>
            <a:ext cx="8229600" cy="27432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l">
              <a:defRPr sz="2400" b="1">
                <a:solidFill>
                  <a:srgbClr val="193C35"/>
                </a:solidFill>
                <a:latin typeface="Noto Sans CJK SC"/>
              </a:defRPr>
            </a:pPr>
            <a:r>
              <a:t>案例二独立分析：实地照片与空间阅读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18872"/>
            <a:ext cx="2743200" cy="18288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r">
              <a:defRPr sz="1000" b="0">
                <a:solidFill>
                  <a:srgbClr val="65746D"/>
                </a:solidFill>
                <a:latin typeface="Noto Sans CJK SC"/>
              </a:defRPr>
            </a:pPr>
            <a:r>
              <a:t>YOUJIAWA · PHOTO INDEX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14400"/>
            <a:ext cx="5212080" cy="3474720"/>
          </a:xfrm>
          <a:prstGeom prst="roundRect">
            <a:avLst/>
          </a:prstGeom>
          <a:solidFill>
            <a:srgbClr val="193C35"/>
          </a:solidFill>
          <a:ln w="1270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097280"/>
            <a:ext cx="4882896" cy="1042415"/>
          </a:xfrm>
          <a:prstGeom prst="roundRect">
            <a:avLst/>
          </a:prstGeom>
          <a:solidFill>
            <a:srgbClr val="EFC78D"/>
          </a:solidFill>
          <a:ln w="12700">
            <a:solidFill>
              <a:srgbClr val="EFC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929737"/>
            <a:ext cx="4663440" cy="521207"/>
          </a:xfrm>
          <a:prstGeom prst="roundRect">
            <a:avLst/>
          </a:prstGeom>
          <a:solidFill>
            <a:srgbClr val="BCA6E6"/>
          </a:solidFill>
          <a:ln w="12700">
            <a:solidFill>
              <a:srgbClr val="BCA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8408" y="3277209"/>
            <a:ext cx="45720" cy="625449"/>
          </a:xfrm>
          <a:prstGeom prst="roundRect">
            <a:avLst/>
          </a:prstGeom>
          <a:solidFill>
            <a:srgbClr val="D06B42"/>
          </a:solidFill>
          <a:ln w="1270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01952" y="3277209"/>
            <a:ext cx="45720" cy="625449"/>
          </a:xfrm>
          <a:prstGeom prst="roundRect">
            <a:avLst/>
          </a:prstGeom>
          <a:solidFill>
            <a:srgbClr val="D06B42"/>
          </a:solidFill>
          <a:ln w="1270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25496" y="3277209"/>
            <a:ext cx="45720" cy="625449"/>
          </a:xfrm>
          <a:prstGeom prst="roundRect">
            <a:avLst/>
          </a:prstGeom>
          <a:solidFill>
            <a:srgbClr val="D06B42"/>
          </a:solidFill>
          <a:ln w="1270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39" y="3277209"/>
            <a:ext cx="45720" cy="625449"/>
          </a:xfrm>
          <a:prstGeom prst="roundRect">
            <a:avLst/>
          </a:prstGeom>
          <a:solidFill>
            <a:srgbClr val="D06B42"/>
          </a:solidFill>
          <a:ln w="1270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72584" y="3277209"/>
            <a:ext cx="45720" cy="625449"/>
          </a:xfrm>
          <a:prstGeom prst="roundRect">
            <a:avLst/>
          </a:prstGeom>
          <a:solidFill>
            <a:srgbClr val="D06B42"/>
          </a:solidFill>
          <a:ln w="1270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63670"/>
            <a:ext cx="4846320" cy="22860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公开实景照片索引：红砖厂房与云影长廊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914400"/>
            <a:ext cx="5212080" cy="3474720"/>
          </a:xfrm>
          <a:prstGeom prst="roundRect">
            <a:avLst/>
          </a:prstGeom>
          <a:solidFill>
            <a:srgbClr val="193C35"/>
          </a:solidFill>
          <a:ln w="12700">
            <a:solidFill>
              <a:srgbClr val="19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1097280"/>
            <a:ext cx="4882896" cy="1042415"/>
          </a:xfrm>
          <a:prstGeom prst="roundRect">
            <a:avLst/>
          </a:prstGeom>
          <a:solidFill>
            <a:srgbClr val="EFC78D"/>
          </a:solidFill>
          <a:ln w="12700">
            <a:solidFill>
              <a:srgbClr val="EFC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2929737"/>
            <a:ext cx="4663440" cy="521207"/>
          </a:xfrm>
          <a:prstGeom prst="roundRect">
            <a:avLst/>
          </a:prstGeom>
          <a:solidFill>
            <a:srgbClr val="BCA6E6"/>
          </a:solidFill>
          <a:ln w="12700">
            <a:solidFill>
              <a:srgbClr val="BCA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01968" y="3277209"/>
            <a:ext cx="45720" cy="625449"/>
          </a:xfrm>
          <a:prstGeom prst="roundRect">
            <a:avLst/>
          </a:prstGeom>
          <a:solidFill>
            <a:srgbClr val="D06B42"/>
          </a:solidFill>
          <a:ln w="1270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25512" y="3277209"/>
            <a:ext cx="45720" cy="625449"/>
          </a:xfrm>
          <a:prstGeom prst="roundRect">
            <a:avLst/>
          </a:prstGeom>
          <a:solidFill>
            <a:srgbClr val="D06B42"/>
          </a:solidFill>
          <a:ln w="1270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49056" y="3277209"/>
            <a:ext cx="45720" cy="625449"/>
          </a:xfrm>
          <a:prstGeom prst="roundRect">
            <a:avLst/>
          </a:prstGeom>
          <a:solidFill>
            <a:srgbClr val="D06B42"/>
          </a:solidFill>
          <a:ln w="1270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72600" y="3277209"/>
            <a:ext cx="45720" cy="625449"/>
          </a:xfrm>
          <a:prstGeom prst="roundRect">
            <a:avLst/>
          </a:prstGeom>
          <a:solidFill>
            <a:srgbClr val="D06B42"/>
          </a:solidFill>
          <a:ln w="1270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96144" y="3277209"/>
            <a:ext cx="45720" cy="625449"/>
          </a:xfrm>
          <a:prstGeom prst="roundRect">
            <a:avLst/>
          </a:prstGeom>
          <a:solidFill>
            <a:srgbClr val="D06B42"/>
          </a:solidFill>
          <a:ln w="12700">
            <a:solidFill>
              <a:srgbClr val="D0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763670"/>
            <a:ext cx="4846320" cy="22860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公开实景照片索引：红砖厂房与云影长廊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17720"/>
            <a:ext cx="4937760" cy="32004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l">
              <a:defRPr sz="1600" b="1">
                <a:solidFill>
                  <a:srgbClr val="193C35"/>
                </a:solidFill>
                <a:latin typeface="Noto Sans CJK SC"/>
              </a:defRPr>
            </a:pPr>
            <a:r>
              <a:t>照片 A：红砖厂房与新白色体量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617720"/>
            <a:ext cx="4937760" cy="32004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l">
              <a:defRPr sz="1600" b="1">
                <a:solidFill>
                  <a:srgbClr val="193C35"/>
                </a:solidFill>
                <a:latin typeface="Noto Sans CJK SC"/>
              </a:defRPr>
            </a:pPr>
            <a:r>
              <a:t>照片 B：厂房内部与高架步道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4892040" cy="73152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l">
              <a:defRPr sz="1100" b="0">
                <a:solidFill>
                  <a:srgbClr val="65746D"/>
                </a:solidFill>
                <a:latin typeface="Noto Sans CJK SC"/>
              </a:defRPr>
            </a:pPr>
            <a:r>
              <a:t>来源：谷德设计</a:t>
            </a:r>
            <a:br/>
            <a:r>
              <a:t>https://www.gooood.cn/conservation-and-renovation-of-nanjing-compressor-factory-youjiawa-residential-community-center-by-seu-arch-uag.htm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029200"/>
            <a:ext cx="4892040" cy="731520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l">
              <a:defRPr sz="1100" b="0">
                <a:solidFill>
                  <a:srgbClr val="65746D"/>
                </a:solidFill>
                <a:latin typeface="Noto Sans CJK SC"/>
              </a:defRPr>
            </a:pPr>
            <a:r>
              <a:t>来源：谷德设计（同一项目）</a:t>
            </a:r>
            <a:br/>
            <a:r>
              <a:t>https://www.gooood.cn/conservation-and-renovation-of-nanjing-compressor-factory-youjiawa-residential-community-center-by-seu-arch-uag.htm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806440"/>
            <a:ext cx="10424160" cy="384048"/>
          </a:xfrm>
          <a:prstGeom prst="roundRect">
            <a:avLst/>
          </a:prstGeom>
          <a:solidFill>
            <a:srgbClr val="BCA6E6"/>
          </a:solidFill>
          <a:ln w="12700">
            <a:solidFill>
              <a:srgbClr val="BCA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897880"/>
            <a:ext cx="10149840" cy="164592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ctr">
              <a:defRPr sz="1500" b="1">
                <a:solidFill>
                  <a:srgbClr val="193C35"/>
                </a:solidFill>
                <a:latin typeface="Noto Sans CJK SC"/>
              </a:defRPr>
            </a:pPr>
            <a:r>
              <a:t>照片阅读：红砖、钢构、长廊和树荫形成“旧基底 + 新连接 + 社区日常”的连续场所。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47104"/>
            <a:ext cx="10972800" cy="164592"/>
          </a:xfrm>
          <a:prstGeom prst="rect">
            <a:avLst/>
          </a:prstGeom>
          <a:noFill/>
        </p:spPr>
        <p:txBody>
          <a:bodyPr wrap="square" lIns="63500" rIns="63500" tIns="50800">
            <a:spAutoFit/>
          </a:bodyPr>
          <a:lstStyle/>
          <a:p>
            <a:pPr algn="l">
              <a:defRPr sz="900" b="0">
                <a:solidFill>
                  <a:srgbClr val="65746D"/>
                </a:solidFill>
                <a:latin typeface="Noto Sans CJK SC"/>
              </a:defRPr>
            </a:pPr>
            <a:r>
              <a:t>照片索引页：图片来自项目公开页面，点击链接查看原图；分析图为本次重新绘制。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