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1792"/>
            <a:ext cx="3657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DCE9D6"/>
                </a:solidFill>
                <a:latin typeface="Microsoft YaHei"/>
              </a:rPr>
              <a:t>干煤棚更新设计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143000"/>
            <a:ext cx="8046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500" b="1" i="0">
                <a:solidFill>
                  <a:srgbClr val="FFFFFF"/>
                </a:solidFill>
                <a:latin typeface="Microsoft YaHei"/>
              </a:rPr>
              <a:t>大屋盖下的滨江花园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5720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Microsoft YaHei"/>
              </a:rPr>
              <a:t>现阶段设计分析汇报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487168"/>
            <a:ext cx="3200400" cy="0"/>
          </a:xfrm>
          <a:prstGeom prst="line">
            <a:avLst/>
          </a:prstGeom>
          <a:ln w="31750">
            <a:solidFill>
              <a:srgbClr val="DCE9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697480"/>
            <a:ext cx="48463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保留原煤棚屋盖与柱网
插入公共步道、局部平台与连续绿化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7220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DCE9D6"/>
                </a:solidFill>
                <a:latin typeface="Microsoft YaHei"/>
              </a:rPr>
              <a:t>DESIGN REVIEW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6172200"/>
            <a:ext cx="21945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Microsoft YaHei"/>
              </a:rPr>
              <a:t>概念阶段｜非施工图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01  DESIGN 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从工业遗产到滨江公共空间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1417320"/>
            <a:ext cx="10241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233933"/>
                </a:solidFill>
                <a:latin typeface="Microsoft YaHei"/>
              </a:rPr>
              <a:t>当前方案的核心不是增加更多功能，而是让原有大屋盖成为一套连续的公共空间框架。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3429000" cy="2331720"/>
          </a:xfrm>
          <a:prstGeom prst="roundRect">
            <a:avLst/>
          </a:prstGeom>
          <a:solidFill>
            <a:srgbClr val="EEDECC"/>
          </a:solidFill>
          <a:ln w="12700">
            <a:solidFill>
              <a:srgbClr val="A06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11680"/>
            <a:ext cx="109728" cy="2331720"/>
          </a:xfrm>
          <a:prstGeom prst="rect">
            <a:avLst/>
          </a:prstGeom>
          <a:solidFill>
            <a:srgbClr val="A06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240280"/>
            <a:ext cx="34747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A06737"/>
                </a:solidFill>
                <a:latin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633472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 i="0">
                <a:solidFill>
                  <a:srgbClr val="233933"/>
                </a:solidFill>
                <a:latin typeface="Microsoft YaHei"/>
              </a:rPr>
              <a:t>保留核心框架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127248"/>
            <a:ext cx="278892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5F6F67"/>
                </a:solidFill>
                <a:latin typeface="Microsoft YaHei"/>
              </a:rPr>
              <a:t>柱网、桁架与连续大屋盖作为场所记忆和空间背景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7992" y="2011680"/>
            <a:ext cx="3429000" cy="2331720"/>
          </a:xfrm>
          <a:prstGeom prst="roundRect">
            <a:avLst/>
          </a:prstGeom>
          <a:solidFill>
            <a:srgbClr val="DCE9F1"/>
          </a:solidFill>
          <a:ln w="12700">
            <a:solidFill>
              <a:srgbClr val="7BA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07992" y="2011680"/>
            <a:ext cx="109728" cy="2331720"/>
          </a:xfrm>
          <a:prstGeom prst="rect">
            <a:avLst/>
          </a:prstGeom>
          <a:solidFill>
            <a:srgbClr val="7BA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4024" y="2240280"/>
            <a:ext cx="34747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7BA6BE"/>
                </a:solidFill>
                <a:latin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2633472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 i="0">
                <a:solidFill>
                  <a:srgbClr val="233933"/>
                </a:solidFill>
                <a:latin typeface="Microsoft YaHei"/>
              </a:rPr>
              <a:t>插入功能单元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4" y="3127248"/>
            <a:ext cx="278892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5F6F67"/>
                </a:solidFill>
                <a:latin typeface="Microsoft YaHei"/>
              </a:rPr>
              <a:t>展览、活动、零售、餐饮以局部盒子方式进入原结构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30183" y="2011680"/>
            <a:ext cx="3429000" cy="2331720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30183" y="2011680"/>
            <a:ext cx="109728" cy="2331720"/>
          </a:xfrm>
          <a:prstGeom prst="rect">
            <a:avLst/>
          </a:prstGeom>
          <a:solidFill>
            <a:srgbClr val="73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2240280"/>
            <a:ext cx="34747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73A467"/>
                </a:solidFill>
                <a:latin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86215" y="2633472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 i="0">
                <a:solidFill>
                  <a:srgbClr val="233933"/>
                </a:solidFill>
                <a:latin typeface="Microsoft YaHei"/>
              </a:rPr>
              <a:t>开放联系与绿化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5" y="3127248"/>
            <a:ext cx="278892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5F6F67"/>
                </a:solidFill>
                <a:latin typeface="Microsoft YaHei"/>
              </a:rPr>
              <a:t>8m 主步道、横向开口、空井和种植节点形成公共系统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800600"/>
            <a:ext cx="10881360" cy="1051560"/>
          </a:xfrm>
          <a:prstGeom prst="round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047488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DCE9D6"/>
                </a:solidFill>
                <a:latin typeface="Microsoft YaHei"/>
              </a:rPr>
              <a:t>设计判断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001768"/>
            <a:ext cx="8686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rosoft YaHei"/>
              </a:rPr>
              <a:t>方案已经从“把功能放进煤棚”转向“利用煤棚组织一套连续的公共空间系统”。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376672"/>
            <a:ext cx="8686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DCE9D6"/>
                </a:solidFill>
                <a:latin typeface="Microsoft YaHei"/>
              </a:rPr>
              <a:t>取消第三层运动场地后，设计重点更集中于一、二层的公共性、绿化与工业结构表达。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02  SPATIAL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一条主线 · 两类联系 · 三个功能段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1371600"/>
            <a:ext cx="78638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233933"/>
                </a:solidFill>
                <a:latin typeface="Microsoft YaHei"/>
              </a:rPr>
              <a:t>长条形煤棚被组织为一条可穿行、可停留、可观景的公共剖面。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10561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7280" y="2359152"/>
            <a:ext cx="3154680" cy="749808"/>
          </a:xfrm>
          <a:prstGeom prst="roundRect">
            <a:avLst/>
          </a:prstGeom>
          <a:solidFill>
            <a:srgbClr val="DCE9F1"/>
          </a:solidFill>
          <a:ln w="12700">
            <a:solidFill>
              <a:srgbClr val="7BA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39" y="2532887"/>
            <a:ext cx="28803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233933"/>
                </a:solidFill>
                <a:latin typeface="Microsoft YaHei"/>
              </a:rPr>
              <a:t>西侧文化段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3291839"/>
            <a:ext cx="293522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入口 · 主题展览 · 活动教室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359152"/>
            <a:ext cx="3749039" cy="749808"/>
          </a:xfrm>
          <a:prstGeom prst="roundRect">
            <a:avLst/>
          </a:prstGeom>
          <a:solidFill>
            <a:srgbClr val="EEDECC"/>
          </a:solidFill>
          <a:ln w="12700">
            <a:solidFill>
              <a:srgbClr val="A06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2532887"/>
            <a:ext cx="3474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233933"/>
                </a:solidFill>
                <a:latin typeface="Microsoft YaHei"/>
              </a:rPr>
              <a:t>中部日常段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3291839"/>
            <a:ext cx="352958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零售 · 公共步道 · 植物节点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0456" y="2359152"/>
            <a:ext cx="3154680" cy="749808"/>
          </a:xfrm>
          <a:prstGeom prst="roundRect">
            <a:avLst/>
          </a:prstGeom>
          <a:solidFill>
            <a:srgbClr val="EFE1DC"/>
          </a:solidFill>
          <a:ln w="12700">
            <a:solidFill>
              <a:srgbClr val="A06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2532887"/>
            <a:ext cx="28803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233933"/>
                </a:solidFill>
                <a:latin typeface="Microsoft YaHei"/>
              </a:rPr>
              <a:t>东侧滨江段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3291839"/>
            <a:ext cx="293522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餐饮 · 厨房后勤 · 观江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3072384"/>
            <a:ext cx="10104120" cy="219456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3081528"/>
            <a:ext cx="39319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 i="0">
                <a:solidFill>
                  <a:srgbClr val="233933"/>
                </a:solidFill>
                <a:latin typeface="Microsoft YaHei"/>
              </a:rPr>
              <a:t>连续公共步道 · 概念宽度约 8m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1975103"/>
            <a:ext cx="438912" cy="2084831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24528" y="2761487"/>
            <a:ext cx="310896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73A467"/>
                </a:solidFill>
                <a:latin typeface="Microsoft YaHei"/>
              </a:rPr>
              <a:t>横向
开放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1975103"/>
            <a:ext cx="438912" cy="2084831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2128" y="2761487"/>
            <a:ext cx="310896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73A467"/>
                </a:solidFill>
                <a:latin typeface="Microsoft YaHei"/>
              </a:rPr>
              <a:t>横向
开放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7280" y="4315968"/>
            <a:ext cx="9784080" cy="0"/>
          </a:xfrm>
          <a:prstGeom prst="line">
            <a:avLst/>
          </a:prstGeom>
          <a:ln w="25400">
            <a:solidFill>
              <a:srgbClr val="A06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 rot="2700000">
            <a:off x="2834640" y="4224528"/>
            <a:ext cx="182880" cy="182880"/>
          </a:xfrm>
          <a:prstGeom prst="rect">
            <a:avLst/>
          </a:prstGeom>
          <a:solidFill>
            <a:srgbClr val="A06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6126480" y="4224528"/>
            <a:ext cx="182880" cy="182880"/>
          </a:xfrm>
          <a:prstGeom prst="rect">
            <a:avLst/>
          </a:prstGeom>
          <a:solidFill>
            <a:srgbClr val="A06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9418320" y="4224528"/>
            <a:ext cx="182880" cy="182880"/>
          </a:xfrm>
          <a:prstGeom prst="rect">
            <a:avLst/>
          </a:prstGeom>
          <a:solidFill>
            <a:srgbClr val="A06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617720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233933"/>
                </a:solidFill>
                <a:latin typeface="Microsoft YaHei"/>
              </a:rPr>
              <a:t>文化进入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617720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233933"/>
                </a:solidFill>
                <a:latin typeface="Microsoft YaHei"/>
              </a:rPr>
              <a:t>日常使用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617720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233933"/>
                </a:solidFill>
                <a:latin typeface="Microsoft YaHei"/>
              </a:rPr>
              <a:t>滨江停留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5F6F67"/>
                </a:solidFill>
                <a:latin typeface="Microsoft YaHei"/>
              </a:rPr>
              <a:t>空间逻辑：入口理解场所 → 主步道体验 → 餐饮与观江形成目的地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03  GROUND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一层：文化进入、日常活力与绿化停留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58368" y="1417320"/>
            <a:ext cx="30632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00784"/>
            <a:ext cx="24688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233933"/>
                </a:solidFill>
                <a:latin typeface="Microsoft YaHei"/>
              </a:rPr>
              <a:t>一层的空间角色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240280"/>
            <a:ext cx="2450592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西侧展览与活动教室承担文化导入。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2788920"/>
            <a:ext cx="2450592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中部零售贴近主步道，形成连续经营界面。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3337560"/>
            <a:ext cx="2450592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东侧餐饮与观江空间成为游线终点。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886200"/>
            <a:ext cx="2450592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绿化节点把长建筑分割成多个可停留场所。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4645152"/>
            <a:ext cx="2487168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4873752"/>
            <a:ext cx="1371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A06737"/>
                </a:solidFill>
                <a:latin typeface="Microsoft YaHei"/>
              </a:rPr>
              <a:t>深化重点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80"/>
            <a:ext cx="2468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F6F67"/>
                </a:solidFill>
                <a:latin typeface="Microsoft YaHei"/>
              </a:rPr>
              <a:t>区分穿行绿化、停留绿化和生态绿化；补充展陈、座椅、遮荫与后勤路径。</a:t>
            </a:r>
          </a:p>
        </p:txBody>
      </p:sp>
      <p:pic>
        <p:nvPicPr>
          <p:cNvPr id="20" name="Picture 19" descr="干煤棚开放公共空间_初步一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417320"/>
            <a:ext cx="7543800" cy="4526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096512" y="6016752"/>
            <a:ext cx="7315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5F6F67"/>
                </a:solidFill>
                <a:latin typeface="Microsoft YaHei"/>
              </a:rPr>
              <a:t>前期一草用于说明功能骨架；最终尺寸与柱网需回到 CAD 校核。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04  SECOND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二层：局部插入、通高空间与公共节点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evel2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81328"/>
            <a:ext cx="7315200" cy="2834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75320" y="1481328"/>
            <a:ext cx="32461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783080"/>
            <a:ext cx="2651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233933"/>
                </a:solidFill>
                <a:latin typeface="Microsoft YaHei"/>
              </a:rPr>
              <a:t>二层不是满层覆盖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33172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23376" y="2331720"/>
            <a:ext cx="25603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局部平台主要布置在商业与餐饮上方。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88036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880360"/>
            <a:ext cx="25603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西侧和部分中部保持通高，保留原屋架尺度。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52044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23376" y="3520440"/>
            <a:ext cx="25603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二层需要有明确的公共目的地，避免成为附属平台。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16052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4160520"/>
            <a:ext cx="25603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楼梯、电梯、栏杆与空井边界要一体化设计。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09160"/>
            <a:ext cx="7315200" cy="1051560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956048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73A467"/>
                </a:solidFill>
                <a:latin typeface="Microsoft YaHei"/>
              </a:rPr>
              <a:t>空间事件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910328"/>
            <a:ext cx="58064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233933"/>
                </a:solidFill>
                <a:latin typeface="Microsoft YaHei"/>
              </a:rPr>
              <a:t>树木通过局部空井连接一、二层，让绿化从平面符号转化为垂直空间结构。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05  CIRCULATION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游客、服务与疏散：下一步要真正分开表达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1417320"/>
            <a:ext cx="6492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7335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233933"/>
                </a:solidFill>
                <a:latin typeface="Microsoft YaHei"/>
              </a:rPr>
              <a:t>建议流线框架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331720"/>
            <a:ext cx="5943600" cy="640080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542032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233933"/>
                </a:solidFill>
                <a:latin typeface="Microsoft YaHei"/>
              </a:rPr>
              <a:t>连续公共步道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80160" y="2057400"/>
            <a:ext cx="0" cy="1188720"/>
          </a:xfrm>
          <a:prstGeom prst="line">
            <a:avLst/>
          </a:prstGeom>
          <a:ln w="22860">
            <a:solidFill>
              <a:srgbClr val="A06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1847088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A06737"/>
                </a:solidFill>
                <a:latin typeface="Microsoft YaHei"/>
              </a:rPr>
              <a:t>入口/联系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2057400"/>
            <a:ext cx="0" cy="1188720"/>
          </a:xfrm>
          <a:prstGeom prst="line">
            <a:avLst/>
          </a:prstGeom>
          <a:ln w="22860">
            <a:solidFill>
              <a:srgbClr val="A06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468879" y="1847088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A06737"/>
                </a:solidFill>
                <a:latin typeface="Microsoft YaHei"/>
              </a:rPr>
              <a:t>入口/联系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2057400"/>
            <a:ext cx="0" cy="1188720"/>
          </a:xfrm>
          <a:prstGeom prst="line">
            <a:avLst/>
          </a:prstGeom>
          <a:ln w="22860">
            <a:solidFill>
              <a:srgbClr val="A06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69080" y="1847088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A06737"/>
                </a:solidFill>
                <a:latin typeface="Microsoft YaHei"/>
              </a:rPr>
              <a:t>入口/联系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2057400"/>
            <a:ext cx="0" cy="1188720"/>
          </a:xfrm>
          <a:prstGeom prst="line">
            <a:avLst/>
          </a:prstGeom>
          <a:ln w="22860">
            <a:solidFill>
              <a:srgbClr val="A06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0" y="1847088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A06737"/>
                </a:solidFill>
                <a:latin typeface="Microsoft YaHei"/>
              </a:rPr>
              <a:t>入口/联系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17320" y="3584448"/>
            <a:ext cx="4709160" cy="0"/>
          </a:xfrm>
          <a:prstGeom prst="line">
            <a:avLst/>
          </a:prstGeom>
          <a:ln w="25400">
            <a:solidFill>
              <a:srgbClr val="7BA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06040" y="3401568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7BA6BE"/>
                </a:solidFill>
                <a:latin typeface="Microsoft YaHei"/>
              </a:rPr>
              <a:t>滨江侧可回游路径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17320" y="4279392"/>
            <a:ext cx="4709160" cy="0"/>
          </a:xfrm>
          <a:prstGeom prst="line">
            <a:avLst/>
          </a:prstGeom>
          <a:ln w="25400">
            <a:solidFill>
              <a:srgbClr val="A067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965960" y="4096512"/>
            <a:ext cx="3474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A06737"/>
                </a:solidFill>
                <a:latin typeface="Microsoft YaHei"/>
              </a:rPr>
              <a:t>厂区侧服务 / 布展 / 垃圾清运路径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17320" y="4983480"/>
            <a:ext cx="4709160" cy="0"/>
          </a:xfrm>
          <a:prstGeom prst="line">
            <a:avLst/>
          </a:prstGeom>
          <a:ln w="25400">
            <a:solidFill>
              <a:srgbClr val="233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920240" y="4800600"/>
            <a:ext cx="3657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233933"/>
                </a:solidFill>
                <a:latin typeface="Microsoft YaHei"/>
              </a:rPr>
              <a:t>疏散与无障碍：分散出口 + 电梯 + 清晰缓冲区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1417320"/>
            <a:ext cx="4023360" cy="4480560"/>
          </a:xfrm>
          <a:prstGeom prst="roundRect">
            <a:avLst/>
          </a:prstGeom>
          <a:solidFill>
            <a:srgbClr val="EEDECC"/>
          </a:solidFill>
          <a:ln w="12700">
            <a:solidFill>
              <a:srgbClr val="A06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173736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233933"/>
                </a:solidFill>
                <a:latin typeface="Microsoft YaHei"/>
              </a:rPr>
              <a:t>当前判断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33172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91856" y="2331720"/>
            <a:ext cx="32461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主游线叙事完整：展览 → 零售 → 餐饮/观江。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97180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2971800"/>
            <a:ext cx="32461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两端入口和横向开口有利于分散人流。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361188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1856" y="3611880"/>
            <a:ext cx="32461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需要补一条明确回游线，避免东端原路返回。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425196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4251960"/>
            <a:ext cx="324612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服务流线必须与游客流线错开。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06  STRUCTURE &amp; VOID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保留结构，插入平台，让空井成为空间核心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07_树木贯穿两层局部空井效果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17320"/>
            <a:ext cx="548640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46520" y="1417320"/>
            <a:ext cx="50749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737360"/>
            <a:ext cx="2011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233933"/>
                </a:solidFill>
                <a:latin typeface="Microsoft YaHei"/>
              </a:rPr>
              <a:t>结构表达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228600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2008" y="2286000"/>
            <a:ext cx="420624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原柱、桁架和大屋盖继续承担场所识别。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288036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8" y="2880360"/>
            <a:ext cx="420624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新二层平台建议采用独立支撑，避免未经复核的新增荷载传给原屋架。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657600"/>
            <a:ext cx="146304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A06737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3657600"/>
            <a:ext cx="420624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233933"/>
                </a:solidFill>
                <a:latin typeface="Microsoft YaHei"/>
              </a:rPr>
              <a:t>空井边界应同时解决楼板开口、树池排水、栏杆、防坠落和维护。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48272" y="4572000"/>
            <a:ext cx="4361688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48272" y="4846320"/>
            <a:ext cx="42519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A06737"/>
                </a:solidFill>
                <a:latin typeface="Microsoft YaHei"/>
              </a:rPr>
              <a:t>树木贯穿空井是方案最有辨识度的空间事件，但必须从效果图深化为节点系统。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07  ECOLOGY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生态策略：从概念口号变成可验证的空间性能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06_柱网与屋面控制_平视鸟瞰效果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44752"/>
            <a:ext cx="5989320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56235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5F6F67"/>
                </a:solidFill>
                <a:latin typeface="Microsoft YaHei"/>
              </a:rPr>
              <a:t>原有大屋盖提供遮荫、雨水汇集和工业记忆；外围绿化把建筑连接到滨江公共空间。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554480"/>
            <a:ext cx="4526280" cy="1097280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1764792"/>
            <a:ext cx="43891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73A467"/>
                </a:solidFill>
                <a:latin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719072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233933"/>
                </a:solidFill>
                <a:latin typeface="Microsoft YaHei"/>
              </a:rPr>
              <a:t>光照与种植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048256"/>
            <a:ext cx="32461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根据屋盖阴影和空井日照确定植物位置，避免只按面积堆绿化。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2971800"/>
            <a:ext cx="4526280" cy="1097280"/>
          </a:xfrm>
          <a:prstGeom prst="roundRect">
            <a:avLst/>
          </a:prstGeom>
          <a:solidFill>
            <a:srgbClr val="DCE9F1"/>
          </a:solidFill>
          <a:ln w="12700">
            <a:solidFill>
              <a:srgbClr val="7BA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182112"/>
            <a:ext cx="43891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7BA6BE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136392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233933"/>
                </a:solidFill>
                <a:latin typeface="Microsoft YaHei"/>
              </a:rPr>
              <a:t>气流与步道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465576"/>
            <a:ext cx="32461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用横向开口和通高空间形成可感知的通风路径，同时保证停留舒适。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4389120"/>
            <a:ext cx="4526280" cy="1097280"/>
          </a:xfrm>
          <a:prstGeom prst="roundRect">
            <a:avLst/>
          </a:prstGeom>
          <a:solidFill>
            <a:srgbClr val="EEDECC"/>
          </a:solidFill>
          <a:ln w="12700">
            <a:solidFill>
              <a:srgbClr val="A06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4599432"/>
            <a:ext cx="43891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A06737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553712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233933"/>
                </a:solidFill>
                <a:latin typeface="Microsoft YaHei"/>
              </a:rPr>
              <a:t>雨水与维护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882896"/>
            <a:ext cx="32461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明确屋面收集、溢流、树池排水、灌溉与更换路径，保证长期运营。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08  DESIGN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当前方案最需要补强的六个问题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09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1508760"/>
            <a:ext cx="3429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109728" cy="1600200"/>
          </a:xfrm>
          <a:prstGeom prst="rect">
            <a:avLst/>
          </a:prstGeom>
          <a:solidFill>
            <a:srgbClr val="A06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37360"/>
            <a:ext cx="43891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A06737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2651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233933"/>
                </a:solidFill>
                <a:latin typeface="Microsoft YaHei"/>
              </a:rPr>
              <a:t>尺寸校核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2788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216m、36m、9m 柱距与标高仍是概念值，需统一回 CAD。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1508760"/>
            <a:ext cx="3429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07992" y="1508760"/>
            <a:ext cx="109728" cy="1600200"/>
          </a:xfrm>
          <a:prstGeom prst="rect">
            <a:avLst/>
          </a:prstGeom>
          <a:solidFill>
            <a:srgbClr val="A06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737360"/>
            <a:ext cx="43891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A06737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075688"/>
            <a:ext cx="2651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233933"/>
                </a:solidFill>
                <a:latin typeface="Microsoft YaHei"/>
              </a:rPr>
              <a:t>消防无障碍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468880"/>
            <a:ext cx="2788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楼梯、电梯、疏散距离、通高空间和空井防护尚未闭合。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0183" y="1508760"/>
            <a:ext cx="3429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0183" y="1508760"/>
            <a:ext cx="109728" cy="1600200"/>
          </a:xfrm>
          <a:prstGeom prst="rect">
            <a:avLst/>
          </a:prstGeom>
          <a:solidFill>
            <a:srgbClr val="A06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4504" y="1737360"/>
            <a:ext cx="43891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A06737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4504" y="2075688"/>
            <a:ext cx="2651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233933"/>
                </a:solidFill>
                <a:latin typeface="Microsoft YaHei"/>
              </a:rPr>
              <a:t>步道使用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04504" y="2468880"/>
            <a:ext cx="2788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8m 步道需要座椅、展陈、遮荫、照明和雨天使用方式。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66160"/>
            <a:ext cx="3429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566160"/>
            <a:ext cx="109728" cy="1600200"/>
          </a:xfrm>
          <a:prstGeom prst="rect">
            <a:avLst/>
          </a:prstGeom>
          <a:solidFill>
            <a:srgbClr val="73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94760"/>
            <a:ext cx="43891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73A467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3087"/>
            <a:ext cx="2651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233933"/>
                </a:solidFill>
                <a:latin typeface="Microsoft YaHei"/>
              </a:rPr>
              <a:t>服务分流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526280"/>
            <a:ext cx="2788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厨房、补货、垃圾、设备检修和布展需与游客流线分开。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07992" y="3566160"/>
            <a:ext cx="3429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07992" y="3566160"/>
            <a:ext cx="109728" cy="1600200"/>
          </a:xfrm>
          <a:prstGeom prst="rect">
            <a:avLst/>
          </a:prstGeom>
          <a:solidFill>
            <a:srgbClr val="73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82312" y="3794760"/>
            <a:ext cx="43891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73A467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4133087"/>
            <a:ext cx="2651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233933"/>
                </a:solidFill>
                <a:latin typeface="Microsoft YaHei"/>
              </a:rPr>
              <a:t>二层目的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2312" y="4526280"/>
            <a:ext cx="2788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增加阅读、休憩、小展陈或观景节点，形成上楼理由。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30183" y="3566160"/>
            <a:ext cx="3429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C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30183" y="3566160"/>
            <a:ext cx="109728" cy="1600200"/>
          </a:xfrm>
          <a:prstGeom prst="rect">
            <a:avLst/>
          </a:prstGeom>
          <a:solidFill>
            <a:srgbClr val="73A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4504" y="3794760"/>
            <a:ext cx="43891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73A467"/>
                </a:solidFill>
                <a:latin typeface="Microsoft YaHe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4504" y="4133087"/>
            <a:ext cx="2651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233933"/>
                </a:solidFill>
                <a:latin typeface="Microsoft YaHei"/>
              </a:rPr>
              <a:t>绿化维护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4504" y="4526280"/>
            <a:ext cx="27889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F6F67"/>
                </a:solidFill>
                <a:latin typeface="Microsoft YaHei"/>
              </a:rPr>
              <a:t>区分穿行、停留、生态三类绿化，并落实排水、灌溉和维护。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669280"/>
            <a:ext cx="10881360" cy="384048"/>
          </a:xfrm>
          <a:prstGeom prst="round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769864"/>
            <a:ext cx="10424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这些问题不要求推翻现有概念，重点是把现有空间逻辑转化为可核实、可运营、可建造的设计。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7548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F6F67"/>
                </a:solidFill>
                <a:latin typeface="Microsoft YaHei"/>
              </a:rPr>
              <a:t>09 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10241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 i="0">
                <a:solidFill>
                  <a:srgbClr val="233933"/>
                </a:solidFill>
                <a:latin typeface="Microsoft YaHei"/>
              </a:rPr>
              <a:t>下一版图纸的深化顺序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47472"/>
            <a:ext cx="502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2000" b="0" i="0">
                <a:solidFill>
                  <a:srgbClr val="5F6F67"/>
                </a:solidFill>
                <a:latin typeface="Microsoft YaHei"/>
              </a:rPr>
              <a:t>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27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89304" y="2240280"/>
            <a:ext cx="1527048" cy="0"/>
          </a:xfrm>
          <a:prstGeom prst="line">
            <a:avLst/>
          </a:prstGeom>
          <a:ln w="254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58952" y="1874519"/>
            <a:ext cx="1078992" cy="713232"/>
          </a:xfrm>
          <a:prstGeom prst="round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084831"/>
            <a:ext cx="107899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788920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233933"/>
                </a:solidFill>
                <a:latin typeface="Microsoft YaHei"/>
              </a:rPr>
              <a:t>基础校核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246120"/>
            <a:ext cx="21031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导入 CAD 实际柱网、屋架边界、建筑尺寸和统一标高。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47872" y="2240280"/>
            <a:ext cx="1527048" cy="0"/>
          </a:xfrm>
          <a:prstGeom prst="line">
            <a:avLst/>
          </a:prstGeom>
          <a:ln w="254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17520" y="1874519"/>
            <a:ext cx="1078992" cy="713232"/>
          </a:xfrm>
          <a:prstGeom prst="round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084831"/>
            <a:ext cx="107899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88920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233933"/>
                </a:solidFill>
                <a:latin typeface="Microsoft YaHei"/>
              </a:rPr>
              <a:t>流线分层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246120"/>
            <a:ext cx="21031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分别绘制游客、服务、疏散、无障碍四类流线。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06440" y="2240280"/>
            <a:ext cx="1527048" cy="0"/>
          </a:xfrm>
          <a:prstGeom prst="line">
            <a:avLst/>
          </a:prstGeom>
          <a:ln w="254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276088" y="1874519"/>
            <a:ext cx="1078992" cy="713232"/>
          </a:xfrm>
          <a:prstGeom prst="round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2084831"/>
            <a:ext cx="107899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2788920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233933"/>
                </a:solidFill>
                <a:latin typeface="Microsoft YaHei"/>
              </a:rPr>
              <a:t>公共节点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3246120"/>
            <a:ext cx="21031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补充入口、步道停留、横向开口、滨江平台和二层节点。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65008" y="2240280"/>
            <a:ext cx="1527048" cy="0"/>
          </a:xfrm>
          <a:prstGeom prst="line">
            <a:avLst/>
          </a:prstGeom>
          <a:ln w="254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34656" y="1874519"/>
            <a:ext cx="1078992" cy="713232"/>
          </a:xfrm>
          <a:prstGeom prst="round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2084831"/>
            <a:ext cx="107899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2788920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233933"/>
                </a:solidFill>
                <a:latin typeface="Microsoft YaHei"/>
              </a:rPr>
              <a:t>空井与结构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7496" y="3246120"/>
            <a:ext cx="21031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明确树池、楼板开口、栏杆、独立支撑、排水与维护。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323576" y="2240280"/>
            <a:ext cx="1527048" cy="0"/>
          </a:xfrm>
          <a:prstGeom prst="line">
            <a:avLst/>
          </a:prstGeom>
          <a:ln w="2540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793224" y="1874519"/>
            <a:ext cx="1078992" cy="713232"/>
          </a:xfrm>
          <a:prstGeom prst="roundRect">
            <a:avLst/>
          </a:prstGeom>
          <a:solidFill>
            <a:srgbClr val="183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3224" y="2084831"/>
            <a:ext cx="107899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93224" y="2788920"/>
            <a:ext cx="1828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233933"/>
                </a:solidFill>
                <a:latin typeface="Microsoft YaHei"/>
              </a:rPr>
              <a:t>生态验证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3246120"/>
            <a:ext cx="21031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F6F67"/>
                </a:solidFill>
                <a:latin typeface="Microsoft YaHei"/>
              </a:rPr>
              <a:t>用日照、风环境、雨水和植物维护分析支撑策略。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1560" y="4892040"/>
            <a:ext cx="10058400" cy="868680"/>
          </a:xfrm>
          <a:prstGeom prst="roundRect">
            <a:avLst/>
          </a:prstGeom>
          <a:solidFill>
            <a:srgbClr val="DCE9D6"/>
          </a:solidFill>
          <a:ln w="12700">
            <a:solidFill>
              <a:srgbClr val="73A4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3312" y="5129784"/>
            <a:ext cx="1097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73A467"/>
                </a:solidFill>
                <a:latin typeface="Microsoft YaHei"/>
              </a:rPr>
              <a:t>综合判断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5074920"/>
            <a:ext cx="8138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233933"/>
                </a:solidFill>
                <a:latin typeface="Microsoft YaHei"/>
              </a:rPr>
              <a:t>方案已经具备较强的公共性与空间叙事，下一步应优先深化“尺寸—流线—结构—生态”四条证据链。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10160">
            <a:solidFill>
              <a:srgbClr val="BDC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4360" y="6583680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F6F67"/>
                </a:solidFill>
                <a:latin typeface="Microsoft YaHei"/>
              </a:rPr>
              <a:t>概念阶段｜依据示意平面与前期设计分析，尺寸及技术条件需以 CAD 与专项校核为准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583680"/>
            <a:ext cx="153619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 i="0">
                <a:solidFill>
                  <a:srgbClr val="5F6F67"/>
                </a:solidFill>
                <a:latin typeface="Microsoft YaHei"/>
              </a:rPr>
              <a:t>干煤棚更新设计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