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" y="621792"/>
            <a:ext cx="3657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CE9D6"/>
                </a:solidFill>
                <a:latin typeface="Microsoft YaHei"/>
              </a:rPr>
              <a:t>干煤棚更新设计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143000"/>
            <a:ext cx="80467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 i="0">
                <a:solidFill>
                  <a:srgbClr val="FFFFFF"/>
                </a:solidFill>
                <a:latin typeface="Microsoft YaHei"/>
              </a:rPr>
              <a:t>大屋盖下的滨江花园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5720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Microsoft YaHei"/>
              </a:rPr>
              <a:t>现阶段设计分析汇报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487168"/>
            <a:ext cx="3200400" cy="0"/>
          </a:xfrm>
          <a:prstGeom prst="line">
            <a:avLst/>
          </a:prstGeom>
          <a:ln w="31750">
            <a:solidFill>
              <a:srgbClr val="DCE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697480"/>
            <a:ext cx="48463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icrosoft YaHei"/>
              </a:rPr>
              <a:t>保留原煤棚屋盖与柱网
插入公共步道、局部平台与连续绿化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72200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DCE9D6"/>
                </a:solidFill>
                <a:latin typeface="Microsoft YaHei"/>
              </a:rPr>
              <a:t>DESIGN REVIEW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6172200"/>
            <a:ext cx="21945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Microsoft YaHei"/>
              </a:rPr>
              <a:t>概念阶段｜非施工图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01  DESIGN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从工业遗产到滨江公共空间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417320"/>
            <a:ext cx="102412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33933"/>
                </a:solidFill>
                <a:latin typeface="Microsoft YaHei"/>
              </a:rPr>
              <a:t>当前方案的核心不是增加更多功能，而是让原有大屋盖成为一套连续的公共空间框架。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11680"/>
            <a:ext cx="3429000" cy="233172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11680"/>
            <a:ext cx="109728" cy="2331720"/>
          </a:xfrm>
          <a:prstGeom prst="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240280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A06737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63347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33933"/>
                </a:solidFill>
                <a:latin typeface="Microsoft YaHei"/>
              </a:rPr>
              <a:t>保留核心框架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27248"/>
            <a:ext cx="278892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F6F67"/>
                </a:solidFill>
                <a:latin typeface="Microsoft YaHei"/>
              </a:rPr>
              <a:t>柱网、桁架与连续大屋盖作为场所记忆和空间背景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2011680"/>
            <a:ext cx="3429000" cy="233172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07992" y="2011680"/>
            <a:ext cx="109728" cy="2331720"/>
          </a:xfrm>
          <a:prstGeom prst="rect">
            <a:avLst/>
          </a:prstGeom>
          <a:solidFill>
            <a:srgbClr val="7BA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2240280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7BA6BE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63347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33933"/>
                </a:solidFill>
                <a:latin typeface="Microsoft YaHei"/>
              </a:rPr>
              <a:t>插入功能单元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4024" y="3127248"/>
            <a:ext cx="278892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F6F67"/>
                </a:solidFill>
                <a:latin typeface="Microsoft YaHei"/>
              </a:rPr>
              <a:t>展览、活动、零售、餐饮以局部盒子方式进入原结构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0183" y="2011680"/>
            <a:ext cx="3429000" cy="233172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30183" y="2011680"/>
            <a:ext cx="109728" cy="2331720"/>
          </a:xfrm>
          <a:prstGeom prst="rect">
            <a:avLst/>
          </a:prstGeom>
          <a:solidFill>
            <a:srgbClr val="73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5" y="2240280"/>
            <a:ext cx="34747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73A467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5" y="2633472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233933"/>
                </a:solidFill>
                <a:latin typeface="Microsoft YaHei"/>
              </a:rPr>
              <a:t>开放联系与绿化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5" y="3127248"/>
            <a:ext cx="278892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F6F67"/>
                </a:solidFill>
                <a:latin typeface="Microsoft YaHei"/>
              </a:rPr>
              <a:t>8m 主步道、横向开口、空井和种植节点形成公共系统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00600"/>
            <a:ext cx="10881360" cy="1051560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047488"/>
            <a:ext cx="1188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DCE9D6"/>
                </a:solidFill>
                <a:latin typeface="Microsoft YaHei"/>
              </a:rPr>
              <a:t>设计判断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001768"/>
            <a:ext cx="8686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方案已经从“把功能放进煤棚”转向“利用煤棚组织一套连续的公共空间系统”。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376672"/>
            <a:ext cx="8686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DCE9D6"/>
                </a:solidFill>
                <a:latin typeface="Microsoft YaHei"/>
              </a:rPr>
              <a:t>取消第三层运动场地后，设计重点更集中于一、二层的公共性、绿化与工业结构表达。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02  SPATIAL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一条主线 · 两类联系 · 三个功能段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1371600"/>
            <a:ext cx="7863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233933"/>
                </a:solidFill>
                <a:latin typeface="Microsoft YaHei"/>
              </a:rPr>
              <a:t>长条形煤棚被组织为一条可穿行、可停留、可观景的公共剖面。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10561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359152"/>
            <a:ext cx="3154680" cy="749808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39" y="2532887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33933"/>
                </a:solidFill>
                <a:latin typeface="Microsoft YaHei"/>
              </a:rPr>
              <a:t>西侧文化段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3291839"/>
            <a:ext cx="293522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入口 · 主题展览 · 活动教室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359152"/>
            <a:ext cx="3749039" cy="749808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532887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33933"/>
                </a:solidFill>
                <a:latin typeface="Microsoft YaHei"/>
              </a:rPr>
              <a:t>中部日常段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3291839"/>
            <a:ext cx="3529583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零售 · 公共步道 · 植物节点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0456" y="2359152"/>
            <a:ext cx="3154680" cy="749808"/>
          </a:xfrm>
          <a:prstGeom prst="roundRect">
            <a:avLst/>
          </a:prstGeom>
          <a:solidFill>
            <a:srgbClr val="EFE1D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2532887"/>
            <a:ext cx="2880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233933"/>
                </a:solidFill>
                <a:latin typeface="Microsoft YaHei"/>
              </a:rPr>
              <a:t>东侧滨江段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3291839"/>
            <a:ext cx="2935224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餐饮 · 厨房后勤 · 观江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072384"/>
            <a:ext cx="10104120" cy="219456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69080" y="3081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233933"/>
                </a:solidFill>
                <a:latin typeface="Microsoft YaHei"/>
              </a:rPr>
              <a:t>连续公共步道 · 概念宽度约 8m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1975103"/>
            <a:ext cx="438912" cy="2084831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4528" y="2761487"/>
            <a:ext cx="3108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73A467"/>
                </a:solidFill>
                <a:latin typeface="Microsoft YaHei"/>
              </a:rPr>
              <a:t>横向
开放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975103"/>
            <a:ext cx="438912" cy="2084831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2761487"/>
            <a:ext cx="31089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73A467"/>
                </a:solidFill>
                <a:latin typeface="Microsoft YaHei"/>
              </a:rPr>
              <a:t>横向
开放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4315968"/>
            <a:ext cx="9784080" cy="0"/>
          </a:xfrm>
          <a:prstGeom prst="line">
            <a:avLst/>
          </a:prstGeom>
          <a:ln w="2540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 rot="2700000">
            <a:off x="2834640" y="4224528"/>
            <a:ext cx="182880" cy="182880"/>
          </a:xfrm>
          <a:prstGeom prst="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6126480" y="4224528"/>
            <a:ext cx="182880" cy="182880"/>
          </a:xfrm>
          <a:prstGeom prst="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9418320" y="4224528"/>
            <a:ext cx="182880" cy="182880"/>
          </a:xfrm>
          <a:prstGeom prst="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33933"/>
                </a:solidFill>
                <a:latin typeface="Microsoft YaHei"/>
              </a:rPr>
              <a:t>文化进入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61772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33933"/>
                </a:solidFill>
                <a:latin typeface="Microsoft YaHei"/>
              </a:rPr>
              <a:t>日常使用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61772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33933"/>
                </a:solidFill>
                <a:latin typeface="Microsoft YaHei"/>
              </a:rPr>
              <a:t>滨江停留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230368"/>
            <a:ext cx="10241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5F6F67"/>
                </a:solidFill>
                <a:latin typeface="Microsoft YaHei"/>
              </a:rPr>
              <a:t>空间逻辑：入口理解场所 → 主步道体验 → 餐饮与观江形成目的地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03  GROUND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一层：文化进入、日常活力与绿化停留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17320"/>
            <a:ext cx="3063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246888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33933"/>
                </a:solidFill>
                <a:latin typeface="Microsoft YaHei"/>
              </a:rPr>
              <a:t>一层的空间角色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240280"/>
            <a:ext cx="245059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西侧展览与活动教室承担文化导入。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788920"/>
            <a:ext cx="245059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中部零售贴近主步道，形成连续经营界面。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337560"/>
            <a:ext cx="245059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东侧餐饮与观江空间成为游线终点。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3886200"/>
            <a:ext cx="2450592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绿化节点把长建筑分割成多个可停留场所。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4645152"/>
            <a:ext cx="2487168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4873752"/>
            <a:ext cx="1371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A06737"/>
                </a:solidFill>
                <a:latin typeface="Microsoft YaHei"/>
              </a:rPr>
              <a:t>深化重点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24688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F6F67"/>
                </a:solidFill>
                <a:latin typeface="Microsoft YaHei"/>
              </a:rPr>
              <a:t>区分穿行绿化、停留绿化和生态绿化；补充展陈、座椅、遮荫与后勤路径。</a:t>
            </a:r>
          </a:p>
        </p:txBody>
      </p:sp>
      <p:pic>
        <p:nvPicPr>
          <p:cNvPr id="20" name="Picture 19" descr="干煤棚开放公共空间_初步一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17320"/>
            <a:ext cx="7543800" cy="4526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96512" y="601675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5F6F67"/>
                </a:solidFill>
                <a:latin typeface="Microsoft YaHei"/>
              </a:rPr>
              <a:t>前期一草用于说明功能骨架；最终尺寸与柱网需回到 CAD 校核。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04  SECOND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二层：局部插入、通高空间与公共节点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evel2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1328"/>
            <a:ext cx="731520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81328"/>
            <a:ext cx="32461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783080"/>
            <a:ext cx="2651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33933"/>
                </a:solidFill>
                <a:latin typeface="Microsoft YaHei"/>
              </a:rPr>
              <a:t>二层不是满层覆盖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33172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3376" y="2331720"/>
            <a:ext cx="25603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局部平台主要布置在商业与餐饮上方。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88036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3376" y="2880360"/>
            <a:ext cx="25603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西侧和部分中部保持通高，保留原屋架尺度。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52044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3376" y="3520440"/>
            <a:ext cx="25603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二层需要有明确的公共目的地，避免成为附属平台。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16052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4160520"/>
            <a:ext cx="25603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楼梯、电梯、栏杆与空井边界要一体化设计。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09160"/>
            <a:ext cx="7315200" cy="105156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95604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3A467"/>
                </a:solidFill>
                <a:latin typeface="Microsoft YaHei"/>
              </a:rPr>
              <a:t>空间事件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10328"/>
            <a:ext cx="58064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233933"/>
                </a:solidFill>
                <a:latin typeface="Microsoft YaHei"/>
              </a:rPr>
              <a:t>树木通过局部空井连接一、二层，让绿化从平面符号转化为垂直空间结构。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05  CIRCULATION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游客、服务与疏散：下一步要真正分开表达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417320"/>
            <a:ext cx="6492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73352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33933"/>
                </a:solidFill>
                <a:latin typeface="Microsoft YaHei"/>
              </a:rPr>
              <a:t>建议流线框架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331720"/>
            <a:ext cx="5943600" cy="64008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542032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233933"/>
                </a:solidFill>
                <a:latin typeface="Microsoft YaHei"/>
              </a:rPr>
              <a:t>连续公共步道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057400"/>
            <a:ext cx="0" cy="1188720"/>
          </a:xfrm>
          <a:prstGeom prst="line">
            <a:avLst/>
          </a:prstGeom>
          <a:ln w="2286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18470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A06737"/>
                </a:solidFill>
                <a:latin typeface="Microsoft YaHei"/>
              </a:rPr>
              <a:t>入口/联系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2057400"/>
            <a:ext cx="0" cy="1188720"/>
          </a:xfrm>
          <a:prstGeom prst="line">
            <a:avLst/>
          </a:prstGeom>
          <a:ln w="2286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68879" y="18470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A06737"/>
                </a:solidFill>
                <a:latin typeface="Microsoft YaHei"/>
              </a:rPr>
              <a:t>入口/联系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057400"/>
            <a:ext cx="0" cy="1188720"/>
          </a:xfrm>
          <a:prstGeom prst="line">
            <a:avLst/>
          </a:prstGeom>
          <a:ln w="2286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69080" y="18470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A06737"/>
                </a:solidFill>
                <a:latin typeface="Microsoft YaHei"/>
              </a:rPr>
              <a:t>入口/联系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057400"/>
            <a:ext cx="0" cy="1188720"/>
          </a:xfrm>
          <a:prstGeom prst="line">
            <a:avLst/>
          </a:prstGeom>
          <a:ln w="2286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0" y="1847088"/>
            <a:ext cx="8229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A06737"/>
                </a:solidFill>
                <a:latin typeface="Microsoft YaHei"/>
              </a:rPr>
              <a:t>入口/联系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17320" y="3584448"/>
            <a:ext cx="4709160" cy="0"/>
          </a:xfrm>
          <a:prstGeom prst="line">
            <a:avLst/>
          </a:prstGeom>
          <a:ln w="25400">
            <a:solidFill>
              <a:srgbClr val="7BA6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06040" y="3401568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7BA6BE"/>
                </a:solidFill>
                <a:latin typeface="Microsoft YaHei"/>
              </a:rPr>
              <a:t>滨江侧可回游路径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4279392"/>
            <a:ext cx="4709160" cy="0"/>
          </a:xfrm>
          <a:prstGeom prst="line">
            <a:avLst/>
          </a:prstGeom>
          <a:ln w="25400">
            <a:solidFill>
              <a:srgbClr val="A06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65960" y="4096512"/>
            <a:ext cx="3474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A06737"/>
                </a:solidFill>
                <a:latin typeface="Microsoft YaHei"/>
              </a:rPr>
              <a:t>厂区侧服务 / 布展 / 垃圾清运路径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17320" y="4983480"/>
            <a:ext cx="4709160" cy="0"/>
          </a:xfrm>
          <a:prstGeom prst="line">
            <a:avLst/>
          </a:prstGeom>
          <a:ln w="25400">
            <a:solidFill>
              <a:srgbClr val="233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920240" y="4800600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33933"/>
                </a:solidFill>
                <a:latin typeface="Microsoft YaHei"/>
              </a:rPr>
              <a:t>疏散与无障碍：分散出口 + 电梯 + 清晰缓冲区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1417320"/>
            <a:ext cx="4023360" cy="448056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73736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33933"/>
                </a:solidFill>
                <a:latin typeface="Microsoft YaHei"/>
              </a:rPr>
              <a:t>当前判断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33172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2331720"/>
            <a:ext cx="32461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主游线叙事完整：展览 → 零售 → 餐饮/观江。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297180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2971800"/>
            <a:ext cx="32461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两端入口和横向开口有利于分散人流。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361188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1856" y="3611880"/>
            <a:ext cx="32461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需要补一条明确回游线，避免东端原路返回。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25196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4251960"/>
            <a:ext cx="324612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服务流线必须与游客流线错开。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06  STRUCTURE &amp; 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保留结构，插入平台，让空井成为空间核心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7_树木贯穿两层局部空井效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17320"/>
            <a:ext cx="548640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417320"/>
            <a:ext cx="50749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737360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233933"/>
                </a:solidFill>
                <a:latin typeface="Microsoft YaHei"/>
              </a:rPr>
              <a:t>结构表达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28600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8" y="2286000"/>
            <a:ext cx="420624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原柱、桁架和大屋盖继续承担场所识别。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288036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2880360"/>
            <a:ext cx="420624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新二层平台建议采用独立支撑，避免未经复核的新增荷载传给原屋架。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657600"/>
            <a:ext cx="14630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3657600"/>
            <a:ext cx="420624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233933"/>
                </a:solidFill>
                <a:latin typeface="Microsoft YaHei"/>
              </a:rPr>
              <a:t>空井边界应同时解决楼板开口、树池排水、栏杆、防坠落和维护。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48272" y="4572000"/>
            <a:ext cx="4361688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48272" y="4846320"/>
            <a:ext cx="42519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A06737"/>
                </a:solidFill>
                <a:latin typeface="Microsoft YaHei"/>
              </a:rPr>
              <a:t>树木贯穿空井是方案最有辨识度的空间事件，但必须从效果图深化为节点系统。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07  ECOLOGY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生态策略：从概念口号变成可验证的空间性能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06_柱网与屋面控制_平视鸟瞰效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44752"/>
            <a:ext cx="598932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029200"/>
            <a:ext cx="56235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5F6F67"/>
                </a:solidFill>
                <a:latin typeface="Microsoft YaHei"/>
              </a:rPr>
              <a:t>原有大屋盖提供遮荫、雨水汇集和工业记忆；外围绿化把建筑连接到滨江公共空间。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554480"/>
            <a:ext cx="4526280" cy="109728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1764792"/>
            <a:ext cx="4389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3A467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19072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33933"/>
                </a:solidFill>
                <a:latin typeface="Microsoft YaHei"/>
              </a:rPr>
              <a:t>光照与种植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048256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根据屋盖阴影和空井日照确定植物位置，避免只按面积堆绿化。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71800"/>
            <a:ext cx="4526280" cy="109728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3182112"/>
            <a:ext cx="4389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BA6BE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36392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33933"/>
                </a:solidFill>
                <a:latin typeface="Microsoft YaHei"/>
              </a:rPr>
              <a:t>气流与步道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465576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用横向开口和通高空间形成可感知的通风路径，同时保证停留舒适。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389120"/>
            <a:ext cx="4526280" cy="109728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599432"/>
            <a:ext cx="43891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A06737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553712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33933"/>
                </a:solidFill>
                <a:latin typeface="Microsoft YaHei"/>
              </a:rPr>
              <a:t>雨水与维护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882896"/>
            <a:ext cx="3246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明确屋面收集、溢流、树池排水、灌溉与更换路径，保证长期运营。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08  DESIGN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当前方案最需要补强的六个问题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508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109728" cy="1600200"/>
          </a:xfrm>
          <a:prstGeom prst="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A06737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3933"/>
                </a:solidFill>
                <a:latin typeface="Microsoft YaHei"/>
              </a:rPr>
              <a:t>尺寸校核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688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216m、36m、9m 柱距与标高仍是概念值，需统一回 CAD。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508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1508760"/>
            <a:ext cx="109728" cy="1600200"/>
          </a:xfrm>
          <a:prstGeom prst="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737360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A06737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075688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3933"/>
                </a:solidFill>
                <a:latin typeface="Microsoft YaHei"/>
              </a:rPr>
              <a:t>消防无障碍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4688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楼梯、电梯、疏散距离、通高空间和空井防护尚未闭合。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0183" y="15087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0183" y="1508760"/>
            <a:ext cx="109728" cy="1600200"/>
          </a:xfrm>
          <a:prstGeom prst="rect">
            <a:avLst/>
          </a:prstGeom>
          <a:solidFill>
            <a:srgbClr val="A06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04504" y="1737360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A06737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2075688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3933"/>
                </a:solidFill>
                <a:latin typeface="Microsoft YaHei"/>
              </a:rPr>
              <a:t>步道使用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4504" y="24688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8m 步道需要座椅、展陈、遮荫、照明和雨天使用方式。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5661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566160"/>
            <a:ext cx="109728" cy="1600200"/>
          </a:xfrm>
          <a:prstGeom prst="rect">
            <a:avLst/>
          </a:prstGeom>
          <a:solidFill>
            <a:srgbClr val="73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3A467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33087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3933"/>
                </a:solidFill>
                <a:latin typeface="Microsoft YaHei"/>
              </a:rPr>
              <a:t>服务分流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5262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厨房、补货、垃圾、设备检修和布展需与游客流线分开。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07992" y="35661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07992" y="3566160"/>
            <a:ext cx="109728" cy="1600200"/>
          </a:xfrm>
          <a:prstGeom prst="rect">
            <a:avLst/>
          </a:prstGeom>
          <a:solidFill>
            <a:srgbClr val="73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82312" y="3794760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3A467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4133087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3933"/>
                </a:solidFill>
                <a:latin typeface="Microsoft YaHei"/>
              </a:rPr>
              <a:t>二层目的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5262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增加阅读、休憩、小展陈或观景节点，形成上楼理由。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0183" y="35661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30183" y="3566160"/>
            <a:ext cx="109728" cy="1600200"/>
          </a:xfrm>
          <a:prstGeom prst="rect">
            <a:avLst/>
          </a:prstGeom>
          <a:solidFill>
            <a:srgbClr val="73A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4504" y="3794760"/>
            <a:ext cx="43891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3A467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4504" y="4133087"/>
            <a:ext cx="26517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233933"/>
                </a:solidFill>
                <a:latin typeface="Microsoft YaHei"/>
              </a:rPr>
              <a:t>绿化维护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04504" y="4526280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F6F67"/>
                </a:solidFill>
                <a:latin typeface="Microsoft YaHei"/>
              </a:rPr>
              <a:t>区分穿行、停留、生态三类绿化，并落实排水、灌溉和维护。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669280"/>
            <a:ext cx="10881360" cy="384048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69864"/>
            <a:ext cx="10424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这些问题不要求推翻现有概念，重点是把现有空间逻辑转化为可核实、可运营、可建造的设计。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7548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5F6F67"/>
                </a:solidFill>
                <a:latin typeface="Microsoft YaHei"/>
              </a:rPr>
              <a:t>09 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233933"/>
                </a:solidFill>
                <a:latin typeface="Microsoft YaHei"/>
              </a:rPr>
              <a:t>下一版图纸的深化顺序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0" i="0">
                <a:solidFill>
                  <a:srgbClr val="5F6F67"/>
                </a:solidFill>
                <a:latin typeface="Microsoft YaHei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89304" y="2240280"/>
            <a:ext cx="1527048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58952" y="1874519"/>
            <a:ext cx="1078992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84831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78892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33933"/>
                </a:solidFill>
                <a:latin typeface="Microsoft YaHei"/>
              </a:rPr>
              <a:t>基础校核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246120"/>
            <a:ext cx="2103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导入 CAD 实际柱网、屋架边界、建筑尺寸和统一标高。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47872" y="2240280"/>
            <a:ext cx="1527048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17520" y="1874519"/>
            <a:ext cx="1078992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084831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8892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33933"/>
                </a:solidFill>
                <a:latin typeface="Microsoft YaHei"/>
              </a:rPr>
              <a:t>流线分层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246120"/>
            <a:ext cx="2103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分别绘制游客、服务、疏散、无障碍四类流线。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40" y="2240280"/>
            <a:ext cx="1527048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76088" y="1874519"/>
            <a:ext cx="1078992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6088" y="2084831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278892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33933"/>
                </a:solidFill>
                <a:latin typeface="Microsoft YaHei"/>
              </a:rPr>
              <a:t>公共节点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3246120"/>
            <a:ext cx="2103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补充入口、步道停留、横向开口、滨江平台和二层节点。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65008" y="2240280"/>
            <a:ext cx="1527048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34656" y="1874519"/>
            <a:ext cx="1078992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2084831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278892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33933"/>
                </a:solidFill>
                <a:latin typeface="Microsoft YaHei"/>
              </a:rPr>
              <a:t>空井与结构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3246120"/>
            <a:ext cx="2103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明确树池、楼板开口、栏杆、独立支撑、排水与维护。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323576" y="2240280"/>
            <a:ext cx="1527048" cy="0"/>
          </a:xfrm>
          <a:prstGeom prst="line">
            <a:avLst/>
          </a:prstGeom>
          <a:ln w="254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793224" y="1874519"/>
            <a:ext cx="1078992" cy="713232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93224" y="2084831"/>
            <a:ext cx="107899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2788920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233933"/>
                </a:solidFill>
                <a:latin typeface="Microsoft YaHei"/>
              </a:rPr>
              <a:t>生态验证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6064" y="3246120"/>
            <a:ext cx="2103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5F6F67"/>
                </a:solidFill>
                <a:latin typeface="Microsoft YaHei"/>
              </a:rPr>
              <a:t>用日照、风环境、雨水和植物维护分析支撑策略。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" y="4892040"/>
            <a:ext cx="10058400" cy="86868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3312" y="5129784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73A467"/>
                </a:solidFill>
                <a:latin typeface="Microsoft YaHei"/>
              </a:rPr>
              <a:t>综合判断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074920"/>
            <a:ext cx="8138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233933"/>
                </a:solidFill>
                <a:latin typeface="Microsoft YaHei"/>
              </a:rPr>
              <a:t>方案已经具备较强的公共性与空间叙事，下一步应优先深化“尺寸—流线—结构—生态”四条证据链。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94360" y="6583680"/>
            <a:ext cx="9875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F6F67"/>
                </a:solidFill>
                <a:latin typeface="Microsoft YaHei"/>
              </a:rPr>
              <a:t>概念阶段｜依据示意平面与前期设计分析，尺寸及技术条件需以 CAD 与专项校核为准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 i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10  SELECTED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概念一：廊下花园 · The Garden Promenade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33933"/>
                </a:solidFill>
                <a:latin typeface="Microsoft YaHei"/>
              </a:rPr>
              <a:t>将煤棚理解为一条被大屋盖保护的滨江公共花园。原有柱网和屋架形成“廊”，一层植物、休憩与步道形成“花园”，功能单元像岛屿一样嵌入其中。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6583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606040"/>
            <a:ext cx="6035040" cy="713232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834640"/>
            <a:ext cx="33832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233933"/>
                </a:solidFill>
                <a:latin typeface="Microsoft YaHei"/>
              </a:rPr>
              <a:t>连续公共步道 / 廊下花园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2331720"/>
            <a:ext cx="685800" cy="128016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660904"/>
            <a:ext cx="6858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33933"/>
                </a:solidFill>
                <a:latin typeface="Microsoft YaHei"/>
              </a:rPr>
              <a:t>功能
岛屿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331720"/>
            <a:ext cx="685800" cy="128016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660904"/>
            <a:ext cx="6858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33933"/>
                </a:solidFill>
                <a:latin typeface="Microsoft YaHei"/>
              </a:rPr>
              <a:t>功能
岛屿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331720"/>
            <a:ext cx="685800" cy="128016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660904"/>
            <a:ext cx="6858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33933"/>
                </a:solidFill>
                <a:latin typeface="Microsoft YaHei"/>
              </a:rPr>
              <a:t>功能
岛屿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331720"/>
            <a:ext cx="685800" cy="128016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660904"/>
            <a:ext cx="6858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33933"/>
                </a:solidFill>
                <a:latin typeface="Microsoft YaHei"/>
              </a:rPr>
              <a:t>功能
岛屿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331720"/>
            <a:ext cx="685800" cy="1280160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660904"/>
            <a:ext cx="68580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33933"/>
                </a:solidFill>
                <a:latin typeface="Microsoft YaHei"/>
              </a:rPr>
              <a:t>功能
岛屿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80160" y="3611880"/>
            <a:ext cx="475488" cy="32004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3675887"/>
            <a:ext cx="475488" cy="1371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73A467"/>
                </a:solidFill>
                <a:latin typeface="Microsoft YaHei"/>
              </a:rPr>
              <a:t>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611880"/>
            <a:ext cx="475488" cy="32004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675887"/>
            <a:ext cx="475488" cy="1371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73A467"/>
                </a:solidFill>
                <a:latin typeface="Microsoft YaHei"/>
              </a:rPr>
              <a:t>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611880"/>
            <a:ext cx="475488" cy="32004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3675887"/>
            <a:ext cx="475488" cy="1371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73A467"/>
                </a:solidFill>
                <a:latin typeface="Microsoft YaHei"/>
              </a:rPr>
              <a:t>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3611880"/>
            <a:ext cx="475488" cy="32004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3675887"/>
            <a:ext cx="475488" cy="1371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73A467"/>
                </a:solidFill>
                <a:latin typeface="Microsoft YaHei"/>
              </a:rPr>
              <a:t>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096512"/>
            <a:ext cx="594360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F6F67"/>
                </a:solidFill>
                <a:latin typeface="Microsoft YaHei"/>
              </a:rPr>
              <a:t>屋架与柱网 / 工业尺度背景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148840"/>
            <a:ext cx="3931920" cy="356616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2487168"/>
            <a:ext cx="29260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选择这个方向的理由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06324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3063240"/>
            <a:ext cx="310896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最符合开放公共空间与高绿化率目标。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657600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3657600"/>
            <a:ext cx="310896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与现有一层绿化、连续步道、二层平台和树木空井关系最一致。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407408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59" y="4407408"/>
            <a:ext cx="310896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33933"/>
                </a:solidFill>
                <a:latin typeface="Microsoft YaHei"/>
              </a:rPr>
              <a:t>有利于体现风景园林与建筑协同的设计特点。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583680"/>
            <a:ext cx="99669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廊下花园概念｜概念指标与造价需经 CAD、结构、消防和设备校核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11  FINAL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平面最终设计：保留布局，强化图面与设计要点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干煤棚廊下花园_平面最终设计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10927080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245352"/>
            <a:ext cx="10424160" cy="20116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5F6F67"/>
                </a:solidFill>
                <a:latin typeface="Microsoft YaHei"/>
              </a:rPr>
              <a:t>平面布局沿用最新一、二层功能关系：西侧展览/活动，中部零售，东侧餐饮/观江；通过连续公共步道、横向开放联系和空井绿化统一组织。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4360" y="6583680"/>
            <a:ext cx="99669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廊下花园概念｜概念指标与造价需经 CAD、结构、消防和设备校核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12  GROUND FLOOR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一层深化分析：公共骨架、绿化节点与运营界面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ground_pla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720840" cy="2240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3840480"/>
            <a:ext cx="67208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96512"/>
            <a:ext cx="20116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一层空间要点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53712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53712"/>
            <a:ext cx="580644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入口与主题展览形成文化导入，活动教室支持社区使用。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56048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56048"/>
            <a:ext cx="580644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中部零售沿公共步道展开，店铺界面应保留停留与展陈灰空间。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58384"/>
            <a:ext cx="146304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A06737"/>
                </a:solidFill>
                <a:latin typeface="Microsoft YaHe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58384"/>
            <a:ext cx="580644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植物节点分为穿行、停留和生态三类，避免侵占疏散宽度。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417320"/>
            <a:ext cx="3931920" cy="4389120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32004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与二层分析对应的四项校核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331720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331720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31720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展览—零售—餐饮形成清晰的公共序列。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081527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081527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流线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81527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主步道连续，需补充回游和后勤分流。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831335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A06737"/>
                </a:solidFill>
                <a:latin typeface="Microsoft YaHe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3831335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31335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新体量避让原柱网，平台建议独立支撑。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58114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1">
                <a:solidFill>
                  <a:srgbClr val="73A467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581144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33933"/>
                </a:solidFill>
                <a:latin typeface="Microsoft YaHei"/>
              </a:rPr>
              <a:t>生态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581144"/>
            <a:ext cx="201168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大屋盖遮荫下，需以日照和雨水条件决定植物。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94360" y="6583680"/>
            <a:ext cx="99669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廊下花园概念｜概念指标与造价需经 CAD、结构、消防和设备校核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13  AREA &amp;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面积核算与经济技术指标 · 概念估算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58368" y="1417320"/>
            <a:ext cx="6583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C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53035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面积核算（概念包络 216m × 36m）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2560320"/>
            <a:ext cx="5989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176272"/>
            <a:ext cx="2286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首层包络 / 屋盖覆盖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76272"/>
            <a:ext cx="12344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7,776㎡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176272"/>
            <a:ext cx="18288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216×36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063239"/>
            <a:ext cx="5989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2679191"/>
            <a:ext cx="2286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首层功能房间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79191"/>
            <a:ext cx="12344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4,032㎡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79191"/>
            <a:ext cx="18288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概念分区汇总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3566159"/>
            <a:ext cx="5989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3182111"/>
            <a:ext cx="2286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首层公共开放/绿化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82111"/>
            <a:ext cx="12344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3,744㎡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182111"/>
            <a:ext cx="18288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48.1% of footprint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4069079"/>
            <a:ext cx="5989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3685031"/>
            <a:ext cx="2286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二层局部平台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685031"/>
            <a:ext cx="12344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1,188㎡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685031"/>
            <a:ext cx="18288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15.3% of footprint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" y="4571999"/>
            <a:ext cx="5989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4187951"/>
            <a:ext cx="2286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全屋盖下楼板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187951"/>
            <a:ext cx="12344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8,964㎡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187951"/>
            <a:ext cx="18288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首层 + 局部二层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14400" y="5074919"/>
            <a:ext cx="5989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4400" y="4690871"/>
            <a:ext cx="2286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新增功能建筑面积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690871"/>
            <a:ext cx="12344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5,220㎡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4690871"/>
            <a:ext cx="18288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67.1% of footprint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4400" y="5577839"/>
            <a:ext cx="5989320" cy="0"/>
          </a:xfrm>
          <a:prstGeom prst="line">
            <a:avLst/>
          </a:prstGeom>
          <a:ln w="889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193791"/>
            <a:ext cx="22860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绿化/渗透目标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5193791"/>
            <a:ext cx="123444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300" b="1">
                <a:solidFill>
                  <a:srgbClr val="A06737"/>
                </a:solidFill>
                <a:latin typeface="Microsoft YaHei"/>
              </a:rPr>
              <a:t>约1,310㎡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193791"/>
            <a:ext cx="18288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首层开放区35%目标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417320"/>
            <a:ext cx="4069080" cy="452628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20" y="1719072"/>
            <a:ext cx="33832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33933"/>
                </a:solidFill>
                <a:latin typeface="Microsoft YaHei"/>
              </a:rPr>
              <a:t>经济性粗估（含10%预备费）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331720"/>
            <a:ext cx="2377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结构、屋面与围护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331720"/>
            <a:ext cx="1234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F6F67"/>
                </a:solidFill>
                <a:latin typeface="Microsoft YaHei"/>
              </a:rPr>
              <a:t>622–1,166万元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2898648"/>
            <a:ext cx="2377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二层平台、楼梯、电梯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2898648"/>
            <a:ext cx="1234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F6F67"/>
                </a:solidFill>
                <a:latin typeface="Microsoft YaHei"/>
              </a:rPr>
              <a:t>356–594万元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3465576"/>
            <a:ext cx="2377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室内、机电、消防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2680" y="3465576"/>
            <a:ext cx="1234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F6F67"/>
                </a:solidFill>
                <a:latin typeface="Microsoft YaHei"/>
              </a:rPr>
              <a:t>1,044–1,827万元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4032504"/>
            <a:ext cx="2377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33933"/>
                </a:solidFill>
                <a:latin typeface="Microsoft YaHei"/>
              </a:rPr>
              <a:t>公共空间与绿化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4032504"/>
            <a:ext cx="1234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F6F67"/>
                </a:solidFill>
                <a:latin typeface="Microsoft YaHei"/>
              </a:rPr>
              <a:t>300–562万元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4599432"/>
            <a:ext cx="2377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33933"/>
                </a:solidFill>
                <a:latin typeface="Microsoft YaHei"/>
              </a:rPr>
              <a:t>概念总额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4599432"/>
            <a:ext cx="1234440" cy="2468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A06737"/>
                </a:solidFill>
                <a:latin typeface="Microsoft YaHei"/>
              </a:rPr>
              <a:t>约2,550–4,560万元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818120" y="5230368"/>
            <a:ext cx="3383280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818120" y="5440680"/>
            <a:ext cx="32461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F6F67"/>
                </a:solidFill>
                <a:latin typeface="Microsoft YaHei"/>
              </a:rPr>
              <a:t>估算不含土地、税费、餐饮大型设备和特殊展陈设备；仅用于方案比选。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4360" y="6583680"/>
            <a:ext cx="99669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廊下花园概念｜概念指标与造价需经 CAD、结构、消防和设备校核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14  ECOLOGICAL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廊下花园的生态策略：空间、植物与环境性能协同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44752"/>
            <a:ext cx="53035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4736592"/>
            <a:ext cx="5303520" cy="123444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010912"/>
            <a:ext cx="12801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3A467"/>
                </a:solidFill>
                <a:latin typeface="Microsoft YaHei"/>
              </a:rPr>
              <a:t>应用到平面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892040"/>
            <a:ext cx="347472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33933"/>
                </a:solidFill>
                <a:latin typeface="Microsoft YaHei"/>
              </a:rPr>
              <a:t>绿化节点沿主步道串联，树木空井将绿化从一层延伸至二层；大屋盖提供遮荫并承担雨水收集潜力。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5120640" cy="896112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91639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01 光照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64207"/>
            <a:ext cx="310896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用日照分析确定空井、横向开口与耐阴植物位置。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51760"/>
            <a:ext cx="5120640" cy="896112"/>
          </a:xfrm>
          <a:prstGeom prst="roundRect">
            <a:avLst/>
          </a:prstGeom>
          <a:solidFill>
            <a:srgbClr val="DCE9F1"/>
          </a:solidFill>
          <a:ln w="12700">
            <a:solidFill>
              <a:srgbClr val="7B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02 通风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807208"/>
            <a:ext cx="310896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利用两处横向开放联系和通高步道形成横向气流。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794760"/>
            <a:ext cx="5120640" cy="896112"/>
          </a:xfrm>
          <a:prstGeom prst="roundRect">
            <a:avLst/>
          </a:prstGeom>
          <a:solidFill>
            <a:srgbClr val="EEDE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97764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03 雨水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950208"/>
            <a:ext cx="310896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屋面汇水、树池排水、溢流与灌溉形成闭合维护链。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120640" cy="896112"/>
          </a:xfrm>
          <a:prstGeom prst="roundRect">
            <a:avLst/>
          </a:prstGeom>
          <a:solidFill>
            <a:srgbClr val="E9E0CC"/>
          </a:solidFill>
          <a:ln w="12700">
            <a:solidFill>
              <a:srgbClr val="A06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120640"/>
            <a:ext cx="14173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04 运营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93208"/>
            <a:ext cx="3108960" cy="38404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F6F67"/>
                </a:solidFill>
                <a:latin typeface="Microsoft YaHei"/>
              </a:rPr>
              <a:t>将植物维护、座椅、照明和夜间安全纳入公共空间设计。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83680"/>
            <a:ext cx="99669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廊下花园概念｜概念指标与造价需经 CAD、结构、消防和设备校核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19456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F67"/>
                </a:solidFill>
                <a:latin typeface="Microsoft YaHei"/>
              </a:rPr>
              <a:t>15  INTEGRATED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85216"/>
            <a:ext cx="1042416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2500" b="1">
                <a:solidFill>
                  <a:srgbClr val="233933"/>
                </a:solidFill>
                <a:latin typeface="Microsoft YaHei"/>
              </a:rPr>
              <a:t>最终设计判断：以廊下花园统合建筑、景观与运营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47472"/>
            <a:ext cx="502920" cy="329184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2000" b="0">
                <a:solidFill>
                  <a:srgbClr val="5F6F67"/>
                </a:solidFill>
                <a:latin typeface="Microsoft YaHei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143000"/>
            <a:ext cx="11000232" cy="0"/>
          </a:xfrm>
          <a:prstGeom prst="line">
            <a:avLst/>
          </a:prstGeom>
          <a:ln w="1270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508760"/>
            <a:ext cx="10789920" cy="914400"/>
          </a:xfrm>
          <a:prstGeom prst="roundRect">
            <a:avLst/>
          </a:prstGeom>
          <a:solidFill>
            <a:srgbClr val="183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1024128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原有屋盖 + 连续公共步道 + 局部二层平台 + 树木空井 + 滨江绿化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3A467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88920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88920"/>
            <a:ext cx="80467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F67"/>
                </a:solidFill>
                <a:latin typeface="Microsoft YaHei"/>
              </a:rPr>
              <a:t>形成从展览进入、经过零售、抵达餐饮观江的连续公共叙事。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47287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3A467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47287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建筑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47287"/>
            <a:ext cx="80467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F67"/>
                </a:solidFill>
                <a:latin typeface="Microsoft YaHei"/>
              </a:rPr>
              <a:t>保留原柱网与屋架，以独立平台和可逆插入减小对遗产结构的干预。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05656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3A467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05656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景观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105656"/>
            <a:ext cx="80467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F67"/>
                </a:solidFill>
                <a:latin typeface="Microsoft YaHei"/>
              </a:rPr>
              <a:t>以廊下花园为主概念，把绿化、休憩、通风、雨水和滨江界面统一。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64024"/>
            <a:ext cx="41148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200" b="1">
                <a:solidFill>
                  <a:srgbClr val="A06737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764024"/>
            <a:ext cx="91440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33933"/>
                </a:solidFill>
                <a:latin typeface="Microsoft YaHei"/>
              </a:rPr>
              <a:t>深化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764024"/>
            <a:ext cx="80467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F67"/>
                </a:solidFill>
                <a:latin typeface="Microsoft YaHei"/>
              </a:rPr>
              <a:t>下一步优先完成 CAD 尺寸、消防无障碍、服务流线和空井节点校核。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5486400"/>
            <a:ext cx="10058400" cy="411480"/>
          </a:xfrm>
          <a:prstGeom prst="roundRect">
            <a:avLst/>
          </a:prstGeom>
          <a:solidFill>
            <a:srgbClr val="DCE9D6"/>
          </a:solidFill>
          <a:ln w="12700">
            <a:solidFill>
              <a:srgbClr val="73A4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5586984"/>
            <a:ext cx="969264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233933"/>
                </a:solidFill>
                <a:latin typeface="Microsoft YaHei"/>
              </a:rPr>
              <a:t>建议保留现有平面布局，下一步把“尺寸—流线—结构—生态”四条证据链补齐。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0160">
            <a:solidFill>
              <a:srgbClr val="BDC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6583680"/>
            <a:ext cx="996696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/>
            <a:r>
              <a:rPr sz="800" b="0">
                <a:solidFill>
                  <a:srgbClr val="5F6F67"/>
                </a:solidFill>
                <a:latin typeface="Microsoft YaHei"/>
              </a:rPr>
              <a:t>廊下花园概念｜概念指标与造价需经 CAD、结构、消防和设备校核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583680"/>
            <a:ext cx="1536192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800" b="0">
                <a:solidFill>
                  <a:srgbClr val="5F6F67"/>
                </a:solidFill>
                <a:latin typeface="Microsoft YaHei"/>
              </a:rPr>
              <a:t>干煤棚更新设计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