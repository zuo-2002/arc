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0"/>
          </a:solidFill>
          <a:ln w="10160">
            <a:solidFill>
              <a:srgbClr val="F7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2743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4C7130"/>
                </a:solidFill>
                <a:latin typeface="Noto Sans CJK SC"/>
              </a:rPr>
              <a:t>01 两案对比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042416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400" b="1">
                <a:solidFill>
                  <a:srgbClr val="2A3530"/>
                </a:solidFill>
                <a:latin typeface="Noto Sans CJK SC"/>
              </a:rPr>
              <a:t>两案都保留工业记忆，但公共化路径不同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100"/>
              </a:spcAft>
            </a:pPr>
            <a:r>
              <a:rPr sz="1700" b="1">
                <a:solidFill>
                  <a:srgbClr val="69844F"/>
                </a:solidFill>
                <a:latin typeface="Noto Sans CJK SC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11155680" cy="914400"/>
          </a:xfrm>
          <a:prstGeom prst="rect">
            <a:avLst/>
          </a:prstGeom>
          <a:solidFill>
            <a:srgbClr val="CDD2C8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5943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687068"/>
                </a:solidFill>
                <a:latin typeface="Noto Sans CJK SC"/>
              </a:rPr>
              <a:t>建筑生态策略｜案例对比、设计翻译与营业时段补全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537960"/>
            <a:ext cx="31089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>
                <a:solidFill>
                  <a:srgbClr val="687068"/>
                </a:solidFill>
                <a:latin typeface="Noto Sans CJK SC"/>
              </a:rPr>
              <a:t>可直接并入个人设计汇报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35024"/>
            <a:ext cx="10698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2A3530"/>
                </a:solidFill>
                <a:latin typeface="Noto Sans CJK SC"/>
              </a:rPr>
              <a:t>比较不是罗列资料，而是回答：什么经验可以直接转译到干煤棚，什么经验需要改写？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1828800" cy="457200"/>
          </a:xfrm>
          <a:prstGeom prst="rect">
            <a:avLst/>
          </a:prstGeom>
          <a:solidFill>
            <a:srgbClr val="2D4D3E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874519"/>
            <a:ext cx="1719072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Noto Sans CJK SC"/>
              </a:rPr>
              <a:t>评价维度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1828800"/>
            <a:ext cx="2971800" cy="457200"/>
          </a:xfrm>
          <a:prstGeom prst="rect">
            <a:avLst/>
          </a:prstGeom>
          <a:solidFill>
            <a:srgbClr val="2D4D3E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23744" y="1874519"/>
            <a:ext cx="2862072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Noto Sans CJK SC"/>
              </a:rPr>
              <a:t>Tonsley 主装配厂房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40680" y="1828800"/>
            <a:ext cx="2971800" cy="457200"/>
          </a:xfrm>
          <a:prstGeom prst="rect">
            <a:avLst/>
          </a:prstGeom>
          <a:solidFill>
            <a:srgbClr val="2D4D3E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95544" y="1874519"/>
            <a:ext cx="2862072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Noto Sans CJK SC"/>
              </a:rPr>
              <a:t>南京压缩机厂社区中心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1828800"/>
            <a:ext cx="2971800" cy="457200"/>
          </a:xfrm>
          <a:prstGeom prst="rect">
            <a:avLst/>
          </a:prstGeom>
          <a:solidFill>
            <a:srgbClr val="2D4D3E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67344" y="1874519"/>
            <a:ext cx="2862072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Noto Sans CJK SC"/>
              </a:rPr>
              <a:t>对干煤棚的启示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286000"/>
            <a:ext cx="1828800" cy="758952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2331720"/>
            <a:ext cx="1719072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2A3530"/>
                </a:solidFill>
                <a:latin typeface="Noto Sans CJK SC"/>
              </a:rPr>
              <a:t>原有骨架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68880" y="2286000"/>
            <a:ext cx="2971800" cy="758952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23744" y="2331720"/>
            <a:ext cx="2862072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19" b="0">
                <a:solidFill>
                  <a:srgbClr val="687068"/>
                </a:solidFill>
                <a:latin typeface="Noto Sans CJK SC"/>
              </a:rPr>
              <a:t>保留大跨度工业屋盖，将其作为统一的“umbrella”。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40680" y="2286000"/>
            <a:ext cx="2971800" cy="758952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95544" y="2331720"/>
            <a:ext cx="2862072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19" b="0">
                <a:solidFill>
                  <a:srgbClr val="687068"/>
                </a:solidFill>
                <a:latin typeface="Noto Sans CJK SC"/>
              </a:rPr>
              <a:t>保护厂房、网架、林荫道路等遗存，新结构与原混凝土结构脱开。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0" y="2286000"/>
            <a:ext cx="2971800" cy="758952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67344" y="2331720"/>
            <a:ext cx="2862072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19" b="0">
                <a:solidFill>
                  <a:srgbClr val="687068"/>
                </a:solidFill>
                <a:latin typeface="Noto Sans CJK SC"/>
              </a:rPr>
              <a:t>把柱、桁架、屋顶作为第一层空间秩序；新增平台采用独立支撑。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044952"/>
            <a:ext cx="1828800" cy="758952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090672"/>
            <a:ext cx="1719072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2A3530"/>
                </a:solidFill>
                <a:latin typeface="Noto Sans CJK SC"/>
              </a:rPr>
              <a:t>空间组织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68880" y="3044952"/>
            <a:ext cx="2971800" cy="758952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23744" y="3090672"/>
            <a:ext cx="2862072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19" b="0">
                <a:solidFill>
                  <a:srgbClr val="687068"/>
                </a:solidFill>
                <a:latin typeface="Noto Sans CJK SC"/>
              </a:rPr>
              <a:t>屋盖下植入 Pods、盒子和共享空间，形成大空间中的小尺度活动。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0680" y="3044952"/>
            <a:ext cx="2971800" cy="758952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95544" y="3090672"/>
            <a:ext cx="2862072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19" b="0">
                <a:solidFill>
                  <a:srgbClr val="687068"/>
                </a:solidFill>
                <a:latin typeface="Noto Sans CJK SC"/>
              </a:rPr>
              <a:t>以“云影”长廊和步行桥串联文化、体育、商业、菜场等复合功能。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0" y="3044952"/>
            <a:ext cx="2971800" cy="758952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67344" y="3090672"/>
            <a:ext cx="2862072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19" b="0">
                <a:solidFill>
                  <a:srgbClr val="687068"/>
                </a:solidFill>
                <a:latin typeface="Noto Sans CJK SC"/>
              </a:rPr>
              <a:t>形成“连续公共步道 + 功能岛 + 局部通高/空井”的长条空间序列。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3803904"/>
            <a:ext cx="1828800" cy="758952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" y="3849624"/>
            <a:ext cx="1719072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2A3530"/>
                </a:solidFill>
                <a:latin typeface="Noto Sans CJK SC"/>
              </a:rPr>
              <a:t>公共性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68880" y="3803904"/>
            <a:ext cx="2971800" cy="758952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23744" y="3849624"/>
            <a:ext cx="2862072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19" b="0">
                <a:solidFill>
                  <a:srgbClr val="687068"/>
                </a:solidFill>
                <a:latin typeface="Noto Sans CJK SC"/>
              </a:rPr>
              <a:t>工业园不再只是企业园区，内部空间承担展览、教育、活动和日常休闲。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40680" y="3803904"/>
            <a:ext cx="2971800" cy="758952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95544" y="3849624"/>
            <a:ext cx="2862072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19" b="0">
                <a:solidFill>
                  <a:srgbClr val="687068"/>
                </a:solidFill>
                <a:latin typeface="Noto Sans CJK SC"/>
              </a:rPr>
              <a:t>以社区中心补足城市公共服务，强调开放、公益、多元、复合。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12480" y="3803904"/>
            <a:ext cx="2971800" cy="758952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67344" y="3849624"/>
            <a:ext cx="2862072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19" b="0">
                <a:solidFill>
                  <a:srgbClr val="687068"/>
                </a:solidFill>
                <a:latin typeface="Noto Sans CJK SC"/>
              </a:rPr>
              <a:t>明确免费公共步道、下沉广场和滨江观景为全天候公共骨架。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4562856"/>
            <a:ext cx="1828800" cy="758952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4944" y="4608576"/>
            <a:ext cx="1719072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2A3530"/>
                </a:solidFill>
                <a:latin typeface="Noto Sans CJK SC"/>
              </a:rPr>
              <a:t>生态策略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68880" y="4562856"/>
            <a:ext cx="2971800" cy="758952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23744" y="4608576"/>
            <a:ext cx="2862072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19" b="0">
                <a:solidFill>
                  <a:srgbClr val="687068"/>
                </a:solidFill>
                <a:latin typeface="Noto Sans CJK SC"/>
              </a:rPr>
              <a:t>城市森林、屋面光伏、通风与热环境分析共同工作。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40680" y="4562856"/>
            <a:ext cx="2971800" cy="758952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95544" y="4608576"/>
            <a:ext cx="2862072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19" b="0">
                <a:solidFill>
                  <a:srgbClr val="687068"/>
                </a:solidFill>
                <a:latin typeface="Noto Sans CJK SC"/>
              </a:rPr>
              <a:t>保留树木、利用下沉广场和天窗/网架形成生态节点。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12480" y="4562856"/>
            <a:ext cx="2971800" cy="758952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67344" y="4608576"/>
            <a:ext cx="2862072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19" b="0">
                <a:solidFill>
                  <a:srgbClr val="687068"/>
                </a:solidFill>
                <a:latin typeface="Noto Sans CJK SC"/>
              </a:rPr>
              <a:t>用树池、雨水花园、屋面汇水、横向开口和空井形成可验证生态链。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" y="5321808"/>
            <a:ext cx="1828800" cy="758952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4944" y="5367528"/>
            <a:ext cx="1719072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2A3530"/>
                </a:solidFill>
                <a:latin typeface="Noto Sans CJK SC"/>
              </a:rPr>
              <a:t>更新逻辑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468880" y="5321808"/>
            <a:ext cx="2971800" cy="758952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523744" y="5367528"/>
            <a:ext cx="2862072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19" b="0">
                <a:solidFill>
                  <a:srgbClr val="687068"/>
                </a:solidFill>
                <a:latin typeface="Noto Sans CJK SC"/>
              </a:rPr>
              <a:t>“重结构 + 轻插入”，强调适应性和运营弹性。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0680" y="5321808"/>
            <a:ext cx="2971800" cy="758952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95544" y="5367528"/>
            <a:ext cx="2862072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19" b="0">
                <a:solidFill>
                  <a:srgbClr val="687068"/>
                </a:solidFill>
                <a:latin typeface="Noto Sans CJK SC"/>
              </a:rPr>
              <a:t>新旧分离、可逆介入，并让遗存继续承担场所记忆。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12480" y="5321808"/>
            <a:ext cx="2971800" cy="758952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67344" y="5367528"/>
            <a:ext cx="2862072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19" b="0">
                <a:solidFill>
                  <a:srgbClr val="687068"/>
                </a:solidFill>
                <a:latin typeface="Noto Sans CJK SC"/>
              </a:rPr>
              <a:t>材料和构件可拆卸；把新增结构、维护和运营一起设计。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0080" y="6153912"/>
            <a:ext cx="10744200" cy="320040"/>
          </a:xfrm>
          <a:prstGeom prst="roundRect">
            <a:avLst/>
          </a:prstGeom>
          <a:solidFill>
            <a:srgbClr val="F7EADE"/>
          </a:solidFill>
          <a:ln w="10160">
            <a:solidFill>
              <a:srgbClr val="AE6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2960" y="6227064"/>
            <a:ext cx="1037844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2A3530"/>
                </a:solidFill>
                <a:latin typeface="Noto Sans CJK SC"/>
              </a:rPr>
              <a:t>核心判断：Tonsley 提供“大屋盖下的复合运营”模型；南京案例提供“新旧分离、公共串联与生态节点”模型。你的方案应把两者叠合，而不是只模仿形式。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0"/>
          </a:solidFill>
          <a:ln w="10160">
            <a:solidFill>
              <a:srgbClr val="F7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2743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4C7130"/>
                </a:solidFill>
                <a:latin typeface="Noto Sans CJK SC"/>
              </a:rPr>
              <a:t>02 翻译矩阵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042416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400" b="1">
                <a:solidFill>
                  <a:srgbClr val="2A3530"/>
                </a:solidFill>
                <a:latin typeface="Noto Sans CJK SC"/>
              </a:rPr>
              <a:t>从案例证据到干煤棚设计动作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100"/>
              </a:spcAft>
            </a:pPr>
            <a:r>
              <a:rPr sz="1700" b="1">
                <a:solidFill>
                  <a:srgbClr val="69844F"/>
                </a:solidFill>
                <a:latin typeface="Noto Sans CJK SC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11155680" cy="914400"/>
          </a:xfrm>
          <a:prstGeom prst="rect">
            <a:avLst/>
          </a:prstGeom>
          <a:solidFill>
            <a:srgbClr val="CDD2C8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5943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687068"/>
                </a:solidFill>
                <a:latin typeface="Noto Sans CJK SC"/>
              </a:rPr>
              <a:t>建筑生态策略｜案例对比、设计翻译与营业时段补全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537960"/>
            <a:ext cx="31089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>
                <a:solidFill>
                  <a:srgbClr val="687068"/>
                </a:solidFill>
                <a:latin typeface="Noto Sans CJK SC"/>
              </a:rPr>
              <a:t>可直接并入个人设计汇报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2A3530"/>
                </a:solidFill>
                <a:latin typeface="Noto Sans CJK SC"/>
              </a:rPr>
              <a:t>每一条借鉴都要落到四个位置：设计动作、图纸表达、性能/运营验证。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2148840" cy="438912"/>
          </a:xfrm>
          <a:prstGeom prst="rect">
            <a:avLst/>
          </a:prstGeom>
          <a:solidFill>
            <a:srgbClr val="2D4D3E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828800"/>
            <a:ext cx="203911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Noto Sans CJK SC"/>
              </a:rPr>
              <a:t>案例证据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8920" y="1783080"/>
            <a:ext cx="2743200" cy="438912"/>
          </a:xfrm>
          <a:prstGeom prst="rect">
            <a:avLst/>
          </a:prstGeom>
          <a:solidFill>
            <a:srgbClr val="2D4D3E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43784" y="1828800"/>
            <a:ext cx="263347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Noto Sans CJK SC"/>
              </a:rPr>
              <a:t>干煤棚设计翻译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32120" y="1783080"/>
            <a:ext cx="2971800" cy="438912"/>
          </a:xfrm>
          <a:prstGeom prst="rect">
            <a:avLst/>
          </a:prstGeom>
          <a:solidFill>
            <a:srgbClr val="2D4D3E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6983" y="1828800"/>
            <a:ext cx="286207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Noto Sans CJK SC"/>
              </a:rPr>
              <a:t>需要补的图纸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783080"/>
            <a:ext cx="2880360" cy="438912"/>
          </a:xfrm>
          <a:prstGeom prst="rect">
            <a:avLst/>
          </a:prstGeom>
          <a:solidFill>
            <a:srgbClr val="2D4D3E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58784" y="1828800"/>
            <a:ext cx="277063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Noto Sans CJK SC"/>
              </a:rPr>
              <a:t>验证 / 运营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221991"/>
            <a:ext cx="2148840" cy="804672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2267711"/>
            <a:ext cx="2039112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19" b="1">
                <a:solidFill>
                  <a:srgbClr val="2A3530"/>
                </a:solidFill>
                <a:latin typeface="Noto Sans CJK SC"/>
              </a:rPr>
              <a:t>大屋盖作为 umbrella；原结构负责识别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221991"/>
            <a:ext cx="2743200" cy="804672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43784" y="2267711"/>
            <a:ext cx="2633472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687068"/>
                </a:solidFill>
                <a:latin typeface="Noto Sans CJK SC"/>
              </a:rPr>
              <a:t>保留216m长煤棚的柱、桁架、棚顶；新功能岛退让原柱网。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32120" y="2221991"/>
            <a:ext cx="2971800" cy="804672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86983" y="2267711"/>
            <a:ext cx="2862072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687068"/>
                </a:solidFill>
                <a:latin typeface="Noto Sans CJK SC"/>
              </a:rPr>
              <a:t>总图原有/新增图例；A-A、B-B剖面；结构分离示意。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03920" y="2221991"/>
            <a:ext cx="2880360" cy="804672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58784" y="2267711"/>
            <a:ext cx="2770632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687068"/>
                </a:solidFill>
                <a:latin typeface="Noto Sans CJK SC"/>
              </a:rPr>
              <a:t>原柱与新平台荷载路径；维护可达；结构鉴定。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026663"/>
            <a:ext cx="214884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072383"/>
            <a:ext cx="2039112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19" b="1">
                <a:solidFill>
                  <a:srgbClr val="2A3530"/>
                </a:solidFill>
                <a:latin typeface="Noto Sans CJK SC"/>
              </a:rPr>
              <a:t>Pods、盒子与共享空间并置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88920" y="3026663"/>
            <a:ext cx="274320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43784" y="3072383"/>
            <a:ext cx="2633472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687068"/>
                </a:solidFill>
                <a:latin typeface="Noto Sans CJK SC"/>
              </a:rPr>
              <a:t>一层展览/活动、零售、餐饮为功能岛；中间连续公共步道保持开放。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32120" y="3026663"/>
            <a:ext cx="297180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86983" y="3072383"/>
            <a:ext cx="2862072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687068"/>
                </a:solidFill>
                <a:latin typeface="Noto Sans CJK SC"/>
              </a:rPr>
              <a:t>一层平面功能色块；公共步道宽度；运营分区图。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03920" y="3026663"/>
            <a:ext cx="288036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58784" y="3072383"/>
            <a:ext cx="2770632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687068"/>
                </a:solidFill>
                <a:latin typeface="Noto Sans CJK SC"/>
              </a:rPr>
              <a:t>活动布置可变；营业时段错峰；夜间关闭边界。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3831335"/>
            <a:ext cx="2148840" cy="804672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" y="3877055"/>
            <a:ext cx="2039112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19" b="1">
                <a:solidFill>
                  <a:srgbClr val="2A3530"/>
                </a:solidFill>
                <a:latin typeface="Noto Sans CJK SC"/>
              </a:rPr>
              <a:t>云影长廊/步行桥串联复合功能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88920" y="3831335"/>
            <a:ext cx="2743200" cy="804672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43784" y="3877055"/>
            <a:ext cx="2633472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687068"/>
                </a:solidFill>
                <a:latin typeface="Noto Sans CJK SC"/>
              </a:rPr>
              <a:t>用8m概念主步道串联文化段—日常段—滨江段，横向开放联系6m。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32120" y="3831335"/>
            <a:ext cx="2971800" cy="804672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86983" y="3877055"/>
            <a:ext cx="2862072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687068"/>
                </a:solidFill>
                <a:latin typeface="Noto Sans CJK SC"/>
              </a:rPr>
              <a:t>动线箭头；入口/后勤/消防分流；节点放大图。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03920" y="3831335"/>
            <a:ext cx="2880360" cy="804672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58784" y="3877055"/>
            <a:ext cx="2770632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687068"/>
                </a:solidFill>
                <a:latin typeface="Noto Sans CJK SC"/>
              </a:rPr>
              <a:t>人流计数；高峰疏散；服务配送不穿越公共主线。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4636008"/>
            <a:ext cx="214884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4944" y="4681728"/>
            <a:ext cx="2039112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19" b="1">
                <a:solidFill>
                  <a:srgbClr val="2A3530"/>
                </a:solidFill>
                <a:latin typeface="Noto Sans CJK SC"/>
              </a:rPr>
              <a:t>城市森林、保留树木与下沉广场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88920" y="4636008"/>
            <a:ext cx="274320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43784" y="4681728"/>
            <a:ext cx="2633472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687068"/>
                </a:solidFill>
                <a:latin typeface="Noto Sans CJK SC"/>
              </a:rPr>
              <a:t>下沉广场 + 树池 + 雨水花园；局部树木由一层空井延伸至二层。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32120" y="4636008"/>
            <a:ext cx="297180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86983" y="4681728"/>
            <a:ext cx="2862072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687068"/>
                </a:solidFill>
                <a:latin typeface="Noto Sans CJK SC"/>
              </a:rPr>
              <a:t>生态平面；树池/空井剖面；雨水路径示意。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03920" y="4636008"/>
            <a:ext cx="288036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58784" y="4681728"/>
            <a:ext cx="2770632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687068"/>
                </a:solidFill>
                <a:latin typeface="Noto Sans CJK SC"/>
              </a:rPr>
              <a:t>日照、风环境、根区土层、雨水容量、维护频次。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" y="5440679"/>
            <a:ext cx="2148840" cy="804672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4944" y="5486399"/>
            <a:ext cx="2039112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19" b="1">
                <a:solidFill>
                  <a:srgbClr val="2A3530"/>
                </a:solidFill>
                <a:latin typeface="Noto Sans CJK SC"/>
              </a:rPr>
              <a:t>新旧分离、可逆介入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88920" y="5440679"/>
            <a:ext cx="2743200" cy="804672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43784" y="5486399"/>
            <a:ext cx="2633472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687068"/>
                </a:solidFill>
                <a:latin typeface="Noto Sans CJK SC"/>
              </a:rPr>
              <a:t>二层平台、楼梯和围护采用轻钢/可拆卸构件，避免给原柱和桁架新增不可逆连接。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32120" y="5440679"/>
            <a:ext cx="2971800" cy="804672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86983" y="5486399"/>
            <a:ext cx="2862072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687068"/>
                </a:solidFill>
                <a:latin typeface="Noto Sans CJK SC"/>
              </a:rPr>
              <a:t>节点剖面；平台支撑与变形缝；构件拆卸顺序。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03920" y="5440679"/>
            <a:ext cx="2880360" cy="804672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58784" y="5486399"/>
            <a:ext cx="2770632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687068"/>
                </a:solidFill>
                <a:latin typeface="Noto Sans CJK SC"/>
              </a:rPr>
              <a:t>结构复核；防火分区；材料耐久与更换周期。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0080" y="6172200"/>
            <a:ext cx="10744200" cy="274320"/>
          </a:xfrm>
          <a:prstGeom prst="roundRect">
            <a:avLst/>
          </a:prstGeom>
          <a:solidFill>
            <a:srgbClr val="ECF0E5"/>
          </a:solidFill>
          <a:ln w="10160">
            <a:solidFill>
              <a:srgbClr val="4C7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2960" y="6236208"/>
            <a:ext cx="103327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30" b="1">
                <a:solidFill>
                  <a:srgbClr val="2A3530"/>
                </a:solidFill>
                <a:latin typeface="Noto Sans CJK SC"/>
              </a:rPr>
              <a:t>翻译矩阵的用法：汇报时先展示案例证据，再切换到你的图纸编号；评审可以沿着“为什么这样设计—在哪里体现—如何验证”追问。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0"/>
          </a:solidFill>
          <a:ln w="10160">
            <a:solidFill>
              <a:srgbClr val="F7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2743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4C7130"/>
                </a:solidFill>
                <a:latin typeface="Noto Sans CJK SC"/>
              </a:rPr>
              <a:t>02 翻译矩阵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042416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400" b="1">
                <a:solidFill>
                  <a:srgbClr val="2A3530"/>
                </a:solidFill>
                <a:latin typeface="Noto Sans CJK SC"/>
              </a:rPr>
              <a:t>建议优先补的五张图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100"/>
              </a:spcAft>
            </a:pPr>
            <a:r>
              <a:rPr sz="1700" b="1">
                <a:solidFill>
                  <a:srgbClr val="69844F"/>
                </a:solidFill>
                <a:latin typeface="Noto Sans CJK SC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11155680" cy="914400"/>
          </a:xfrm>
          <a:prstGeom prst="rect">
            <a:avLst/>
          </a:prstGeom>
          <a:solidFill>
            <a:srgbClr val="CDD2C8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5943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687068"/>
                </a:solidFill>
                <a:latin typeface="Noto Sans CJK SC"/>
              </a:rPr>
              <a:t>建筑生态策略｜案例对比、设计翻译与营业时段补全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537960"/>
            <a:ext cx="31089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>
                <a:solidFill>
                  <a:srgbClr val="687068"/>
                </a:solidFill>
                <a:latin typeface="Noto Sans CJK SC"/>
              </a:rPr>
              <a:t>可直接并入个人设计汇报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658368" cy="658368"/>
          </a:xfrm>
          <a:prstGeom prst="roundRect">
            <a:avLst/>
          </a:prstGeom>
          <a:solidFill>
            <a:srgbClr val="4C7130"/>
          </a:solidFill>
          <a:ln w="10160">
            <a:solidFill>
              <a:srgbClr val="4C7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91056"/>
            <a:ext cx="65836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472184"/>
            <a:ext cx="2926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2A3530"/>
                </a:solidFill>
                <a:latin typeface="Noto Sans CJK SC"/>
              </a:rPr>
              <a:t>结构保留与新增分离图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490472"/>
            <a:ext cx="66751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687068"/>
                </a:solidFill>
                <a:latin typeface="Noto Sans CJK SC"/>
              </a:rPr>
              <a:t>黑色/灰色表达原柱、桁架、棚顶；绿色或橙色表达平台、盒子、步道和空井。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27632" y="2240280"/>
            <a:ext cx="9646920" cy="914400"/>
          </a:xfrm>
          <a:prstGeom prst="rect">
            <a:avLst/>
          </a:prstGeom>
          <a:solidFill>
            <a:srgbClr val="CDD2C8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2377440"/>
            <a:ext cx="658368" cy="658368"/>
          </a:xfrm>
          <a:prstGeom prst="roundRect">
            <a:avLst/>
          </a:prstGeom>
          <a:solidFill>
            <a:srgbClr val="AE6C40"/>
          </a:solidFill>
          <a:ln w="10160">
            <a:solidFill>
              <a:srgbClr val="AE6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551176"/>
            <a:ext cx="65836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2432304"/>
            <a:ext cx="2926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2A3530"/>
                </a:solidFill>
                <a:latin typeface="Noto Sans CJK SC"/>
              </a:rPr>
              <a:t>一层公共性与后勤流线图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450592"/>
            <a:ext cx="66751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687068"/>
                </a:solidFill>
                <a:latin typeface="Noto Sans CJK SC"/>
              </a:rPr>
              <a:t>主步道、次级停留、餐饮后勤、消防疏散分四种线型，不再只用功能色块。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27632" y="3200400"/>
            <a:ext cx="9646920" cy="914400"/>
          </a:xfrm>
          <a:prstGeom prst="rect">
            <a:avLst/>
          </a:prstGeom>
          <a:solidFill>
            <a:srgbClr val="CDD2C8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3337560"/>
            <a:ext cx="658368" cy="658368"/>
          </a:xfrm>
          <a:prstGeom prst="roundRect">
            <a:avLst/>
          </a:prstGeom>
          <a:solidFill>
            <a:srgbClr val="69844F"/>
          </a:solidFill>
          <a:ln w="10160">
            <a:solidFill>
              <a:srgbClr val="69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511296"/>
            <a:ext cx="65836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27632" y="3392424"/>
            <a:ext cx="2926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2A3530"/>
                </a:solidFill>
                <a:latin typeface="Noto Sans CJK SC"/>
              </a:rPr>
              <a:t>A-A / B-B 剖面图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288" y="3410712"/>
            <a:ext cx="66751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687068"/>
                </a:solidFill>
                <a:latin typeface="Noto Sans CJK SC"/>
              </a:rPr>
              <a:t>分别剖到下沉广场和避开下沉广场，标出18.50m网架下高、21.37m檐口和二层标高。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27632" y="4160520"/>
            <a:ext cx="9646920" cy="914400"/>
          </a:xfrm>
          <a:prstGeom prst="rect">
            <a:avLst/>
          </a:prstGeom>
          <a:solidFill>
            <a:srgbClr val="CDD2C8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4297680"/>
            <a:ext cx="658368" cy="658368"/>
          </a:xfrm>
          <a:prstGeom prst="roundRect">
            <a:avLst/>
          </a:prstGeom>
          <a:solidFill>
            <a:srgbClr val="4C7130"/>
          </a:solidFill>
          <a:ln w="10160">
            <a:solidFill>
              <a:srgbClr val="4C7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471416"/>
            <a:ext cx="65836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27632" y="4352544"/>
            <a:ext cx="2926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2A3530"/>
                </a:solidFill>
                <a:latin typeface="Noto Sans CJK SC"/>
              </a:rPr>
              <a:t>雨水—植物—维护剖面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288" y="4370832"/>
            <a:ext cx="66751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687068"/>
                </a:solidFill>
                <a:latin typeface="Noto Sans CJK SC"/>
              </a:rPr>
              <a:t>屋面汇水、过滤、树池、溢流、下沉花园和检修口形成闭环。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27632" y="5120640"/>
            <a:ext cx="9646920" cy="914400"/>
          </a:xfrm>
          <a:prstGeom prst="rect">
            <a:avLst/>
          </a:prstGeom>
          <a:solidFill>
            <a:srgbClr val="CDD2C8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" y="5257800"/>
            <a:ext cx="658368" cy="658368"/>
          </a:xfrm>
          <a:prstGeom prst="roundRect">
            <a:avLst/>
          </a:prstGeom>
          <a:solidFill>
            <a:srgbClr val="AE6C40"/>
          </a:solidFill>
          <a:ln w="10160">
            <a:solidFill>
              <a:srgbClr val="AE6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431536"/>
            <a:ext cx="65836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27632" y="5312664"/>
            <a:ext cx="2926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2A3530"/>
                </a:solidFill>
                <a:latin typeface="Noto Sans CJK SC"/>
              </a:rPr>
              <a:t>运营时段与开放边界图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0288" y="5330952"/>
            <a:ext cx="66751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687068"/>
                </a:solidFill>
                <a:latin typeface="Noto Sans CJK SC"/>
              </a:rPr>
              <a:t>用时间轴表达公共步道、展览、零售、餐饮、二层阅读和后勤的开闭关系。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27632" y="6080760"/>
            <a:ext cx="9646920" cy="914400"/>
          </a:xfrm>
          <a:prstGeom prst="rect">
            <a:avLst/>
          </a:prstGeom>
          <a:solidFill>
            <a:srgbClr val="CDD2C8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31520" y="6172200"/>
            <a:ext cx="10698480" cy="274320"/>
          </a:xfrm>
          <a:prstGeom prst="roundRect">
            <a:avLst/>
          </a:prstGeom>
          <a:solidFill>
            <a:srgbClr val="F7EADE"/>
          </a:solidFill>
          <a:ln w="10160">
            <a:solidFill>
              <a:srgbClr val="AE6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6236208"/>
            <a:ext cx="102870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19" b="1">
                <a:solidFill>
                  <a:srgbClr val="2A3530"/>
                </a:solidFill>
                <a:latin typeface="Noto Sans CJK SC"/>
              </a:rPr>
              <a:t>如果版面有限，优先保留结构剖面、运营时段和雨水剖面；它们最能证明方案不是只停留在效果图层面。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0"/>
          </a:solidFill>
          <a:ln w="10160">
            <a:solidFill>
              <a:srgbClr val="F7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2743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4C7130"/>
                </a:solidFill>
                <a:latin typeface="Noto Sans CJK SC"/>
              </a:rPr>
              <a:t>03 营业时段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042416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400" b="1">
                <a:solidFill>
                  <a:srgbClr val="2A3530"/>
                </a:solidFill>
                <a:latin typeface="Noto Sans CJK SC"/>
              </a:rPr>
              <a:t>一层与二层的营业、开放和后勤时段建议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100"/>
              </a:spcAft>
            </a:pPr>
            <a:r>
              <a:rPr sz="1700" b="1">
                <a:solidFill>
                  <a:srgbClr val="69844F"/>
                </a:solidFill>
                <a:latin typeface="Noto Sans CJK SC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11155680" cy="914400"/>
          </a:xfrm>
          <a:prstGeom prst="rect">
            <a:avLst/>
          </a:prstGeom>
          <a:solidFill>
            <a:srgbClr val="CDD2C8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5943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687068"/>
                </a:solidFill>
                <a:latin typeface="Noto Sans CJK SC"/>
              </a:rPr>
              <a:t>建筑生态策略｜案例对比、设计翻译与营业时段补全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537960"/>
            <a:ext cx="31089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>
                <a:solidFill>
                  <a:srgbClr val="687068"/>
                </a:solidFill>
                <a:latin typeface="Noto Sans CJK SC"/>
              </a:rPr>
              <a:t>可直接并入个人设计汇报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30" b="0">
                <a:solidFill>
                  <a:srgbClr val="2A3530"/>
                </a:solidFill>
                <a:latin typeface="Noto Sans CJK SC"/>
              </a:rPr>
              <a:t>建议把“公共开放”和“商业营业”分开表达：主步道与滨江花园尽量延长开放，室内经营单元按功能错峰。以下为概念运营时段，最终需结合消防、物业和城市管理复核。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38528"/>
            <a:ext cx="2331720" cy="411480"/>
          </a:xfrm>
          <a:prstGeom prst="rect">
            <a:avLst/>
          </a:prstGeom>
          <a:solidFill>
            <a:srgbClr val="2D4D3E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984248"/>
            <a:ext cx="2221991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Noto Sans CJK SC"/>
              </a:rPr>
              <a:t>功能 / 空间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71800" y="1938528"/>
            <a:ext cx="1463040" cy="411480"/>
          </a:xfrm>
          <a:prstGeom prst="rect">
            <a:avLst/>
          </a:prstGeom>
          <a:solidFill>
            <a:srgbClr val="2D4D3E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26664" y="1984248"/>
            <a:ext cx="1353312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Noto Sans CJK SC"/>
              </a:rPr>
              <a:t>工作日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1938528"/>
            <a:ext cx="1554480" cy="411480"/>
          </a:xfrm>
          <a:prstGeom prst="rect">
            <a:avLst/>
          </a:prstGeom>
          <a:solidFill>
            <a:srgbClr val="2D4D3E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9703" y="1984248"/>
            <a:ext cx="1444752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Noto Sans CJK SC"/>
              </a:rPr>
              <a:t>周末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938528"/>
            <a:ext cx="1554480" cy="411480"/>
          </a:xfrm>
          <a:prstGeom prst="rect">
            <a:avLst/>
          </a:prstGeom>
          <a:solidFill>
            <a:srgbClr val="2D4D3E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44183" y="1984248"/>
            <a:ext cx="1444752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Noto Sans CJK SC"/>
              </a:rPr>
              <a:t>开闭逻辑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43800" y="1938528"/>
            <a:ext cx="1645920" cy="411480"/>
          </a:xfrm>
          <a:prstGeom prst="rect">
            <a:avLst/>
          </a:prstGeom>
          <a:solidFill>
            <a:srgbClr val="2D4D3E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98664" y="1984248"/>
            <a:ext cx="1536192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Noto Sans CJK SC"/>
              </a:rPr>
              <a:t>服务时段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20" y="1938528"/>
            <a:ext cx="1645920" cy="411480"/>
          </a:xfrm>
          <a:prstGeom prst="rect">
            <a:avLst/>
          </a:prstGeom>
          <a:solidFill>
            <a:srgbClr val="2D4D3E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4584" y="1984248"/>
            <a:ext cx="1536192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Noto Sans CJK SC"/>
              </a:rPr>
              <a:t>夜间状态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835640" y="1938528"/>
            <a:ext cx="1463040" cy="411480"/>
          </a:xfrm>
          <a:prstGeom prst="rect">
            <a:avLst/>
          </a:prstGeom>
          <a:solidFill>
            <a:srgbClr val="2D4D3E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90504" y="1984248"/>
            <a:ext cx="1353312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Noto Sans CJK SC"/>
              </a:rPr>
              <a:t>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2350008"/>
            <a:ext cx="2331720" cy="521207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2395728"/>
            <a:ext cx="2221991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80" b="1">
                <a:solidFill>
                  <a:srgbClr val="2A3530"/>
                </a:solidFill>
                <a:latin typeface="Noto Sans CJK SC"/>
              </a:rPr>
              <a:t>滨江公共步道 + 一层花园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71800" y="2350008"/>
            <a:ext cx="1463040" cy="521207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26664" y="2395728"/>
            <a:ext cx="135331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687068"/>
                </a:solidFill>
                <a:latin typeface="Noto Sans CJK SC"/>
              </a:rPr>
              <a:t>06:30–22:30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34840" y="2350008"/>
            <a:ext cx="1554480" cy="521207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9703" y="2395728"/>
            <a:ext cx="144475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687068"/>
                </a:solidFill>
                <a:latin typeface="Noto Sans CJK SC"/>
              </a:rPr>
              <a:t>06:30–23:00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89320" y="2350008"/>
            <a:ext cx="1554480" cy="521207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44183" y="2395728"/>
            <a:ext cx="144475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687068"/>
                </a:solidFill>
                <a:latin typeface="Noto Sans CJK SC"/>
              </a:rPr>
              <a:t>全天公共骨架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43800" y="2350008"/>
            <a:ext cx="1645920" cy="521207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98664" y="2395728"/>
            <a:ext cx="153619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687068"/>
                </a:solidFill>
                <a:latin typeface="Noto Sans CJK SC"/>
              </a:rPr>
              <a:t>06:00–08:00保洁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89720" y="2350008"/>
            <a:ext cx="1645920" cy="521207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44584" y="2395728"/>
            <a:ext cx="153619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687068"/>
                </a:solidFill>
                <a:latin typeface="Noto Sans CJK SC"/>
              </a:rPr>
              <a:t>22:30后照明减半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835640" y="2350008"/>
            <a:ext cx="1463040" cy="521207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90504" y="2395728"/>
            <a:ext cx="135331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687068"/>
                </a:solidFill>
                <a:latin typeface="Noto Sans CJK SC"/>
              </a:rPr>
              <a:t>保留连续穿行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2871216"/>
            <a:ext cx="2331720" cy="521207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4944" y="2916936"/>
            <a:ext cx="2221991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80" b="1">
                <a:solidFill>
                  <a:srgbClr val="2A3530"/>
                </a:solidFill>
                <a:latin typeface="Noto Sans CJK SC"/>
              </a:rPr>
              <a:t>主题展览 / 活动教室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71800" y="2871216"/>
            <a:ext cx="1463040" cy="521207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26664" y="2916936"/>
            <a:ext cx="135331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687068"/>
                </a:solidFill>
                <a:latin typeface="Noto Sans CJK SC"/>
              </a:rPr>
              <a:t>09:30–18:00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34840" y="2871216"/>
            <a:ext cx="1554480" cy="521207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89703" y="2916936"/>
            <a:ext cx="144475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687068"/>
                </a:solidFill>
                <a:latin typeface="Noto Sans CJK SC"/>
              </a:rPr>
              <a:t>09:30–20:30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89320" y="2871216"/>
            <a:ext cx="1554480" cy="521207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44183" y="2916936"/>
            <a:ext cx="144475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687068"/>
                </a:solidFill>
                <a:latin typeface="Noto Sans CJK SC"/>
              </a:rPr>
              <a:t>周一维护；活动可预约延时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43800" y="2871216"/>
            <a:ext cx="1645920" cy="521207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98664" y="2916936"/>
            <a:ext cx="153619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687068"/>
                </a:solidFill>
                <a:latin typeface="Noto Sans CJK SC"/>
              </a:rPr>
              <a:t>08:30–09:30布展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89720" y="2871216"/>
            <a:ext cx="1645920" cy="521207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44584" y="2916936"/>
            <a:ext cx="153619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687068"/>
                </a:solidFill>
                <a:latin typeface="Noto Sans CJK SC"/>
              </a:rPr>
              <a:t>闭馆后隔离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835640" y="2871216"/>
            <a:ext cx="1463040" cy="521207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890504" y="2916936"/>
            <a:ext cx="135331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687068"/>
                </a:solidFill>
                <a:latin typeface="Noto Sans CJK SC"/>
              </a:rPr>
              <a:t>活动教室可独立关闭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" y="3392424"/>
            <a:ext cx="2331720" cy="521207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" y="3438144"/>
            <a:ext cx="2221991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80" b="1">
                <a:solidFill>
                  <a:srgbClr val="2A3530"/>
                </a:solidFill>
                <a:latin typeface="Noto Sans CJK SC"/>
              </a:rPr>
              <a:t>零售 / 社区小店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971800" y="3392424"/>
            <a:ext cx="1463040" cy="521207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26664" y="3438144"/>
            <a:ext cx="135331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687068"/>
                </a:solidFill>
                <a:latin typeface="Noto Sans CJK SC"/>
              </a:rPr>
              <a:t>10:00–21:00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434840" y="3392424"/>
            <a:ext cx="1554480" cy="521207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89703" y="3438144"/>
            <a:ext cx="144475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687068"/>
                </a:solidFill>
                <a:latin typeface="Noto Sans CJK SC"/>
              </a:rPr>
              <a:t>10:00–21:30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89320" y="3392424"/>
            <a:ext cx="1554480" cy="521207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044183" y="3438144"/>
            <a:ext cx="144475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687068"/>
                </a:solidFill>
                <a:latin typeface="Noto Sans CJK SC"/>
              </a:rPr>
              <a:t>与主步道错峰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43800" y="3392424"/>
            <a:ext cx="1645920" cy="521207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98664" y="3438144"/>
            <a:ext cx="153619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687068"/>
                </a:solidFill>
                <a:latin typeface="Noto Sans CJK SC"/>
              </a:rPr>
              <a:t>08:00–10:00补货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89720" y="3392424"/>
            <a:ext cx="1645920" cy="521207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244584" y="3438144"/>
            <a:ext cx="153619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687068"/>
                </a:solidFill>
                <a:latin typeface="Noto Sans CJK SC"/>
              </a:rPr>
              <a:t>21:30清场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835640" y="3392424"/>
            <a:ext cx="1463040" cy="521207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890504" y="3438144"/>
            <a:ext cx="135331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687068"/>
                </a:solidFill>
                <a:latin typeface="Noto Sans CJK SC"/>
              </a:rPr>
              <a:t>不占公共步道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" y="3913632"/>
            <a:ext cx="2331720" cy="521207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94944" y="3959352"/>
            <a:ext cx="2221991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80" b="1">
                <a:solidFill>
                  <a:srgbClr val="2A3530"/>
                </a:solidFill>
                <a:latin typeface="Noto Sans CJK SC"/>
              </a:rPr>
              <a:t>餐饮 / 咖啡 + 观景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971800" y="3913632"/>
            <a:ext cx="1463040" cy="521207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026664" y="3959352"/>
            <a:ext cx="135331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687068"/>
                </a:solidFill>
                <a:latin typeface="Noto Sans CJK SC"/>
              </a:rPr>
              <a:t>08:00–21:30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434840" y="3913632"/>
            <a:ext cx="1554480" cy="521207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489703" y="3959352"/>
            <a:ext cx="144475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687068"/>
                </a:solidFill>
                <a:latin typeface="Noto Sans CJK SC"/>
              </a:rPr>
              <a:t>08:00–22:00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89320" y="3913632"/>
            <a:ext cx="1554480" cy="521207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044183" y="3959352"/>
            <a:ext cx="144475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687068"/>
                </a:solidFill>
                <a:latin typeface="Noto Sans CJK SC"/>
              </a:rPr>
              <a:t>早餐—午餐—晚餐三段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43800" y="3913632"/>
            <a:ext cx="1645920" cy="521207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98664" y="3959352"/>
            <a:ext cx="153619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687068"/>
                </a:solidFill>
                <a:latin typeface="Noto Sans CJK SC"/>
              </a:rPr>
              <a:t>07:00–09:00备餐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189720" y="3913632"/>
            <a:ext cx="1645920" cy="521207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244584" y="3959352"/>
            <a:ext cx="153619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687068"/>
                </a:solidFill>
                <a:latin typeface="Noto Sans CJK SC"/>
              </a:rPr>
              <a:t>22:00后关闭内场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835640" y="3913632"/>
            <a:ext cx="1463040" cy="521207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890504" y="3959352"/>
            <a:ext cx="135331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687068"/>
                </a:solidFill>
                <a:latin typeface="Noto Sans CJK SC"/>
              </a:rPr>
              <a:t>厨房后勤外侧分流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40080" y="4434840"/>
            <a:ext cx="2331720" cy="521207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94944" y="4480559"/>
            <a:ext cx="2221991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80" b="1">
                <a:solidFill>
                  <a:srgbClr val="2A3530"/>
                </a:solidFill>
                <a:latin typeface="Noto Sans CJK SC"/>
              </a:rPr>
              <a:t>二层阅读 / 小展陈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971800" y="4434840"/>
            <a:ext cx="1463040" cy="521207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26664" y="4480559"/>
            <a:ext cx="135331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687068"/>
                </a:solidFill>
                <a:latin typeface="Noto Sans CJK SC"/>
              </a:rPr>
              <a:t>09:00–20:30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434840" y="4434840"/>
            <a:ext cx="1554480" cy="521207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489703" y="4480559"/>
            <a:ext cx="144475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687068"/>
                </a:solidFill>
                <a:latin typeface="Noto Sans CJK SC"/>
              </a:rPr>
              <a:t>09:00–21:30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989320" y="4434840"/>
            <a:ext cx="1554480" cy="521207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044183" y="4480559"/>
            <a:ext cx="144475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687068"/>
                </a:solidFill>
                <a:latin typeface="Noto Sans CJK SC"/>
              </a:rPr>
              <a:t>与展览错峰延时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543800" y="4434840"/>
            <a:ext cx="1645920" cy="521207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98664" y="4480559"/>
            <a:ext cx="153619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687068"/>
                </a:solidFill>
                <a:latin typeface="Noto Sans CJK SC"/>
              </a:rPr>
              <a:t>08:00–09:00保洁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189720" y="4434840"/>
            <a:ext cx="1645920" cy="521207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244584" y="4480559"/>
            <a:ext cx="153619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687068"/>
                </a:solidFill>
                <a:latin typeface="Noto Sans CJK SC"/>
              </a:rPr>
              <a:t>21:30后关闭平台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835640" y="4434840"/>
            <a:ext cx="1463040" cy="521207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890504" y="4480559"/>
            <a:ext cx="135331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687068"/>
                </a:solidFill>
                <a:latin typeface="Noto Sans CJK SC"/>
              </a:rPr>
              <a:t>树木空井周边限流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40080" y="4956048"/>
            <a:ext cx="2331720" cy="521207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94944" y="5001768"/>
            <a:ext cx="2221991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80" b="1">
                <a:solidFill>
                  <a:srgbClr val="2A3530"/>
                </a:solidFill>
                <a:latin typeface="Noto Sans CJK SC"/>
              </a:rPr>
              <a:t>二层共享工作坊 / 观景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971800" y="4956048"/>
            <a:ext cx="1463040" cy="521207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26664" y="5001768"/>
            <a:ext cx="135331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687068"/>
                </a:solidFill>
                <a:latin typeface="Noto Sans CJK SC"/>
              </a:rPr>
              <a:t>09:00–21:00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434840" y="4956048"/>
            <a:ext cx="1554480" cy="521207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489703" y="5001768"/>
            <a:ext cx="144475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687068"/>
                </a:solidFill>
                <a:latin typeface="Noto Sans CJK SC"/>
              </a:rPr>
              <a:t>09:00–22:00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989320" y="4956048"/>
            <a:ext cx="1554480" cy="521207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044183" y="5001768"/>
            <a:ext cx="144475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687068"/>
                </a:solidFill>
                <a:latin typeface="Noto Sans CJK SC"/>
              </a:rPr>
              <a:t>预约活动可延时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43800" y="4956048"/>
            <a:ext cx="1645920" cy="521207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98664" y="5001768"/>
            <a:ext cx="153619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687068"/>
                </a:solidFill>
                <a:latin typeface="Noto Sans CJK SC"/>
              </a:rPr>
              <a:t>08:00–09:00布置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189720" y="4956048"/>
            <a:ext cx="1645920" cy="521207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244584" y="5001768"/>
            <a:ext cx="153619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687068"/>
                </a:solidFill>
                <a:latin typeface="Noto Sans CJK SC"/>
              </a:rPr>
              <a:t>22:00后关闭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835640" y="4956048"/>
            <a:ext cx="1463040" cy="521207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890504" y="5001768"/>
            <a:ext cx="135331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687068"/>
                </a:solidFill>
                <a:latin typeface="Noto Sans CJK SC"/>
              </a:rPr>
              <a:t>保留观景平台安全照明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40080" y="5477256"/>
            <a:ext cx="2331720" cy="521207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94944" y="5522976"/>
            <a:ext cx="2221991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80" b="1">
                <a:solidFill>
                  <a:srgbClr val="2A3530"/>
                </a:solidFill>
                <a:latin typeface="Noto Sans CJK SC"/>
              </a:rPr>
              <a:t>后勤、设备与维护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971800" y="5477256"/>
            <a:ext cx="1463040" cy="521207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026664" y="5522976"/>
            <a:ext cx="135331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687068"/>
                </a:solidFill>
                <a:latin typeface="Noto Sans CJK SC"/>
              </a:rPr>
              <a:t>06:00–23:00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434840" y="5477256"/>
            <a:ext cx="1554480" cy="521207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489703" y="5522976"/>
            <a:ext cx="144475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687068"/>
                </a:solidFill>
                <a:latin typeface="Noto Sans CJK SC"/>
              </a:rPr>
              <a:t>06:00–23:00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989320" y="5477256"/>
            <a:ext cx="1554480" cy="521207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044183" y="5522976"/>
            <a:ext cx="144475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687068"/>
                </a:solidFill>
                <a:latin typeface="Noto Sans CJK SC"/>
              </a:rPr>
              <a:t>不对公众开放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543800" y="5477256"/>
            <a:ext cx="1645920" cy="521207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98664" y="5522976"/>
            <a:ext cx="153619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687068"/>
                </a:solidFill>
                <a:latin typeface="Noto Sans CJK SC"/>
              </a:rPr>
              <a:t>配送07:00–09:00、14:00–16:00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189720" y="5477256"/>
            <a:ext cx="1645920" cy="521207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244584" y="5522976"/>
            <a:ext cx="153619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687068"/>
                </a:solidFill>
                <a:latin typeface="Noto Sans CJK SC"/>
              </a:rPr>
              <a:t>持续巡检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0835640" y="5477256"/>
            <a:ext cx="1463040" cy="521207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0890504" y="5522976"/>
            <a:ext cx="135331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687068"/>
                </a:solidFill>
                <a:latin typeface="Noto Sans CJK SC"/>
              </a:rPr>
              <a:t>避开公共高峰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0"/>
          </a:solidFill>
          <a:ln w="10160">
            <a:solidFill>
              <a:srgbClr val="F7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2743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4C7130"/>
                </a:solidFill>
                <a:latin typeface="Noto Sans CJK SC"/>
              </a:rPr>
              <a:t>03 营业时段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042416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400" b="1">
                <a:solidFill>
                  <a:srgbClr val="2A3530"/>
                </a:solidFill>
                <a:latin typeface="Noto Sans CJK SC"/>
              </a:rPr>
              <a:t>用一天的时间轴表达“公共性 + 运营安全”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100"/>
              </a:spcAft>
            </a:pPr>
            <a:r>
              <a:rPr sz="1700" b="1">
                <a:solidFill>
                  <a:srgbClr val="69844F"/>
                </a:solidFill>
                <a:latin typeface="Noto Sans CJK SC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11155680" cy="914400"/>
          </a:xfrm>
          <a:prstGeom prst="rect">
            <a:avLst/>
          </a:prstGeom>
          <a:solidFill>
            <a:srgbClr val="CDD2C8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5943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687068"/>
                </a:solidFill>
                <a:latin typeface="Noto Sans CJK SC"/>
              </a:rPr>
              <a:t>建筑生态策略｜案例对比、设计翻译与营业时段补全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537960"/>
            <a:ext cx="31089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>
                <a:solidFill>
                  <a:srgbClr val="687068"/>
                </a:solidFill>
                <a:latin typeface="Noto Sans CJK SC"/>
              </a:rPr>
              <a:t>可直接并入个人设计汇报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698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2A3530"/>
                </a:solidFill>
                <a:latin typeface="Noto Sans CJK SC"/>
              </a:rPr>
              <a:t>建议在个人设计 PPT 中新增此页，作为一层与二层功能分区之后的运营补全。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17320" y="1938528"/>
            <a:ext cx="10972" cy="36576000"/>
          </a:xfrm>
          <a:prstGeom prst="rect">
            <a:avLst/>
          </a:prstGeom>
          <a:solidFill>
            <a:srgbClr val="CDD2C8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61872" y="1645920"/>
            <a:ext cx="310896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800" b="0">
                <a:solidFill>
                  <a:srgbClr val="687068"/>
                </a:solidFill>
                <a:latin typeface="Noto Sans CJK SC"/>
              </a:rPr>
              <a:t>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92854" y="1938528"/>
            <a:ext cx="10972" cy="36576000"/>
          </a:xfrm>
          <a:prstGeom prst="rect">
            <a:avLst/>
          </a:prstGeom>
          <a:solidFill>
            <a:srgbClr val="CDD2C8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37406" y="1645920"/>
            <a:ext cx="310896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800" b="0">
                <a:solidFill>
                  <a:srgbClr val="687068"/>
                </a:solidFill>
                <a:latin typeface="Noto Sans CJK SC"/>
              </a:rPr>
              <a:t>07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8388" y="1938528"/>
            <a:ext cx="10972" cy="36576000"/>
          </a:xfrm>
          <a:prstGeom prst="rect">
            <a:avLst/>
          </a:prstGeom>
          <a:solidFill>
            <a:srgbClr val="CDD2C8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12940" y="1645920"/>
            <a:ext cx="310896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800" b="0">
                <a:solidFill>
                  <a:srgbClr val="687068"/>
                </a:solidFill>
                <a:latin typeface="Noto Sans CJK SC"/>
              </a:rPr>
              <a:t>08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43922" y="1938528"/>
            <a:ext cx="10972" cy="36576000"/>
          </a:xfrm>
          <a:prstGeom prst="rect">
            <a:avLst/>
          </a:prstGeom>
          <a:solidFill>
            <a:srgbClr val="CDD2C8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88474" y="1645920"/>
            <a:ext cx="310896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800" b="0">
                <a:solidFill>
                  <a:srgbClr val="687068"/>
                </a:solidFill>
                <a:latin typeface="Noto Sans CJK SC"/>
              </a:rPr>
              <a:t>09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19456" y="1938528"/>
            <a:ext cx="10972" cy="36576000"/>
          </a:xfrm>
          <a:prstGeom prst="rect">
            <a:avLst/>
          </a:prstGeom>
          <a:solidFill>
            <a:srgbClr val="CDD2C8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4008" y="1645920"/>
            <a:ext cx="310896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800" b="0">
                <a:solidFill>
                  <a:srgbClr val="687068"/>
                </a:solidFill>
                <a:latin typeface="Noto Sans CJK SC"/>
              </a:rPr>
              <a:t>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4990" y="1938528"/>
            <a:ext cx="10972" cy="36576000"/>
          </a:xfrm>
          <a:prstGeom prst="rect">
            <a:avLst/>
          </a:prstGeom>
          <a:solidFill>
            <a:srgbClr val="CDD2C8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39542" y="1645920"/>
            <a:ext cx="310896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800" b="0">
                <a:solidFill>
                  <a:srgbClr val="687068"/>
                </a:solidFill>
                <a:latin typeface="Noto Sans CJK SC"/>
              </a:rPr>
              <a:t>11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70524" y="1938528"/>
            <a:ext cx="10972" cy="36576000"/>
          </a:xfrm>
          <a:prstGeom prst="rect">
            <a:avLst/>
          </a:prstGeom>
          <a:solidFill>
            <a:srgbClr val="CDD2C8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15076" y="1645920"/>
            <a:ext cx="310896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800" b="0">
                <a:solidFill>
                  <a:srgbClr val="687068"/>
                </a:solidFill>
                <a:latin typeface="Noto Sans CJK SC"/>
              </a:rPr>
              <a:t>12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46058" y="1938528"/>
            <a:ext cx="10972" cy="36576000"/>
          </a:xfrm>
          <a:prstGeom prst="rect">
            <a:avLst/>
          </a:prstGeom>
          <a:solidFill>
            <a:srgbClr val="CDD2C8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90610" y="1645920"/>
            <a:ext cx="310896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800" b="0">
                <a:solidFill>
                  <a:srgbClr val="687068"/>
                </a:solidFill>
                <a:latin typeface="Noto Sans CJK SC"/>
              </a:rPr>
              <a:t>13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21592" y="1938528"/>
            <a:ext cx="10972" cy="36576000"/>
          </a:xfrm>
          <a:prstGeom prst="rect">
            <a:avLst/>
          </a:prstGeom>
          <a:solidFill>
            <a:srgbClr val="CDD2C8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66144" y="1645920"/>
            <a:ext cx="310896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800" b="0">
                <a:solidFill>
                  <a:srgbClr val="687068"/>
                </a:solidFill>
                <a:latin typeface="Noto Sans CJK SC"/>
              </a:rPr>
              <a:t>14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97127" y="1938528"/>
            <a:ext cx="10972" cy="36576000"/>
          </a:xfrm>
          <a:prstGeom prst="rect">
            <a:avLst/>
          </a:prstGeom>
          <a:solidFill>
            <a:srgbClr val="CDD2C8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1679" y="1645920"/>
            <a:ext cx="310896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800" b="0">
                <a:solidFill>
                  <a:srgbClr val="687068"/>
                </a:solidFill>
                <a:latin typeface="Noto Sans CJK SC"/>
              </a:rPr>
              <a:t>15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72661" y="1938528"/>
            <a:ext cx="10972" cy="36576000"/>
          </a:xfrm>
          <a:prstGeom prst="rect">
            <a:avLst/>
          </a:prstGeom>
          <a:solidFill>
            <a:srgbClr val="CDD2C8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17213" y="1645920"/>
            <a:ext cx="310896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800" b="0">
                <a:solidFill>
                  <a:srgbClr val="687068"/>
                </a:solidFill>
                <a:latin typeface="Noto Sans CJK SC"/>
              </a:rPr>
              <a:t>16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48195" y="1938528"/>
            <a:ext cx="10972" cy="36576000"/>
          </a:xfrm>
          <a:prstGeom prst="rect">
            <a:avLst/>
          </a:prstGeom>
          <a:solidFill>
            <a:srgbClr val="CDD2C8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92747" y="1645920"/>
            <a:ext cx="310896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800" b="0">
                <a:solidFill>
                  <a:srgbClr val="687068"/>
                </a:solidFill>
                <a:latin typeface="Noto Sans CJK SC"/>
              </a:rPr>
              <a:t>17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3729" y="1938528"/>
            <a:ext cx="10972" cy="36576000"/>
          </a:xfrm>
          <a:prstGeom prst="rect">
            <a:avLst/>
          </a:prstGeom>
          <a:solidFill>
            <a:srgbClr val="CDD2C8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68281" y="1645920"/>
            <a:ext cx="310896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800" b="0">
                <a:solidFill>
                  <a:srgbClr val="687068"/>
                </a:solidFill>
                <a:latin typeface="Noto Sans CJK SC"/>
              </a:rPr>
              <a:t>18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99263" y="1938528"/>
            <a:ext cx="10972" cy="36576000"/>
          </a:xfrm>
          <a:prstGeom prst="rect">
            <a:avLst/>
          </a:prstGeom>
          <a:solidFill>
            <a:srgbClr val="CDD2C8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43815" y="1645920"/>
            <a:ext cx="310896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800" b="0">
                <a:solidFill>
                  <a:srgbClr val="687068"/>
                </a:solidFill>
                <a:latin typeface="Noto Sans CJK SC"/>
              </a:rPr>
              <a:t>19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74797" y="1938528"/>
            <a:ext cx="10972" cy="36576000"/>
          </a:xfrm>
          <a:prstGeom prst="rect">
            <a:avLst/>
          </a:prstGeom>
          <a:solidFill>
            <a:srgbClr val="CDD2C8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19349" y="1645920"/>
            <a:ext cx="310896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800" b="0">
                <a:solidFill>
                  <a:srgbClr val="687068"/>
                </a:solidFill>
                <a:latin typeface="Noto Sans CJK SC"/>
              </a:rPr>
              <a:t>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50331" y="1938528"/>
            <a:ext cx="10972" cy="36576000"/>
          </a:xfrm>
          <a:prstGeom prst="rect">
            <a:avLst/>
          </a:prstGeom>
          <a:solidFill>
            <a:srgbClr val="CDD2C8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94883" y="1645920"/>
            <a:ext cx="310896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800" b="0">
                <a:solidFill>
                  <a:srgbClr val="687068"/>
                </a:solidFill>
                <a:latin typeface="Noto Sans CJK SC"/>
              </a:rPr>
              <a:t>21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625865" y="1938528"/>
            <a:ext cx="10972" cy="36576000"/>
          </a:xfrm>
          <a:prstGeom prst="rect">
            <a:avLst/>
          </a:prstGeom>
          <a:solidFill>
            <a:srgbClr val="CDD2C8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70417" y="1645920"/>
            <a:ext cx="310896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800" b="0">
                <a:solidFill>
                  <a:srgbClr val="687068"/>
                </a:solidFill>
                <a:latin typeface="Noto Sans CJK SC"/>
              </a:rPr>
              <a:t>22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201400" y="1938528"/>
            <a:ext cx="10972" cy="36576000"/>
          </a:xfrm>
          <a:prstGeom prst="rect">
            <a:avLst/>
          </a:prstGeom>
          <a:solidFill>
            <a:srgbClr val="CDD2C8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045952" y="1645920"/>
            <a:ext cx="310896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800" b="0">
                <a:solidFill>
                  <a:srgbClr val="687068"/>
                </a:solidFill>
                <a:latin typeface="Noto Sans CJK SC"/>
              </a:rPr>
              <a:t>23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2660904"/>
            <a:ext cx="6858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100"/>
              </a:spcAft>
            </a:pPr>
            <a:r>
              <a:rPr sz="1050" b="1">
                <a:solidFill>
                  <a:srgbClr val="2A3530"/>
                </a:solidFill>
                <a:latin typeface="Noto Sans CJK SC"/>
              </a:rPr>
              <a:t>公共步道 / 花园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705087" y="2606040"/>
            <a:ext cx="9208545" cy="256032"/>
          </a:xfrm>
          <a:prstGeom prst="roundRect">
            <a:avLst/>
          </a:prstGeom>
          <a:solidFill>
            <a:srgbClr val="4C7130"/>
          </a:solidFill>
          <a:ln w="10160">
            <a:solidFill>
              <a:srgbClr val="4C7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89320" y="2656332"/>
            <a:ext cx="64008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Noto Sans CJK SC"/>
              </a:rPr>
              <a:t>06.5–22.5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3191256"/>
            <a:ext cx="6858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100"/>
              </a:spcAft>
            </a:pPr>
            <a:r>
              <a:rPr sz="1050" b="1">
                <a:solidFill>
                  <a:srgbClr val="2A3530"/>
                </a:solidFill>
                <a:latin typeface="Noto Sans CJK SC"/>
              </a:rPr>
              <a:t>展览 / 活动教室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431689" y="3136392"/>
            <a:ext cx="6330875" cy="256032"/>
          </a:xfrm>
          <a:prstGeom prst="roundRect">
            <a:avLst/>
          </a:prstGeom>
          <a:solidFill>
            <a:srgbClr val="69844F"/>
          </a:solidFill>
          <a:ln w="10160">
            <a:solidFill>
              <a:srgbClr val="69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77087" y="3186684"/>
            <a:ext cx="64008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Noto Sans CJK SC"/>
              </a:rPr>
              <a:t>09.5–20.5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3721607"/>
            <a:ext cx="6858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100"/>
              </a:spcAft>
            </a:pPr>
            <a:r>
              <a:rPr sz="1050" b="1">
                <a:solidFill>
                  <a:srgbClr val="2A3530"/>
                </a:solidFill>
                <a:latin typeface="Noto Sans CJK SC"/>
              </a:rPr>
              <a:t>零售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719456" y="3666744"/>
            <a:ext cx="6474758" cy="256032"/>
          </a:xfrm>
          <a:prstGeom prst="roundRect">
            <a:avLst/>
          </a:prstGeom>
          <a:solidFill>
            <a:srgbClr val="AE6C40"/>
          </a:solidFill>
          <a:ln w="10160">
            <a:solidFill>
              <a:srgbClr val="AE6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36795" y="3717035"/>
            <a:ext cx="64008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Noto Sans CJK SC"/>
              </a:rPr>
              <a:t>10.0–21.2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4251959"/>
            <a:ext cx="6858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100"/>
              </a:spcAft>
            </a:pPr>
            <a:r>
              <a:rPr sz="1050" b="1">
                <a:solidFill>
                  <a:srgbClr val="2A3530"/>
                </a:solidFill>
                <a:latin typeface="Noto Sans CJK SC"/>
              </a:rPr>
              <a:t>餐饮 / 咖啡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568388" y="4197096"/>
            <a:ext cx="8057477" cy="256032"/>
          </a:xfrm>
          <a:prstGeom prst="roundRect">
            <a:avLst/>
          </a:prstGeom>
          <a:solidFill>
            <a:srgbClr val="C2915E"/>
          </a:solidFill>
          <a:ln w="10160">
            <a:solidFill>
              <a:srgbClr val="C29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77087" y="4247388"/>
            <a:ext cx="64008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Noto Sans CJK SC"/>
              </a:rPr>
              <a:t>08.0–22.0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4782312"/>
            <a:ext cx="6858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100"/>
              </a:spcAft>
            </a:pPr>
            <a:r>
              <a:rPr sz="1050" b="1">
                <a:solidFill>
                  <a:srgbClr val="2A3530"/>
                </a:solidFill>
                <a:latin typeface="Noto Sans CJK SC"/>
              </a:rPr>
              <a:t>二层阅读 / 观景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143922" y="4727448"/>
            <a:ext cx="7194176" cy="256032"/>
          </a:xfrm>
          <a:prstGeom prst="roundRect">
            <a:avLst/>
          </a:prstGeom>
          <a:solidFill>
            <a:srgbClr val="759AAA"/>
          </a:solidFill>
          <a:ln w="10160">
            <a:solidFill>
              <a:srgbClr val="759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20970" y="4777740"/>
            <a:ext cx="64008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Noto Sans CJK SC"/>
              </a:rPr>
              <a:t>09.0–21.5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" y="5312664"/>
            <a:ext cx="6858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100"/>
              </a:spcAft>
            </a:pPr>
            <a:r>
              <a:rPr sz="1050" b="1">
                <a:solidFill>
                  <a:srgbClr val="2A3530"/>
                </a:solidFill>
                <a:latin typeface="Noto Sans CJK SC"/>
              </a:rPr>
              <a:t>后勤 / 维护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417320" y="5257800"/>
            <a:ext cx="9784080" cy="256032"/>
          </a:xfrm>
          <a:prstGeom prst="roundRect">
            <a:avLst/>
          </a:prstGeom>
          <a:solidFill>
            <a:srgbClr val="5B645B"/>
          </a:solidFill>
          <a:ln w="10160">
            <a:solidFill>
              <a:srgbClr val="5B6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89320" y="5308092"/>
            <a:ext cx="64008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Noto Sans CJK SC"/>
              </a:rPr>
              <a:t>06.0–23.0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40080" y="5897880"/>
            <a:ext cx="3456432" cy="548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C7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40080" y="5897880"/>
            <a:ext cx="73152" cy="548640"/>
          </a:xfrm>
          <a:prstGeom prst="rect">
            <a:avLst/>
          </a:prstGeom>
          <a:solidFill>
            <a:srgbClr val="4C7130"/>
          </a:solidFill>
          <a:ln w="10160">
            <a:solidFill>
              <a:srgbClr val="4C7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2959" y="6007608"/>
            <a:ext cx="318211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2A3530"/>
                </a:solidFill>
                <a:latin typeface="Noto Sans CJK SC"/>
              </a:rPr>
              <a:t>早间 06:00–09:30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2959" y="6327648"/>
            <a:ext cx="3182112" cy="457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10" b="0">
                <a:solidFill>
                  <a:srgbClr val="687068"/>
                </a:solidFill>
                <a:latin typeface="Noto Sans CJK SC"/>
              </a:rPr>
              <a:t>保洁、园林维护、后勤配送先于公众高峰完成。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370832" y="5897880"/>
            <a:ext cx="3456432" cy="548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9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370832" y="5897880"/>
            <a:ext cx="73152" cy="548640"/>
          </a:xfrm>
          <a:prstGeom prst="rect">
            <a:avLst/>
          </a:prstGeom>
          <a:solidFill>
            <a:srgbClr val="69844F"/>
          </a:solidFill>
          <a:ln w="10160">
            <a:solidFill>
              <a:srgbClr val="69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53712" y="6007608"/>
            <a:ext cx="318211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2A3530"/>
                </a:solidFill>
                <a:latin typeface="Noto Sans CJK SC"/>
              </a:rPr>
              <a:t>日间 09:30–18:00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53712" y="6327648"/>
            <a:ext cx="3182112" cy="457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10" b="0">
                <a:solidFill>
                  <a:srgbClr val="687068"/>
                </a:solidFill>
                <a:latin typeface="Noto Sans CJK SC"/>
              </a:rPr>
              <a:t>展览、零售、餐饮和二层阅读叠加运行，公共步道保持连续。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101583" y="5897880"/>
            <a:ext cx="3273552" cy="548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E6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101583" y="5897880"/>
            <a:ext cx="73152" cy="548640"/>
          </a:xfrm>
          <a:prstGeom prst="rect">
            <a:avLst/>
          </a:prstGeom>
          <a:solidFill>
            <a:srgbClr val="AE6C40"/>
          </a:solidFill>
          <a:ln w="10160">
            <a:solidFill>
              <a:srgbClr val="AE6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284463" y="6007608"/>
            <a:ext cx="29992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2A3530"/>
                </a:solidFill>
                <a:latin typeface="Noto Sans CJK SC"/>
              </a:rPr>
              <a:t>夜间 18:00–23:00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84463" y="6327648"/>
            <a:ext cx="2999232" cy="457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10" b="0">
                <a:solidFill>
                  <a:srgbClr val="687068"/>
                </a:solidFill>
                <a:latin typeface="Noto Sans CJK SC"/>
              </a:rPr>
              <a:t>餐饮与观景延时；展览分时闭馆；照明、巡检和疏散边界清楚。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