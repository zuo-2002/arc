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image" Target="../media/image6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Relationship Id="rId3" Type="http://schemas.openxmlformats.org/officeDocument/2006/relationships/image" Target="../media/image9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Relationship Id="rId3" Type="http://schemas.openxmlformats.org/officeDocument/2006/relationships/image" Target="../media/image11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6F0"/>
          </a:solidFill>
          <a:ln w="10160">
            <a:solidFill>
              <a:srgbClr val="F7F6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2D4D3E"/>
          </a:solidFill>
          <a:ln w="10160">
            <a:solidFill>
              <a:srgbClr val="2D4D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246888"/>
            <a:ext cx="3657600" cy="32004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500" b="1">
                <a:solidFill>
                  <a:srgbClr val="FFFFFF"/>
                </a:solidFill>
                <a:latin typeface="Noto Sans CJK SC"/>
              </a:rPr>
              <a:t>建筑生态策略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508760"/>
            <a:ext cx="7040880" cy="68580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3100" b="1">
                <a:solidFill>
                  <a:srgbClr val="2A3530"/>
                </a:solidFill>
                <a:latin typeface="Noto Sans CJK SC"/>
              </a:rPr>
              <a:t>汇报 PPT 检查与修改建议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2331720"/>
            <a:ext cx="7955279" cy="32004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600" b="0">
                <a:solidFill>
                  <a:srgbClr val="687068"/>
                </a:solidFill>
                <a:latin typeface="Noto Sans CJK SC"/>
              </a:rPr>
              <a:t>案例分析 × 个人设计｜问题、影响与可执行修改方案</a:t>
            </a:r>
          </a:p>
        </p:txBody>
      </p:sp>
      <p:sp>
        <p:nvSpPr>
          <p:cNvPr id="7" name="Rectangle 6"/>
          <p:cNvSpPr/>
          <p:nvPr/>
        </p:nvSpPr>
        <p:spPr>
          <a:xfrm>
            <a:off x="658368" y="2880360"/>
            <a:ext cx="3931920" cy="38100"/>
          </a:xfrm>
          <a:prstGeom prst="rect">
            <a:avLst/>
          </a:prstGeom>
          <a:solidFill>
            <a:srgbClr val="4C71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658368" y="3246120"/>
            <a:ext cx="3383280" cy="960120"/>
          </a:xfrm>
          <a:prstGeom prst="roundRect">
            <a:avLst/>
          </a:prstGeom>
          <a:solidFill>
            <a:srgbClr val="ECF0E5"/>
          </a:solidFill>
          <a:ln w="10160">
            <a:solidFill>
              <a:srgbClr val="4C71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8680" y="3429000"/>
            <a:ext cx="2834640" cy="27432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600" b="1">
                <a:solidFill>
                  <a:srgbClr val="4C7130"/>
                </a:solidFill>
                <a:latin typeface="Noto Sans CJK SC"/>
              </a:rPr>
              <a:t>01  案例分析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3767328"/>
            <a:ext cx="2834640" cy="22860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000" b="0">
                <a:solidFill>
                  <a:srgbClr val="687068"/>
                </a:solidFill>
                <a:latin typeface="Noto Sans CJK SC"/>
              </a:rPr>
              <a:t>两案信息、图示与借鉴结论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279392" y="3246120"/>
            <a:ext cx="3383280" cy="960120"/>
          </a:xfrm>
          <a:prstGeom prst="roundRect">
            <a:avLst/>
          </a:prstGeom>
          <a:solidFill>
            <a:srgbClr val="F7EADE"/>
          </a:solidFill>
          <a:ln w="10160">
            <a:solidFill>
              <a:srgbClr val="AE6C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489704" y="3429000"/>
            <a:ext cx="2834640" cy="27432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600" b="1">
                <a:solidFill>
                  <a:srgbClr val="AE6C40"/>
                </a:solidFill>
                <a:latin typeface="Noto Sans CJK SC"/>
              </a:rPr>
              <a:t>02  个人设计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489704" y="3767328"/>
            <a:ext cx="2834640" cy="22860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000" b="0">
                <a:solidFill>
                  <a:srgbClr val="687068"/>
                </a:solidFill>
                <a:latin typeface="Noto Sans CJK SC"/>
              </a:rPr>
              <a:t>策略、图纸、生态与植物配置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900416" y="3246120"/>
            <a:ext cx="3383280" cy="960120"/>
          </a:xfrm>
          <a:prstGeom prst="roundRect">
            <a:avLst/>
          </a:prstGeom>
          <a:solidFill>
            <a:srgbClr val="E7EFF2"/>
          </a:solidFill>
          <a:ln w="10160">
            <a:solidFill>
              <a:srgbClr val="6984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110727" y="3429000"/>
            <a:ext cx="2834640" cy="27432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600" b="1">
                <a:solidFill>
                  <a:srgbClr val="69844F"/>
                </a:solidFill>
                <a:latin typeface="Noto Sans CJK SC"/>
              </a:rPr>
              <a:t>03  提交优先级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110727" y="3767328"/>
            <a:ext cx="2834640" cy="22860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000" b="0">
                <a:solidFill>
                  <a:srgbClr val="687068"/>
                </a:solidFill>
                <a:latin typeface="Noto Sans CJK SC"/>
              </a:rPr>
              <a:t>先补证据，再统一表达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8368" y="4892040"/>
            <a:ext cx="10515600" cy="50292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500" b="0">
                <a:solidFill>
                  <a:srgbClr val="2A3530"/>
                </a:solidFill>
                <a:latin typeface="Noto Sans CJK SC"/>
              </a:rPr>
              <a:t>总体判断：概念方向清晰，公共空间与生态叙事有优势；下一步需要补足数据、结构与图纸证据，使“想法”转化为可核查的建筑方案。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8368" y="6144768"/>
            <a:ext cx="7772400" cy="22860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900" b="0">
                <a:solidFill>
                  <a:srgbClr val="687068"/>
                </a:solidFill>
                <a:latin typeface="Noto Sans CJK SC"/>
              </a:rPr>
              <a:t>检查对象：建筑生态案例分析zxy.pptx｜建筑生态个人设计zxy.pptx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018520" y="6144768"/>
            <a:ext cx="548640" cy="22860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r">
              <a:spcAft>
                <a:spcPts val="200"/>
              </a:spcAft>
            </a:pPr>
            <a:r>
              <a:rPr sz="900" b="0">
                <a:solidFill>
                  <a:srgbClr val="687068"/>
                </a:solidFill>
                <a:latin typeface="Noto Sans CJK SC"/>
              </a:rPr>
              <a:t>2026.10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6F0"/>
          </a:solidFill>
          <a:ln w="10160">
            <a:solidFill>
              <a:srgbClr val="F7F6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2560320" cy="22860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900" b="1">
                <a:solidFill>
                  <a:srgbClr val="4C7130"/>
                </a:solidFill>
                <a:latin typeface="Noto Sans CJK SC"/>
              </a:rPr>
              <a:t>00 总体判断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02920"/>
            <a:ext cx="10241280" cy="50292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2500" b="1">
                <a:solidFill>
                  <a:srgbClr val="2A3530"/>
                </a:solidFill>
                <a:latin typeface="Noto Sans CJK SC"/>
              </a:rPr>
              <a:t>优点已经成立，主要缺口在“证据链”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01400" y="338328"/>
            <a:ext cx="502920" cy="32004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r">
              <a:spcAft>
                <a:spcPts val="200"/>
              </a:spcAft>
            </a:pPr>
            <a:r>
              <a:rPr sz="1800" b="1">
                <a:solidFill>
                  <a:srgbClr val="69844F"/>
                </a:solidFill>
                <a:latin typeface="Noto Sans CJK SC"/>
              </a:rPr>
              <a:t>02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115568"/>
            <a:ext cx="11155680" cy="12700"/>
          </a:xfrm>
          <a:prstGeom prst="rect">
            <a:avLst/>
          </a:prstGeom>
          <a:solidFill>
            <a:srgbClr val="CDD2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6537960"/>
            <a:ext cx="4572000" cy="16459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800" b="0">
                <a:solidFill>
                  <a:srgbClr val="687068"/>
                </a:solidFill>
                <a:latin typeface="Noto Sans CJK SC"/>
              </a:rPr>
              <a:t>建筑生态策略｜汇报文件检查与修改建议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80960" y="6537960"/>
            <a:ext cx="3977639" cy="16459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r">
              <a:spcAft>
                <a:spcPts val="200"/>
              </a:spcAft>
            </a:pPr>
            <a:r>
              <a:rPr sz="800" b="0">
                <a:solidFill>
                  <a:srgbClr val="687068"/>
                </a:solidFill>
                <a:latin typeface="Noto Sans CJK SC"/>
              </a:rPr>
              <a:t>基于已提交的案例分析与个人设计 PPT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1353312"/>
            <a:ext cx="10789920" cy="41148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300" b="0">
                <a:solidFill>
                  <a:srgbClr val="2A3530"/>
                </a:solidFill>
                <a:latin typeface="Noto Sans CJK SC"/>
              </a:rPr>
              <a:t>目前 PPT 已经形成完整叙事雏形：案例提炼 → 设计策略 → 平面功能 → 生态与植物。但最终评审会继续追问“尺寸是否成立、结构是否可行、生态是否可验证”。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" y="1993392"/>
            <a:ext cx="3429000" cy="1261872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CDD2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40080" y="1993392"/>
            <a:ext cx="73152" cy="1261872"/>
          </a:xfrm>
          <a:prstGeom prst="rect">
            <a:avLst/>
          </a:prstGeom>
          <a:solidFill>
            <a:srgbClr val="4C7130"/>
          </a:solidFill>
          <a:ln w="10160">
            <a:solidFill>
              <a:srgbClr val="4C71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41247" y="2130552"/>
            <a:ext cx="3108960" cy="25603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2A3530"/>
                </a:solidFill>
                <a:latin typeface="Noto Sans CJK SC"/>
              </a:rPr>
              <a:t>概念优势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41247" y="2468880"/>
            <a:ext cx="3099816" cy="694943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030" b="0">
                <a:solidFill>
                  <a:srgbClr val="687068"/>
                </a:solidFill>
                <a:latin typeface="Noto Sans CJK SC"/>
              </a:rPr>
              <a:t>工业框架下植入公共花园，主步道、下沉广场、局部空井和植物配置之间有连续的空间主题。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370832" y="1993392"/>
            <a:ext cx="3429000" cy="1261872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CDD2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370832" y="1993392"/>
            <a:ext cx="73152" cy="1261872"/>
          </a:xfrm>
          <a:prstGeom prst="rect">
            <a:avLst/>
          </a:prstGeom>
          <a:solidFill>
            <a:srgbClr val="69844F"/>
          </a:solidFill>
          <a:ln w="10160">
            <a:solidFill>
              <a:srgbClr val="6984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72000" y="2130552"/>
            <a:ext cx="3108960" cy="25603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2A3530"/>
                </a:solidFill>
                <a:latin typeface="Noto Sans CJK SC"/>
              </a:rPr>
              <a:t>表达优势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0" y="2468880"/>
            <a:ext cx="3099816" cy="694943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030" b="0">
                <a:solidFill>
                  <a:srgbClr val="687068"/>
                </a:solidFill>
                <a:latin typeface="Noto Sans CJK SC"/>
              </a:rPr>
              <a:t>案例部分和个人设计部分已经分开，色彩、标题层级和图文比例基本统一，适合继续深化为竞赛汇报。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101583" y="1993392"/>
            <a:ext cx="3429000" cy="1261872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CDD2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101583" y="1993392"/>
            <a:ext cx="73152" cy="1261872"/>
          </a:xfrm>
          <a:prstGeom prst="rect">
            <a:avLst/>
          </a:prstGeom>
          <a:solidFill>
            <a:srgbClr val="AE6C40"/>
          </a:solidFill>
          <a:ln w="10160">
            <a:solidFill>
              <a:srgbClr val="AE6C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302752" y="2130552"/>
            <a:ext cx="3108960" cy="25603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2A3530"/>
                </a:solidFill>
                <a:latin typeface="Noto Sans CJK SC"/>
              </a:rPr>
              <a:t>可提升点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302752" y="2468880"/>
            <a:ext cx="3099816" cy="694943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030" b="0">
                <a:solidFill>
                  <a:srgbClr val="687068"/>
                </a:solidFill>
                <a:latin typeface="Noto Sans CJK SC"/>
              </a:rPr>
              <a:t>缺少总图/剖面/指标/来源/验证图，导致结构关系、消防疏散、生态性能和经济技术指标无法被快速核查。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080" y="3703320"/>
            <a:ext cx="1828800" cy="27432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500" b="1">
                <a:solidFill>
                  <a:srgbClr val="2A3530"/>
                </a:solidFill>
                <a:latin typeface="Noto Sans CJK SC"/>
              </a:rPr>
              <a:t>优先级判断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40080" y="4133087"/>
            <a:ext cx="3401568" cy="141732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AE6C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22959" y="4315968"/>
            <a:ext cx="2834640" cy="27432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AE6C40"/>
                </a:solidFill>
                <a:latin typeface="Noto Sans CJK SC"/>
              </a:rPr>
              <a:t>P0｜必须补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22959" y="4700016"/>
            <a:ext cx="2926080" cy="59436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100" b="0">
                <a:solidFill>
                  <a:srgbClr val="687068"/>
                </a:solidFill>
                <a:latin typeface="Noto Sans CJK SC"/>
              </a:rPr>
              <a:t>平面尺寸、面积核算、剖面结构、疏散与无障碍、案例来源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4370832" y="4133087"/>
            <a:ext cx="3401568" cy="141732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4C71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553712" y="4315968"/>
            <a:ext cx="2834640" cy="27432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4C7130"/>
                </a:solidFill>
                <a:latin typeface="Noto Sans CJK SC"/>
              </a:rPr>
              <a:t>P1｜强烈建议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53712" y="4700016"/>
            <a:ext cx="2926080" cy="59436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100" b="0">
                <a:solidFill>
                  <a:srgbClr val="687068"/>
                </a:solidFill>
                <a:latin typeface="Noto Sans CJK SC"/>
              </a:rPr>
              <a:t>生态模拟路径、雨水系统、植物维护、图纸统一标注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8101583" y="4133087"/>
            <a:ext cx="3401568" cy="141732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6984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284463" y="4315968"/>
            <a:ext cx="2834640" cy="27432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69844F"/>
                </a:solidFill>
                <a:latin typeface="Noto Sans CJK SC"/>
              </a:rPr>
              <a:t>P2｜表达优化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284463" y="4700016"/>
            <a:ext cx="2926080" cy="59436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100" b="0">
                <a:solidFill>
                  <a:srgbClr val="687068"/>
                </a:solidFill>
                <a:latin typeface="Noto Sans CJK SC"/>
              </a:rPr>
              <a:t>效果图注释、页面节奏、术语统一、结论页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40080" y="5870448"/>
            <a:ext cx="10607040" cy="29260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300" b="1">
                <a:solidFill>
                  <a:srgbClr val="2A3530"/>
                </a:solidFill>
                <a:latin typeface="Noto Sans CJK SC"/>
              </a:rPr>
              <a:t>审阅结论：不需要推翻概念，重点是把“结构保留、公共开放、生态植入”分别落实到图纸、数据和节点上。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6F0"/>
          </a:solidFill>
          <a:ln w="10160">
            <a:solidFill>
              <a:srgbClr val="F7F6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2560320" cy="22860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900" b="1">
                <a:solidFill>
                  <a:srgbClr val="4C7130"/>
                </a:solidFill>
                <a:latin typeface="Noto Sans CJK SC"/>
              </a:rPr>
              <a:t>01 案例分析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02920"/>
            <a:ext cx="10241280" cy="50292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2500" b="1">
                <a:solidFill>
                  <a:srgbClr val="2A3530"/>
                </a:solidFill>
                <a:latin typeface="Noto Sans CJK SC"/>
              </a:rPr>
              <a:t>案例部分：资料完整度和“可迁移结论”还不够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01400" y="338328"/>
            <a:ext cx="502920" cy="32004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r">
              <a:spcAft>
                <a:spcPts val="200"/>
              </a:spcAft>
            </a:pPr>
            <a:r>
              <a:rPr sz="1800" b="1">
                <a:solidFill>
                  <a:srgbClr val="69844F"/>
                </a:solidFill>
                <a:latin typeface="Noto Sans CJK SC"/>
              </a:rPr>
              <a:t>03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115568"/>
            <a:ext cx="11155680" cy="12700"/>
          </a:xfrm>
          <a:prstGeom prst="rect">
            <a:avLst/>
          </a:prstGeom>
          <a:solidFill>
            <a:srgbClr val="CDD2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6537960"/>
            <a:ext cx="4572000" cy="16459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800" b="0">
                <a:solidFill>
                  <a:srgbClr val="687068"/>
                </a:solidFill>
                <a:latin typeface="Noto Sans CJK SC"/>
              </a:rPr>
              <a:t>建筑生态策略｜汇报文件检查与修改建议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80960" y="6537960"/>
            <a:ext cx="3977639" cy="16459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r">
              <a:spcAft>
                <a:spcPts val="200"/>
              </a:spcAft>
            </a:pPr>
            <a:r>
              <a:rPr sz="800" b="0">
                <a:solidFill>
                  <a:srgbClr val="687068"/>
                </a:solidFill>
                <a:latin typeface="Noto Sans CJK SC"/>
              </a:rPr>
              <a:t>基于已提交的案例分析与个人设计 PPT</a:t>
            </a:r>
          </a:p>
        </p:txBody>
      </p:sp>
      <p:pic>
        <p:nvPicPr>
          <p:cNvPr id="9" name="Picture 8" descr="slide-0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389888"/>
            <a:ext cx="4983480" cy="2816352"/>
          </a:xfrm>
          <a:prstGeom prst="rect">
            <a:avLst/>
          </a:prstGeom>
        </p:spPr>
      </p:pic>
      <p:sp>
        <p:nvSpPr>
          <p:cNvPr id="10" name="Rounded Rectangle 9"/>
          <p:cNvSpPr/>
          <p:nvPr/>
        </p:nvSpPr>
        <p:spPr>
          <a:xfrm>
            <a:off x="640080" y="4315968"/>
            <a:ext cx="1417320" cy="292608"/>
          </a:xfrm>
          <a:prstGeom prst="roundRect">
            <a:avLst/>
          </a:prstGeom>
          <a:solidFill>
            <a:srgbClr val="4C7130"/>
          </a:solidFill>
          <a:ln w="10160">
            <a:solidFill>
              <a:srgbClr val="4C71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94944" y="4343400"/>
            <a:ext cx="1307592" cy="192024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ctr">
              <a:spcAft>
                <a:spcPts val="200"/>
              </a:spcAft>
            </a:pPr>
            <a:r>
              <a:rPr sz="900" b="1">
                <a:solidFill>
                  <a:srgbClr val="FFFFFF"/>
                </a:solidFill>
                <a:latin typeface="Noto Sans CJK SC"/>
              </a:rPr>
              <a:t>案例一：平面资料</a:t>
            </a:r>
          </a:p>
        </p:txBody>
      </p:sp>
      <p:pic>
        <p:nvPicPr>
          <p:cNvPr id="12" name="Picture 11" descr="slide-1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4773168"/>
            <a:ext cx="4983480" cy="1417320"/>
          </a:xfrm>
          <a:prstGeom prst="rect">
            <a:avLst/>
          </a:prstGeom>
        </p:spPr>
      </p:pic>
      <p:sp>
        <p:nvSpPr>
          <p:cNvPr id="13" name="Rounded Rectangle 12"/>
          <p:cNvSpPr/>
          <p:nvPr/>
        </p:nvSpPr>
        <p:spPr>
          <a:xfrm>
            <a:off x="640080" y="6272784"/>
            <a:ext cx="1417320" cy="292608"/>
          </a:xfrm>
          <a:prstGeom prst="roundRect">
            <a:avLst/>
          </a:prstGeom>
          <a:solidFill>
            <a:srgbClr val="AE6C40"/>
          </a:solidFill>
          <a:ln w="10160">
            <a:solidFill>
              <a:srgbClr val="AE6C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94944" y="6300216"/>
            <a:ext cx="1307592" cy="192024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ctr">
              <a:spcAft>
                <a:spcPts val="200"/>
              </a:spcAft>
            </a:pPr>
            <a:r>
              <a:rPr sz="900" b="1">
                <a:solidFill>
                  <a:srgbClr val="FFFFFF"/>
                </a:solidFill>
                <a:latin typeface="Noto Sans CJK SC"/>
              </a:rPr>
              <a:t>案例二：结构更新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897880" y="1389888"/>
            <a:ext cx="5440680" cy="1161288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CDD2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5897880" y="1389888"/>
            <a:ext cx="73152" cy="1161288"/>
          </a:xfrm>
          <a:prstGeom prst="rect">
            <a:avLst/>
          </a:prstGeom>
          <a:solidFill>
            <a:srgbClr val="AE6C40"/>
          </a:solidFill>
          <a:ln w="10160">
            <a:solidFill>
              <a:srgbClr val="AE6C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099048" y="1527048"/>
            <a:ext cx="5120640" cy="25603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2A3530"/>
                </a:solidFill>
                <a:latin typeface="Noto Sans CJK SC"/>
              </a:rPr>
              <a:t>问题 01｜来源与事实缺少统一出处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099048" y="1865376"/>
            <a:ext cx="5111496" cy="59436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030" b="0">
                <a:solidFill>
                  <a:srgbClr val="687068"/>
                </a:solidFill>
                <a:latin typeface="Noto Sans CJK SC"/>
              </a:rPr>
              <a:t>面积、评级、企业数量、节碳量、结构改造细节等信息没有在页脚或参考文献中对应来源，评审难以判断是项目资料还是二次概括。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897880" y="2724912"/>
            <a:ext cx="5440680" cy="1161288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CDD2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5897880" y="2724912"/>
            <a:ext cx="73152" cy="1161288"/>
          </a:xfrm>
          <a:prstGeom prst="rect">
            <a:avLst/>
          </a:prstGeom>
          <a:solidFill>
            <a:srgbClr val="4C7130"/>
          </a:solidFill>
          <a:ln w="10160">
            <a:solidFill>
              <a:srgbClr val="4C71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099048" y="2862072"/>
            <a:ext cx="5120640" cy="25603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2A3530"/>
                </a:solidFill>
                <a:latin typeface="Noto Sans CJK SC"/>
              </a:rPr>
              <a:t>问题 02｜图纸缺少阅读辅助信息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099048" y="3200400"/>
            <a:ext cx="5111496" cy="59436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030" b="0">
                <a:solidFill>
                  <a:srgbClr val="687068"/>
                </a:solidFill>
                <a:latin typeface="Noto Sans CJK SC"/>
              </a:rPr>
              <a:t>案例平面和总图多为资料截图，缺少统一的北向、比例、图例、关键空间编号；图片在投影或打印时容易失去辨识度。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897880" y="4059936"/>
            <a:ext cx="5440680" cy="1161288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CDD2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5897880" y="4059936"/>
            <a:ext cx="73152" cy="1161288"/>
          </a:xfrm>
          <a:prstGeom prst="rect">
            <a:avLst/>
          </a:prstGeom>
          <a:solidFill>
            <a:srgbClr val="69844F"/>
          </a:solidFill>
          <a:ln w="10160">
            <a:solidFill>
              <a:srgbClr val="6984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099048" y="4197096"/>
            <a:ext cx="5120640" cy="25603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2A3530"/>
                </a:solidFill>
                <a:latin typeface="Noto Sans CJK SC"/>
              </a:rPr>
              <a:t>问题 03｜两案比较不够直接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099048" y="4535424"/>
            <a:ext cx="5111496" cy="59436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030" b="0">
                <a:solidFill>
                  <a:srgbClr val="687068"/>
                </a:solidFill>
                <a:latin typeface="Noto Sans CJK SC"/>
              </a:rPr>
              <a:t>目前按案例一、案例二顺序讲述，最后才出现借鉴；缺少一张同维度对比表，难以快速看出哪些策略真正转译到干煤棚。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5897880" y="5394960"/>
            <a:ext cx="5440680" cy="105156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CDD2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5897880" y="5394960"/>
            <a:ext cx="73152" cy="1051560"/>
          </a:xfrm>
          <a:prstGeom prst="rect">
            <a:avLst/>
          </a:prstGeom>
          <a:solidFill>
            <a:srgbClr val="4C7130"/>
          </a:solidFill>
          <a:ln w="10160">
            <a:solidFill>
              <a:srgbClr val="4C71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099048" y="5532120"/>
            <a:ext cx="5120640" cy="25603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2A3530"/>
                </a:solidFill>
                <a:latin typeface="Noto Sans CJK SC"/>
              </a:rPr>
              <a:t>修改办法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099048" y="5870448"/>
            <a:ext cx="5111496" cy="484631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030" b="0">
                <a:solidFill>
                  <a:srgbClr val="687068"/>
                </a:solidFill>
                <a:latin typeface="Noto Sans CJK SC"/>
              </a:rPr>
              <a:t>增加“结构保留｜新旧分离｜公共性｜生态性能｜可逆性”五列对比表，并在每个案例页加入来源、年份、图纸出处。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6F0"/>
          </a:solidFill>
          <a:ln w="10160">
            <a:solidFill>
              <a:srgbClr val="F7F6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2560320" cy="22860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900" b="1">
                <a:solidFill>
                  <a:srgbClr val="4C7130"/>
                </a:solidFill>
                <a:latin typeface="Noto Sans CJK SC"/>
              </a:rPr>
              <a:t>01 案例分析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02920"/>
            <a:ext cx="10241280" cy="50292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2500" b="1">
                <a:solidFill>
                  <a:srgbClr val="2A3530"/>
                </a:solidFill>
                <a:latin typeface="Noto Sans CJK SC"/>
              </a:rPr>
              <a:t>案例结论要从“总结”变成“设计决策”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01400" y="338328"/>
            <a:ext cx="502920" cy="32004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r">
              <a:spcAft>
                <a:spcPts val="200"/>
              </a:spcAft>
            </a:pPr>
            <a:r>
              <a:rPr sz="1800" b="1">
                <a:solidFill>
                  <a:srgbClr val="69844F"/>
                </a:solidFill>
                <a:latin typeface="Noto Sans CJK SC"/>
              </a:rPr>
              <a:t>04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115568"/>
            <a:ext cx="11155680" cy="12700"/>
          </a:xfrm>
          <a:prstGeom prst="rect">
            <a:avLst/>
          </a:prstGeom>
          <a:solidFill>
            <a:srgbClr val="CDD2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6537960"/>
            <a:ext cx="4572000" cy="16459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800" b="0">
                <a:solidFill>
                  <a:srgbClr val="687068"/>
                </a:solidFill>
                <a:latin typeface="Noto Sans CJK SC"/>
              </a:rPr>
              <a:t>建筑生态策略｜汇报文件检查与修改建议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80960" y="6537960"/>
            <a:ext cx="3977639" cy="16459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r">
              <a:spcAft>
                <a:spcPts val="200"/>
              </a:spcAft>
            </a:pPr>
            <a:r>
              <a:rPr sz="800" b="0">
                <a:solidFill>
                  <a:srgbClr val="687068"/>
                </a:solidFill>
                <a:latin typeface="Noto Sans CJK SC"/>
              </a:rPr>
              <a:t>基于已提交的案例分析与个人设计 PPT</a:t>
            </a:r>
          </a:p>
        </p:txBody>
      </p:sp>
      <p:pic>
        <p:nvPicPr>
          <p:cNvPr id="9" name="Picture 8" descr="slide-1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417320"/>
            <a:ext cx="5303520" cy="3154680"/>
          </a:xfrm>
          <a:prstGeom prst="rect">
            <a:avLst/>
          </a:prstGeom>
        </p:spPr>
      </p:pic>
      <p:sp>
        <p:nvSpPr>
          <p:cNvPr id="10" name="Rounded Rectangle 9"/>
          <p:cNvSpPr/>
          <p:nvPr/>
        </p:nvSpPr>
        <p:spPr>
          <a:xfrm>
            <a:off x="640080" y="4736592"/>
            <a:ext cx="1417320" cy="292608"/>
          </a:xfrm>
          <a:prstGeom prst="roundRect">
            <a:avLst/>
          </a:prstGeom>
          <a:solidFill>
            <a:srgbClr val="69844F"/>
          </a:solidFill>
          <a:ln w="10160">
            <a:solidFill>
              <a:srgbClr val="6984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94944" y="4764024"/>
            <a:ext cx="1307592" cy="192024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ctr">
              <a:spcAft>
                <a:spcPts val="200"/>
              </a:spcAft>
            </a:pPr>
            <a:r>
              <a:rPr sz="900" b="1">
                <a:solidFill>
                  <a:srgbClr val="FFFFFF"/>
                </a:solidFill>
                <a:latin typeface="Noto Sans CJK SC"/>
              </a:rPr>
              <a:t>现有学习借鉴页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172200" y="1463040"/>
            <a:ext cx="4846320" cy="32004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500" b="1">
                <a:solidFill>
                  <a:srgbClr val="2A3530"/>
                </a:solidFill>
                <a:latin typeface="Noto Sans CJK SC"/>
              </a:rPr>
              <a:t>建议把案例结论压缩为三条可核查的设计决策：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72200" y="1920240"/>
            <a:ext cx="5074920" cy="987552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CDD2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172200" y="1920240"/>
            <a:ext cx="73152" cy="987552"/>
          </a:xfrm>
          <a:prstGeom prst="rect">
            <a:avLst/>
          </a:prstGeom>
          <a:solidFill>
            <a:srgbClr val="4C7130"/>
          </a:solidFill>
          <a:ln w="10160">
            <a:solidFill>
              <a:srgbClr val="4C71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373368" y="2057400"/>
            <a:ext cx="4754880" cy="25603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2A3530"/>
                </a:solidFill>
                <a:latin typeface="Noto Sans CJK SC"/>
              </a:rPr>
              <a:t>A｜保留什么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73368" y="2395728"/>
            <a:ext cx="4745736" cy="420624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030" b="0">
                <a:solidFill>
                  <a:srgbClr val="687068"/>
                </a:solidFill>
                <a:latin typeface="Noto Sans CJK SC"/>
              </a:rPr>
              <a:t>保留煤棚柱网、钢桁架、棚顶和工业记忆节点；在总图和剖面中用统一线型明确“原有/新增”。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172200" y="3090672"/>
            <a:ext cx="5074920" cy="987552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CDD2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172200" y="3090672"/>
            <a:ext cx="73152" cy="987552"/>
          </a:xfrm>
          <a:prstGeom prst="rect">
            <a:avLst/>
          </a:prstGeom>
          <a:solidFill>
            <a:srgbClr val="AE6C40"/>
          </a:solidFill>
          <a:ln w="10160">
            <a:solidFill>
              <a:srgbClr val="AE6C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373368" y="3227832"/>
            <a:ext cx="4754880" cy="25603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2A3530"/>
                </a:solidFill>
                <a:latin typeface="Noto Sans CJK SC"/>
              </a:rPr>
              <a:t>B｜新建如何脱开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373368" y="3566160"/>
            <a:ext cx="4745736" cy="420624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030" b="0">
                <a:solidFill>
                  <a:srgbClr val="687068"/>
                </a:solidFill>
                <a:latin typeface="Noto Sans CJK SC"/>
              </a:rPr>
              <a:t>平台、盒子和楼梯采用独立支撑，明确与原柱、桁架的间距、连接方式和可拆卸逻辑。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172200" y="4261104"/>
            <a:ext cx="5074920" cy="987552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CDD2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172200" y="4261104"/>
            <a:ext cx="73152" cy="987552"/>
          </a:xfrm>
          <a:prstGeom prst="rect">
            <a:avLst/>
          </a:prstGeom>
          <a:solidFill>
            <a:srgbClr val="69844F"/>
          </a:solidFill>
          <a:ln w="10160">
            <a:solidFill>
              <a:srgbClr val="6984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373368" y="4398264"/>
            <a:ext cx="4754880" cy="25603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2A3530"/>
                </a:solidFill>
                <a:latin typeface="Noto Sans CJK SC"/>
              </a:rPr>
              <a:t>C｜生态如何落地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373368" y="4736592"/>
            <a:ext cx="4745736" cy="420624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030" b="0">
                <a:solidFill>
                  <a:srgbClr val="687068"/>
                </a:solidFill>
                <a:latin typeface="Noto Sans CJK SC"/>
              </a:rPr>
              <a:t>把城市森林、下沉空间、通风开口和雨水收集转译成你的平面节点、剖面节点和性能指标。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40080" y="5257800"/>
            <a:ext cx="5303520" cy="868680"/>
          </a:xfrm>
          <a:prstGeom prst="roundRect">
            <a:avLst/>
          </a:prstGeom>
          <a:solidFill>
            <a:srgbClr val="ECF0E5"/>
          </a:solidFill>
          <a:ln w="10160">
            <a:solidFill>
              <a:srgbClr val="4C71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68680" y="5504688"/>
            <a:ext cx="4754880" cy="27432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4C7130"/>
                </a:solidFill>
                <a:latin typeface="Noto Sans CJK SC"/>
              </a:rPr>
              <a:t>新增一页：两案对比 → 干煤棚设计转译矩阵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172200" y="5532120"/>
            <a:ext cx="5029200" cy="50292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100" b="0">
                <a:solidFill>
                  <a:srgbClr val="687068"/>
                </a:solidFill>
                <a:latin typeface="Noto Sans CJK SC"/>
              </a:rPr>
              <a:t>矩阵每行写清：案例证据｜你的设计动作｜对应图纸｜后续验证方式。这样案例分析会直接服务于个人方案，而不是停留在资料展示。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6F0"/>
          </a:solidFill>
          <a:ln w="10160">
            <a:solidFill>
              <a:srgbClr val="F7F6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2560320" cy="22860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900" b="1">
                <a:solidFill>
                  <a:srgbClr val="4C7130"/>
                </a:solidFill>
                <a:latin typeface="Noto Sans CJK SC"/>
              </a:rPr>
              <a:t>02 个人设计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02920"/>
            <a:ext cx="10241280" cy="50292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2500" b="1">
                <a:solidFill>
                  <a:srgbClr val="2A3530"/>
                </a:solidFill>
                <a:latin typeface="Noto Sans CJK SC"/>
              </a:rPr>
              <a:t>个人设计：概念清楚，但需要把尺寸和结构关系“钉住”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01400" y="338328"/>
            <a:ext cx="502920" cy="32004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r">
              <a:spcAft>
                <a:spcPts val="200"/>
              </a:spcAft>
            </a:pPr>
            <a:r>
              <a:rPr sz="1800" b="1">
                <a:solidFill>
                  <a:srgbClr val="69844F"/>
                </a:solidFill>
                <a:latin typeface="Noto Sans CJK SC"/>
              </a:rPr>
              <a:t>05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115568"/>
            <a:ext cx="11155680" cy="12700"/>
          </a:xfrm>
          <a:prstGeom prst="rect">
            <a:avLst/>
          </a:prstGeom>
          <a:solidFill>
            <a:srgbClr val="CDD2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6537960"/>
            <a:ext cx="4572000" cy="16459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800" b="0">
                <a:solidFill>
                  <a:srgbClr val="687068"/>
                </a:solidFill>
                <a:latin typeface="Noto Sans CJK SC"/>
              </a:rPr>
              <a:t>建筑生态策略｜汇报文件检查与修改建议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80960" y="6537960"/>
            <a:ext cx="3977639" cy="16459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r">
              <a:spcAft>
                <a:spcPts val="200"/>
              </a:spcAft>
            </a:pPr>
            <a:r>
              <a:rPr sz="800" b="0">
                <a:solidFill>
                  <a:srgbClr val="687068"/>
                </a:solidFill>
                <a:latin typeface="Noto Sans CJK SC"/>
              </a:rPr>
              <a:t>基于已提交的案例分析与个人设计 PPT</a:t>
            </a:r>
          </a:p>
        </p:txBody>
      </p:sp>
      <p:pic>
        <p:nvPicPr>
          <p:cNvPr id="9" name="Picture 8" descr="slide-0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417320"/>
            <a:ext cx="5577840" cy="3063240"/>
          </a:xfrm>
          <a:prstGeom prst="rect">
            <a:avLst/>
          </a:prstGeom>
        </p:spPr>
      </p:pic>
      <p:sp>
        <p:nvSpPr>
          <p:cNvPr id="10" name="Rounded Rectangle 9"/>
          <p:cNvSpPr/>
          <p:nvPr/>
        </p:nvSpPr>
        <p:spPr>
          <a:xfrm>
            <a:off x="640080" y="4617720"/>
            <a:ext cx="1234440" cy="292608"/>
          </a:xfrm>
          <a:prstGeom prst="roundRect">
            <a:avLst/>
          </a:prstGeom>
          <a:solidFill>
            <a:srgbClr val="4C7130"/>
          </a:solidFill>
          <a:ln w="10160">
            <a:solidFill>
              <a:srgbClr val="4C71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94944" y="4645152"/>
            <a:ext cx="1124712" cy="192024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ctr">
              <a:spcAft>
                <a:spcPts val="200"/>
              </a:spcAft>
            </a:pPr>
            <a:r>
              <a:rPr sz="900" b="1">
                <a:solidFill>
                  <a:srgbClr val="FFFFFF"/>
                </a:solidFill>
                <a:latin typeface="Noto Sans CJK SC"/>
              </a:rPr>
              <a:t>建筑策略页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73952" y="1417320"/>
            <a:ext cx="4983480" cy="114300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CDD2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473952" y="1417320"/>
            <a:ext cx="73152" cy="1143000"/>
          </a:xfrm>
          <a:prstGeom prst="rect">
            <a:avLst/>
          </a:prstGeom>
          <a:solidFill>
            <a:srgbClr val="AE6C40"/>
          </a:solidFill>
          <a:ln w="10160">
            <a:solidFill>
              <a:srgbClr val="AE6C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675120" y="1554480"/>
            <a:ext cx="4663440" cy="25603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2A3530"/>
                </a:solidFill>
                <a:latin typeface="Noto Sans CJK SC"/>
              </a:rPr>
              <a:t>问题 01｜关键尺寸没有进入主叙事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675120" y="1892808"/>
            <a:ext cx="4654296" cy="57607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030" b="0">
                <a:solidFill>
                  <a:srgbClr val="687068"/>
                </a:solidFill>
                <a:latin typeface="Noto Sans CJK SC"/>
              </a:rPr>
              <a:t>已知的 216m、40.5m、网架下高 18.5m、檐口 21.37m，以及二层平台标高、横向开放联系等没有在策略页与平面页持续出现。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73952" y="2724912"/>
            <a:ext cx="4983480" cy="114300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CDD2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473952" y="2724912"/>
            <a:ext cx="73152" cy="1143000"/>
          </a:xfrm>
          <a:prstGeom prst="rect">
            <a:avLst/>
          </a:prstGeom>
          <a:solidFill>
            <a:srgbClr val="4C7130"/>
          </a:solidFill>
          <a:ln w="10160">
            <a:solidFill>
              <a:srgbClr val="4C71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675120" y="2862072"/>
            <a:ext cx="4663440" cy="25603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2A3530"/>
                </a:solidFill>
                <a:latin typeface="Noto Sans CJK SC"/>
              </a:rPr>
              <a:t>问题 02｜“避让柱网”与“结构关系”缺少图示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675120" y="3200400"/>
            <a:ext cx="4654296" cy="57607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030" b="0">
                <a:solidFill>
                  <a:srgbClr val="687068"/>
                </a:solidFill>
                <a:latin typeface="Noto Sans CJK SC"/>
              </a:rPr>
              <a:t>文字说明新体量脱离原柱网，但没有用轴网、独立支撑、变形缝或节点示意证明新旧体系如何共存。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473952" y="4032504"/>
            <a:ext cx="4983480" cy="114300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CDD2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473952" y="4032504"/>
            <a:ext cx="73152" cy="1143000"/>
          </a:xfrm>
          <a:prstGeom prst="rect">
            <a:avLst/>
          </a:prstGeom>
          <a:solidFill>
            <a:srgbClr val="69844F"/>
          </a:solidFill>
          <a:ln w="10160">
            <a:solidFill>
              <a:srgbClr val="6984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675120" y="4169664"/>
            <a:ext cx="4663440" cy="25603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2A3530"/>
                </a:solidFill>
                <a:latin typeface="Noto Sans CJK SC"/>
              </a:rPr>
              <a:t>问题 03｜三段功能与公共主线需要更明确的运营逻辑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675120" y="4507992"/>
            <a:ext cx="4654296" cy="57607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030" b="0">
                <a:solidFill>
                  <a:srgbClr val="687068"/>
                </a:solidFill>
                <a:latin typeface="Noto Sans CJK SC"/>
              </a:rPr>
              <a:t>文化段、日常段、滨江段已经成立，但入口、后勤、餐饮、活动教室和夜间使用的开放/关闭边界还没有表达。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0080" y="5742432"/>
            <a:ext cx="10789920" cy="32004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300" b="1">
                <a:solidFill>
                  <a:srgbClr val="2A3530"/>
                </a:solidFill>
                <a:latin typeface="Noto Sans CJK SC"/>
              </a:rPr>
              <a:t>修改办法：在策略页增加“尺寸底图 + 结构图例 + 运营时段”三条信息带；把一层、二层、剖面统一使用同一组轴线和编号。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6F0"/>
          </a:solidFill>
          <a:ln w="10160">
            <a:solidFill>
              <a:srgbClr val="F7F6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2560320" cy="22860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900" b="1">
                <a:solidFill>
                  <a:srgbClr val="4C7130"/>
                </a:solidFill>
                <a:latin typeface="Noto Sans CJK SC"/>
              </a:rPr>
              <a:t>02 个人设计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02920"/>
            <a:ext cx="10241280" cy="50292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2500" b="1">
                <a:solidFill>
                  <a:srgbClr val="2A3530"/>
                </a:solidFill>
                <a:latin typeface="Noto Sans CJK SC"/>
              </a:rPr>
              <a:t>平面图是目前最需要补强的部分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01400" y="338328"/>
            <a:ext cx="502920" cy="32004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r">
              <a:spcAft>
                <a:spcPts val="200"/>
              </a:spcAft>
            </a:pPr>
            <a:r>
              <a:rPr sz="1800" b="1">
                <a:solidFill>
                  <a:srgbClr val="69844F"/>
                </a:solidFill>
                <a:latin typeface="Noto Sans CJK SC"/>
              </a:rPr>
              <a:t>06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115568"/>
            <a:ext cx="11155680" cy="12700"/>
          </a:xfrm>
          <a:prstGeom prst="rect">
            <a:avLst/>
          </a:prstGeom>
          <a:solidFill>
            <a:srgbClr val="CDD2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6537960"/>
            <a:ext cx="4572000" cy="16459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800" b="0">
                <a:solidFill>
                  <a:srgbClr val="687068"/>
                </a:solidFill>
                <a:latin typeface="Noto Sans CJK SC"/>
              </a:rPr>
              <a:t>建筑生态策略｜汇报文件检查与修改建议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80960" y="6537960"/>
            <a:ext cx="3977639" cy="16459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r">
              <a:spcAft>
                <a:spcPts val="200"/>
              </a:spcAft>
            </a:pPr>
            <a:r>
              <a:rPr sz="800" b="0">
                <a:solidFill>
                  <a:srgbClr val="687068"/>
                </a:solidFill>
                <a:latin typeface="Noto Sans CJK SC"/>
              </a:rPr>
              <a:t>基于已提交的案例分析与个人设计 PPT</a:t>
            </a:r>
          </a:p>
        </p:txBody>
      </p:sp>
      <p:pic>
        <p:nvPicPr>
          <p:cNvPr id="9" name="Picture 8" descr="slide-0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353312"/>
            <a:ext cx="5394960" cy="2377440"/>
          </a:xfrm>
          <a:prstGeom prst="rect">
            <a:avLst/>
          </a:prstGeom>
        </p:spPr>
      </p:pic>
      <p:pic>
        <p:nvPicPr>
          <p:cNvPr id="10" name="Picture 9" descr="slide-05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3968496"/>
            <a:ext cx="5394960" cy="2057400"/>
          </a:xfrm>
          <a:prstGeom prst="rect">
            <a:avLst/>
          </a:prstGeom>
        </p:spPr>
      </p:pic>
      <p:sp>
        <p:nvSpPr>
          <p:cNvPr id="11" name="Rounded Rectangle 10"/>
          <p:cNvSpPr/>
          <p:nvPr/>
        </p:nvSpPr>
        <p:spPr>
          <a:xfrm>
            <a:off x="640080" y="1353312"/>
            <a:ext cx="731520" cy="292608"/>
          </a:xfrm>
          <a:prstGeom prst="roundRect">
            <a:avLst/>
          </a:prstGeom>
          <a:solidFill>
            <a:srgbClr val="4C7130"/>
          </a:solidFill>
          <a:ln w="10160">
            <a:solidFill>
              <a:srgbClr val="4C71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94944" y="1380744"/>
            <a:ext cx="621792" cy="192024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ctr">
              <a:spcAft>
                <a:spcPts val="200"/>
              </a:spcAft>
            </a:pPr>
            <a:r>
              <a:rPr sz="900" b="1">
                <a:solidFill>
                  <a:srgbClr val="FFFFFF"/>
                </a:solidFill>
                <a:latin typeface="Noto Sans CJK SC"/>
              </a:rPr>
              <a:t>一层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" y="3968496"/>
            <a:ext cx="731520" cy="292608"/>
          </a:xfrm>
          <a:prstGeom prst="roundRect">
            <a:avLst/>
          </a:prstGeom>
          <a:solidFill>
            <a:srgbClr val="AE6C40"/>
          </a:solidFill>
          <a:ln w="10160">
            <a:solidFill>
              <a:srgbClr val="AE6C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94944" y="3995928"/>
            <a:ext cx="621792" cy="192024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ctr">
              <a:spcAft>
                <a:spcPts val="200"/>
              </a:spcAft>
            </a:pPr>
            <a:r>
              <a:rPr sz="900" b="1">
                <a:solidFill>
                  <a:srgbClr val="FFFFFF"/>
                </a:solidFill>
                <a:latin typeface="Noto Sans CJK SC"/>
              </a:rPr>
              <a:t>二层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0" y="1389888"/>
            <a:ext cx="4754880" cy="34747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500" b="1">
                <a:solidFill>
                  <a:srgbClr val="2A3530"/>
                </a:solidFill>
                <a:latin typeface="Noto Sans CJK SC"/>
              </a:rPr>
              <a:t>两张平面目前更像“功能概念图”，距离正式竞赛图纸还差一轮技术信息补全。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0" y="1947672"/>
            <a:ext cx="4983480" cy="804672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CDD2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400800" y="1947672"/>
            <a:ext cx="73152" cy="804672"/>
          </a:xfrm>
          <a:prstGeom prst="rect">
            <a:avLst/>
          </a:prstGeom>
          <a:solidFill>
            <a:srgbClr val="4C7130"/>
          </a:solidFill>
          <a:ln w="10160">
            <a:solidFill>
              <a:srgbClr val="4C71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601968" y="2084831"/>
            <a:ext cx="4663440" cy="25603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2A3530"/>
                </a:solidFill>
                <a:latin typeface="Noto Sans CJK SC"/>
              </a:rPr>
              <a:t>图纸基线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601968" y="2423160"/>
            <a:ext cx="4654296" cy="237744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030" b="0">
                <a:solidFill>
                  <a:srgbClr val="687068"/>
                </a:solidFill>
                <a:latin typeface="Noto Sans CJK SC"/>
              </a:rPr>
              <a:t>补北向、比例尺、轴网、柱号、标高、剖切符号、楼梯/电梯编号和统一图例。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400800" y="2907791"/>
            <a:ext cx="4983480" cy="804672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CDD2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400800" y="2907791"/>
            <a:ext cx="73152" cy="804672"/>
          </a:xfrm>
          <a:prstGeom prst="rect">
            <a:avLst/>
          </a:prstGeom>
          <a:solidFill>
            <a:srgbClr val="AE6C40"/>
          </a:solidFill>
          <a:ln w="10160">
            <a:solidFill>
              <a:srgbClr val="AE6C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601968" y="3044951"/>
            <a:ext cx="4663440" cy="25603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2A3530"/>
                </a:solidFill>
                <a:latin typeface="Noto Sans CJK SC"/>
              </a:rPr>
              <a:t>面积与尺寸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601968" y="3383279"/>
            <a:ext cx="4654296" cy="237744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030" b="0">
                <a:solidFill>
                  <a:srgbClr val="687068"/>
                </a:solidFill>
                <a:latin typeface="Noto Sans CJK SC"/>
              </a:rPr>
              <a:t>标注总长、分段长度、主要房间面积、公共步道宽度、下沉深度、平台面积和建筑面积核算。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400800" y="3867912"/>
            <a:ext cx="4983480" cy="804672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CDD2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6400800" y="3867912"/>
            <a:ext cx="73152" cy="804672"/>
          </a:xfrm>
          <a:prstGeom prst="rect">
            <a:avLst/>
          </a:prstGeom>
          <a:solidFill>
            <a:srgbClr val="69844F"/>
          </a:solidFill>
          <a:ln w="10160">
            <a:solidFill>
              <a:srgbClr val="6984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601968" y="4005072"/>
            <a:ext cx="4663440" cy="25603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2A3530"/>
                </a:solidFill>
                <a:latin typeface="Noto Sans CJK SC"/>
              </a:rPr>
              <a:t>安全与可达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601968" y="4343400"/>
            <a:ext cx="4654296" cy="237744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030" b="0">
                <a:solidFill>
                  <a:srgbClr val="687068"/>
                </a:solidFill>
                <a:latin typeface="Noto Sans CJK SC"/>
              </a:rPr>
              <a:t>补主次疏散、疏散距离、无障碍路径、扶手/栏杆、消防分区、厨房后勤流线和卫生间位置。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400800" y="4828032"/>
            <a:ext cx="4983480" cy="804672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CDD2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6400800" y="4828032"/>
            <a:ext cx="73152" cy="804672"/>
          </a:xfrm>
          <a:prstGeom prst="rect">
            <a:avLst/>
          </a:prstGeom>
          <a:solidFill>
            <a:srgbClr val="4C7130"/>
          </a:solidFill>
          <a:ln w="10160">
            <a:solidFill>
              <a:srgbClr val="4C71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601968" y="4965192"/>
            <a:ext cx="4663440" cy="25603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2A3530"/>
                </a:solidFill>
                <a:latin typeface="Noto Sans CJK SC"/>
              </a:rPr>
              <a:t>剖面支撑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601968" y="5303520"/>
            <a:ext cx="4654296" cy="237744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030" b="0">
                <a:solidFill>
                  <a:srgbClr val="687068"/>
                </a:solidFill>
                <a:latin typeface="Noto Sans CJK SC"/>
              </a:rPr>
              <a:t>至少配 A-A 剖到下沉广场、B-B 不剖下沉广场两张，表达原柱、网架、屋顶、平台独立支撑和空井。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6F0"/>
          </a:solidFill>
          <a:ln w="10160">
            <a:solidFill>
              <a:srgbClr val="F7F6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2560320" cy="22860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900" b="1">
                <a:solidFill>
                  <a:srgbClr val="4C7130"/>
                </a:solidFill>
                <a:latin typeface="Noto Sans CJK SC"/>
              </a:rPr>
              <a:t>02 个人设计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02920"/>
            <a:ext cx="10241280" cy="50292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2500" b="1">
                <a:solidFill>
                  <a:srgbClr val="2A3530"/>
                </a:solidFill>
                <a:latin typeface="Noto Sans CJK SC"/>
              </a:rPr>
              <a:t>生态策略有方向，但还没有形成可验证的性能链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01400" y="338328"/>
            <a:ext cx="502920" cy="32004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r">
              <a:spcAft>
                <a:spcPts val="200"/>
              </a:spcAft>
            </a:pPr>
            <a:r>
              <a:rPr sz="1800" b="1">
                <a:solidFill>
                  <a:srgbClr val="69844F"/>
                </a:solidFill>
                <a:latin typeface="Noto Sans CJK SC"/>
              </a:rPr>
              <a:t>07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115568"/>
            <a:ext cx="11155680" cy="12700"/>
          </a:xfrm>
          <a:prstGeom prst="rect">
            <a:avLst/>
          </a:prstGeom>
          <a:solidFill>
            <a:srgbClr val="CDD2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6537960"/>
            <a:ext cx="4572000" cy="16459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800" b="0">
                <a:solidFill>
                  <a:srgbClr val="687068"/>
                </a:solidFill>
                <a:latin typeface="Noto Sans CJK SC"/>
              </a:rPr>
              <a:t>建筑生态策略｜汇报文件检查与修改建议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80960" y="6537960"/>
            <a:ext cx="3977639" cy="16459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r">
              <a:spcAft>
                <a:spcPts val="200"/>
              </a:spcAft>
            </a:pPr>
            <a:r>
              <a:rPr sz="800" b="0">
                <a:solidFill>
                  <a:srgbClr val="687068"/>
                </a:solidFill>
                <a:latin typeface="Noto Sans CJK SC"/>
              </a:rPr>
              <a:t>基于已提交的案例分析与个人设计 PPT</a:t>
            </a:r>
          </a:p>
        </p:txBody>
      </p:sp>
      <p:pic>
        <p:nvPicPr>
          <p:cNvPr id="9" name="Picture 8" descr="slide-0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399032"/>
            <a:ext cx="5394960" cy="3246120"/>
          </a:xfrm>
          <a:prstGeom prst="rect">
            <a:avLst/>
          </a:prstGeom>
        </p:spPr>
      </p:pic>
      <p:sp>
        <p:nvSpPr>
          <p:cNvPr id="10" name="Rounded Rectangle 9"/>
          <p:cNvSpPr/>
          <p:nvPr/>
        </p:nvSpPr>
        <p:spPr>
          <a:xfrm>
            <a:off x="640080" y="4800600"/>
            <a:ext cx="1143000" cy="292608"/>
          </a:xfrm>
          <a:prstGeom prst="roundRect">
            <a:avLst/>
          </a:prstGeom>
          <a:solidFill>
            <a:srgbClr val="69844F"/>
          </a:solidFill>
          <a:ln w="10160">
            <a:solidFill>
              <a:srgbClr val="6984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94944" y="4828032"/>
            <a:ext cx="1033271" cy="192024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ctr">
              <a:spcAft>
                <a:spcPts val="200"/>
              </a:spcAft>
            </a:pPr>
            <a:r>
              <a:rPr sz="900" b="1">
                <a:solidFill>
                  <a:srgbClr val="FFFFFF"/>
                </a:solidFill>
                <a:latin typeface="Noto Sans CJK SC"/>
              </a:rPr>
              <a:t>生态策略页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00800" y="1399032"/>
            <a:ext cx="4983480" cy="1078992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CDD2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400800" y="1399032"/>
            <a:ext cx="73152" cy="1078992"/>
          </a:xfrm>
          <a:prstGeom prst="rect">
            <a:avLst/>
          </a:prstGeom>
          <a:solidFill>
            <a:srgbClr val="AE6C40"/>
          </a:solidFill>
          <a:ln w="10160">
            <a:solidFill>
              <a:srgbClr val="AE6C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601968" y="1536192"/>
            <a:ext cx="4663440" cy="25603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2A3530"/>
                </a:solidFill>
                <a:latin typeface="Noto Sans CJK SC"/>
              </a:rPr>
              <a:t>问题 01｜光照、通风、雨水仍是概念描述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601968" y="1874519"/>
            <a:ext cx="4654296" cy="512063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030" b="0">
                <a:solidFill>
                  <a:srgbClr val="687068"/>
                </a:solidFill>
                <a:latin typeface="Noto Sans CJK SC"/>
              </a:rPr>
              <a:t>页面提出日照分析、CFD、屋面雨水和树池排水，但没有基准工况、模拟范围、评价指标或结果图。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0" y="2642616"/>
            <a:ext cx="4983480" cy="1078992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CDD2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400800" y="2642616"/>
            <a:ext cx="73152" cy="1078992"/>
          </a:xfrm>
          <a:prstGeom prst="rect">
            <a:avLst/>
          </a:prstGeom>
          <a:solidFill>
            <a:srgbClr val="4C7130"/>
          </a:solidFill>
          <a:ln w="10160">
            <a:solidFill>
              <a:srgbClr val="4C71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601968" y="2779776"/>
            <a:ext cx="4663440" cy="25603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2A3530"/>
                </a:solidFill>
                <a:latin typeface="Noto Sans CJK SC"/>
              </a:rPr>
              <a:t>问题 02｜雨洪链条缺少截面与维护节点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601968" y="3118104"/>
            <a:ext cx="4654296" cy="512063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030" b="0">
                <a:solidFill>
                  <a:srgbClr val="687068"/>
                </a:solidFill>
                <a:latin typeface="Noto Sans CJK SC"/>
              </a:rPr>
              <a:t>需要说明屋面落水 → 初期弃流/过滤 → 树池或下沉花园 → 溢流 → 市政排水的路径、容量和检修方式。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400800" y="3886200"/>
            <a:ext cx="4983480" cy="1078992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CDD2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400800" y="3886200"/>
            <a:ext cx="73152" cy="1078992"/>
          </a:xfrm>
          <a:prstGeom prst="rect">
            <a:avLst/>
          </a:prstGeom>
          <a:solidFill>
            <a:srgbClr val="69844F"/>
          </a:solidFill>
          <a:ln w="10160">
            <a:solidFill>
              <a:srgbClr val="6984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601968" y="4023360"/>
            <a:ext cx="4663440" cy="25603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2A3530"/>
                </a:solidFill>
                <a:latin typeface="Noto Sans CJK SC"/>
              </a:rPr>
              <a:t>问题 03｜“通风开口”与棚顶关系需更准确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601968" y="4361688"/>
            <a:ext cx="4654296" cy="512063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030" b="0">
                <a:solidFill>
                  <a:srgbClr val="687068"/>
                </a:solidFill>
                <a:latin typeface="Noto Sans CJK SC"/>
              </a:rPr>
              <a:t>棚顶开口、侧向开放和二层平台之间要在剖面中对应；还要说明雨水防护、夏季暴雨和夜间安全。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40080" y="5504688"/>
            <a:ext cx="10744200" cy="658368"/>
          </a:xfrm>
          <a:prstGeom prst="roundRect">
            <a:avLst/>
          </a:prstGeom>
          <a:solidFill>
            <a:srgbClr val="E7EFF2"/>
          </a:solidFill>
          <a:ln w="10160">
            <a:solidFill>
              <a:srgbClr val="6984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68680" y="5705856"/>
            <a:ext cx="10241280" cy="25603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2A3530"/>
                </a:solidFill>
                <a:latin typeface="Noto Sans CJK SC"/>
              </a:rPr>
              <a:t>建议新增“生态验证页”：日照/风环境示意 + 雨水剖面 + 关键指标（绿化率、透水率、年径流控制、遮阴面积、维护频次）。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6F0"/>
          </a:solidFill>
          <a:ln w="10160">
            <a:solidFill>
              <a:srgbClr val="F7F6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2560320" cy="22860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900" b="1">
                <a:solidFill>
                  <a:srgbClr val="4C7130"/>
                </a:solidFill>
                <a:latin typeface="Noto Sans CJK SC"/>
              </a:rPr>
              <a:t>02 个人设计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02920"/>
            <a:ext cx="10241280" cy="50292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2500" b="1">
                <a:solidFill>
                  <a:srgbClr val="2A3530"/>
                </a:solidFill>
                <a:latin typeface="Noto Sans CJK SC"/>
              </a:rPr>
              <a:t>植物配置表有基础，但需补充适生性、维护和空间约束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01400" y="338328"/>
            <a:ext cx="502920" cy="32004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r">
              <a:spcAft>
                <a:spcPts val="200"/>
              </a:spcAft>
            </a:pPr>
            <a:r>
              <a:rPr sz="1800" b="1">
                <a:solidFill>
                  <a:srgbClr val="69844F"/>
                </a:solidFill>
                <a:latin typeface="Noto Sans CJK SC"/>
              </a:rPr>
              <a:t>08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115568"/>
            <a:ext cx="11155680" cy="12700"/>
          </a:xfrm>
          <a:prstGeom prst="rect">
            <a:avLst/>
          </a:prstGeom>
          <a:solidFill>
            <a:srgbClr val="CDD2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6537960"/>
            <a:ext cx="4572000" cy="16459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800" b="0">
                <a:solidFill>
                  <a:srgbClr val="687068"/>
                </a:solidFill>
                <a:latin typeface="Noto Sans CJK SC"/>
              </a:rPr>
              <a:t>建筑生态策略｜汇报文件检查与修改建议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80960" y="6537960"/>
            <a:ext cx="3977639" cy="16459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r">
              <a:spcAft>
                <a:spcPts val="200"/>
              </a:spcAft>
            </a:pPr>
            <a:r>
              <a:rPr sz="800" b="0">
                <a:solidFill>
                  <a:srgbClr val="687068"/>
                </a:solidFill>
                <a:latin typeface="Noto Sans CJK SC"/>
              </a:rPr>
              <a:t>基于已提交的案例分析与个人设计 PPT</a:t>
            </a:r>
          </a:p>
        </p:txBody>
      </p:sp>
      <p:pic>
        <p:nvPicPr>
          <p:cNvPr id="9" name="Picture 8" descr="slide-0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399032"/>
            <a:ext cx="5486400" cy="2560320"/>
          </a:xfrm>
          <a:prstGeom prst="rect">
            <a:avLst/>
          </a:prstGeom>
        </p:spPr>
      </p:pic>
      <p:pic>
        <p:nvPicPr>
          <p:cNvPr id="10" name="Picture 9" descr="slide-1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4096512"/>
            <a:ext cx="5486400" cy="1920240"/>
          </a:xfrm>
          <a:prstGeom prst="rect">
            <a:avLst/>
          </a:prstGeom>
        </p:spPr>
      </p:pic>
      <p:sp>
        <p:nvSpPr>
          <p:cNvPr id="11" name="Rounded Rectangle 10"/>
          <p:cNvSpPr/>
          <p:nvPr/>
        </p:nvSpPr>
        <p:spPr>
          <a:xfrm>
            <a:off x="640080" y="1399032"/>
            <a:ext cx="731520" cy="292608"/>
          </a:xfrm>
          <a:prstGeom prst="roundRect">
            <a:avLst/>
          </a:prstGeom>
          <a:solidFill>
            <a:srgbClr val="4C7130"/>
          </a:solidFill>
          <a:ln w="10160">
            <a:solidFill>
              <a:srgbClr val="4C71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94944" y="1426464"/>
            <a:ext cx="621792" cy="192024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ctr">
              <a:spcAft>
                <a:spcPts val="200"/>
              </a:spcAft>
            </a:pPr>
            <a:r>
              <a:rPr sz="900" b="1">
                <a:solidFill>
                  <a:srgbClr val="FFFFFF"/>
                </a:solidFill>
                <a:latin typeface="Noto Sans CJK SC"/>
              </a:rPr>
              <a:t>乔木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" y="4096512"/>
            <a:ext cx="731520" cy="292608"/>
          </a:xfrm>
          <a:prstGeom prst="roundRect">
            <a:avLst/>
          </a:prstGeom>
          <a:solidFill>
            <a:srgbClr val="69844F"/>
          </a:solidFill>
          <a:ln w="10160">
            <a:solidFill>
              <a:srgbClr val="6984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94944" y="4123944"/>
            <a:ext cx="621792" cy="192024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ctr">
              <a:spcAft>
                <a:spcPts val="200"/>
              </a:spcAft>
            </a:pPr>
            <a:r>
              <a:rPr sz="900" b="1">
                <a:solidFill>
                  <a:srgbClr val="FFFFFF"/>
                </a:solidFill>
                <a:latin typeface="Noto Sans CJK SC"/>
              </a:rPr>
              <a:t>地被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28232" y="1399032"/>
            <a:ext cx="4965192" cy="987552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CDD2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428232" y="1399032"/>
            <a:ext cx="73152" cy="987552"/>
          </a:xfrm>
          <a:prstGeom prst="rect">
            <a:avLst/>
          </a:prstGeom>
          <a:solidFill>
            <a:srgbClr val="AE6C40"/>
          </a:solidFill>
          <a:ln w="10160">
            <a:solidFill>
              <a:srgbClr val="AE6C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629400" y="1536192"/>
            <a:ext cx="4645152" cy="25603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2A3530"/>
                </a:solidFill>
                <a:latin typeface="Noto Sans CJK SC"/>
              </a:rPr>
              <a:t>植物信息需要统一到可实施层级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629400" y="1874519"/>
            <a:ext cx="4636007" cy="420624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030" b="0">
                <a:solidFill>
                  <a:srgbClr val="687068"/>
                </a:solidFill>
                <a:latin typeface="Noto Sans CJK SC"/>
              </a:rPr>
              <a:t>建议补拉丁学名、冠幅、根系/土层需求、耐阴等级、耐涝等级、成龄高度和养护频次；“九里香青”等名称需核对。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428232" y="2569464"/>
            <a:ext cx="4965192" cy="987552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CDD2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428232" y="2569464"/>
            <a:ext cx="73152" cy="987552"/>
          </a:xfrm>
          <a:prstGeom prst="rect">
            <a:avLst/>
          </a:prstGeom>
          <a:solidFill>
            <a:srgbClr val="4C7130"/>
          </a:solidFill>
          <a:ln w="10160">
            <a:solidFill>
              <a:srgbClr val="4C71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629400" y="2706624"/>
            <a:ext cx="4645152" cy="25603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2A3530"/>
                </a:solidFill>
                <a:latin typeface="Noto Sans CJK SC"/>
              </a:rPr>
              <a:t>大乔木与室内空井的约束未展开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629400" y="3044952"/>
            <a:ext cx="4636007" cy="420624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030" b="0">
                <a:solidFill>
                  <a:srgbClr val="687068"/>
                </a:solidFill>
                <a:latin typeface="Noto Sans CJK SC"/>
              </a:rPr>
              <a:t>树木贯穿一、二层需要根区、种植池结构、防水、排水、检修、风荷载和采光条件；不能只用效果图表达。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428232" y="3739896"/>
            <a:ext cx="4965192" cy="987552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CDD2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6428232" y="3739896"/>
            <a:ext cx="73152" cy="987552"/>
          </a:xfrm>
          <a:prstGeom prst="rect">
            <a:avLst/>
          </a:prstGeom>
          <a:solidFill>
            <a:srgbClr val="69844F"/>
          </a:solidFill>
          <a:ln w="10160">
            <a:solidFill>
              <a:srgbClr val="6984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629400" y="3877056"/>
            <a:ext cx="4645152" cy="25603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2A3530"/>
                </a:solidFill>
                <a:latin typeface="Noto Sans CJK SC"/>
              </a:rPr>
              <a:t>湿生植物要与雨水系统对应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629400" y="4215383"/>
            <a:ext cx="4636007" cy="420624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030" b="0">
                <a:solidFill>
                  <a:srgbClr val="687068"/>
                </a:solidFill>
                <a:latin typeface="Noto Sans CJK SC"/>
              </a:rPr>
              <a:t>水生美人蕉等湿生植物应明确使用位置、水深/湿度、季节变化和溢流关系，避免植物表与场地水文脱节。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428232" y="4910328"/>
            <a:ext cx="4965192" cy="987552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CDD2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6428232" y="4910328"/>
            <a:ext cx="73152" cy="987552"/>
          </a:xfrm>
          <a:prstGeom prst="rect">
            <a:avLst/>
          </a:prstGeom>
          <a:solidFill>
            <a:srgbClr val="4C7130"/>
          </a:solidFill>
          <a:ln w="10160">
            <a:solidFill>
              <a:srgbClr val="4C71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629400" y="5047488"/>
            <a:ext cx="4645152" cy="25603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2A3530"/>
                </a:solidFill>
                <a:latin typeface="Noto Sans CJK SC"/>
              </a:rPr>
              <a:t>植物表需要回到平面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629400" y="5385816"/>
            <a:ext cx="4636007" cy="420624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030" b="0">
                <a:solidFill>
                  <a:srgbClr val="687068"/>
                </a:solidFill>
                <a:latin typeface="Noto Sans CJK SC"/>
              </a:rPr>
              <a:t>用编号把乔木、灌木、地被和湿生植物落到一层/二层平面，标出数量、种植密度和维护通道。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6F0"/>
          </a:solidFill>
          <a:ln w="10160">
            <a:solidFill>
              <a:srgbClr val="F7F6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2560320" cy="22860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900" b="1">
                <a:solidFill>
                  <a:srgbClr val="4C7130"/>
                </a:solidFill>
                <a:latin typeface="Noto Sans CJK SC"/>
              </a:rPr>
              <a:t>02 个人设计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02920"/>
            <a:ext cx="10241280" cy="50292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2500" b="1">
                <a:solidFill>
                  <a:srgbClr val="2A3530"/>
                </a:solidFill>
                <a:latin typeface="Noto Sans CJK SC"/>
              </a:rPr>
              <a:t>效果图很有感染力，但必须主动标明“概念表达”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01400" y="338328"/>
            <a:ext cx="502920" cy="32004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r">
              <a:spcAft>
                <a:spcPts val="200"/>
              </a:spcAft>
            </a:pPr>
            <a:r>
              <a:rPr sz="1800" b="1">
                <a:solidFill>
                  <a:srgbClr val="69844F"/>
                </a:solidFill>
                <a:latin typeface="Noto Sans CJK SC"/>
              </a:rPr>
              <a:t>09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115568"/>
            <a:ext cx="11155680" cy="12700"/>
          </a:xfrm>
          <a:prstGeom prst="rect">
            <a:avLst/>
          </a:prstGeom>
          <a:solidFill>
            <a:srgbClr val="CDD2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6537960"/>
            <a:ext cx="4572000" cy="16459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800" b="0">
                <a:solidFill>
                  <a:srgbClr val="687068"/>
                </a:solidFill>
                <a:latin typeface="Noto Sans CJK SC"/>
              </a:rPr>
              <a:t>建筑生态策略｜汇报文件检查与修改建议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80960" y="6537960"/>
            <a:ext cx="3977639" cy="16459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r">
              <a:spcAft>
                <a:spcPts val="200"/>
              </a:spcAft>
            </a:pPr>
            <a:r>
              <a:rPr sz="800" b="0">
                <a:solidFill>
                  <a:srgbClr val="687068"/>
                </a:solidFill>
                <a:latin typeface="Noto Sans CJK SC"/>
              </a:rPr>
              <a:t>基于已提交的案例分析与个人设计 PPT</a:t>
            </a:r>
          </a:p>
        </p:txBody>
      </p:sp>
      <p:pic>
        <p:nvPicPr>
          <p:cNvPr id="9" name="Picture 8" descr="slide-0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399032"/>
            <a:ext cx="5349240" cy="2514600"/>
          </a:xfrm>
          <a:prstGeom prst="rect">
            <a:avLst/>
          </a:prstGeom>
        </p:spPr>
      </p:pic>
      <p:pic>
        <p:nvPicPr>
          <p:cNvPr id="10" name="Picture 9" descr="slide-07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4114800"/>
            <a:ext cx="5349240" cy="1874519"/>
          </a:xfrm>
          <a:prstGeom prst="rect">
            <a:avLst/>
          </a:prstGeom>
        </p:spPr>
      </p:pic>
      <p:sp>
        <p:nvSpPr>
          <p:cNvPr id="11" name="Rounded Rectangle 10"/>
          <p:cNvSpPr/>
          <p:nvPr/>
        </p:nvSpPr>
        <p:spPr>
          <a:xfrm>
            <a:off x="640080" y="1399032"/>
            <a:ext cx="1143000" cy="292608"/>
          </a:xfrm>
          <a:prstGeom prst="roundRect">
            <a:avLst/>
          </a:prstGeom>
          <a:solidFill>
            <a:srgbClr val="4C7130"/>
          </a:solidFill>
          <a:ln w="10160">
            <a:solidFill>
              <a:srgbClr val="4C71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94944" y="1426464"/>
            <a:ext cx="1033271" cy="192024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ctr">
              <a:spcAft>
                <a:spcPts val="200"/>
              </a:spcAft>
            </a:pPr>
            <a:r>
              <a:rPr sz="900" b="1">
                <a:solidFill>
                  <a:srgbClr val="FFFFFF"/>
                </a:solidFill>
                <a:latin typeface="Noto Sans CJK SC"/>
              </a:rPr>
              <a:t>一层公共花园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" y="4114800"/>
            <a:ext cx="960120" cy="292608"/>
          </a:xfrm>
          <a:prstGeom prst="roundRect">
            <a:avLst/>
          </a:prstGeom>
          <a:solidFill>
            <a:srgbClr val="AE6C40"/>
          </a:solidFill>
          <a:ln w="10160">
            <a:solidFill>
              <a:srgbClr val="AE6C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94944" y="4142232"/>
            <a:ext cx="850392" cy="192024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ctr">
              <a:spcAft>
                <a:spcPts val="200"/>
              </a:spcAft>
            </a:pPr>
            <a:r>
              <a:rPr sz="900" b="1">
                <a:solidFill>
                  <a:srgbClr val="FFFFFF"/>
                </a:solidFill>
                <a:latin typeface="Noto Sans CJK SC"/>
              </a:rPr>
              <a:t>二层空井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336792" y="1399032"/>
            <a:ext cx="5074920" cy="105156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CDD2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336792" y="1399032"/>
            <a:ext cx="73152" cy="1051560"/>
          </a:xfrm>
          <a:prstGeom prst="rect">
            <a:avLst/>
          </a:prstGeom>
          <a:solidFill>
            <a:srgbClr val="AE6C40"/>
          </a:solidFill>
          <a:ln w="10160">
            <a:solidFill>
              <a:srgbClr val="AE6C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537959" y="1536192"/>
            <a:ext cx="4754880" cy="25603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2A3530"/>
                </a:solidFill>
                <a:latin typeface="Noto Sans CJK SC"/>
              </a:rPr>
              <a:t>问题 01｜效果图与平面/剖面对应关系不够可查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37959" y="1874519"/>
            <a:ext cx="4745736" cy="484631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030" b="0">
                <a:solidFill>
                  <a:srgbClr val="687068"/>
                </a:solidFill>
                <a:latin typeface="Noto Sans CJK SC"/>
              </a:rPr>
              <a:t>部分效果图展示了较复杂的平台、坡道和高差，但平面图中未同步标明位置；评审容易认为是不同方案。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336792" y="2624328"/>
            <a:ext cx="5074920" cy="105156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CDD2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336792" y="2624328"/>
            <a:ext cx="73152" cy="1051560"/>
          </a:xfrm>
          <a:prstGeom prst="rect">
            <a:avLst/>
          </a:prstGeom>
          <a:solidFill>
            <a:srgbClr val="4C7130"/>
          </a:solidFill>
          <a:ln w="10160">
            <a:solidFill>
              <a:srgbClr val="4C71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537959" y="2761488"/>
            <a:ext cx="4754880" cy="25603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2A3530"/>
                </a:solidFill>
                <a:latin typeface="Noto Sans CJK SC"/>
              </a:rPr>
              <a:t>问题 02｜原有屋顶、柱和桁架的保留边界需更明确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537959" y="3099816"/>
            <a:ext cx="4745736" cy="484631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030" b="0">
                <a:solidFill>
                  <a:srgbClr val="687068"/>
                </a:solidFill>
                <a:latin typeface="Noto Sans CJK SC"/>
              </a:rPr>
              <a:t>效果图中结构表现很强，但应在图注中注明“原有保留 / 新增可拆卸 / 概念渲染”，并配一张结构保留示意。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336792" y="3849624"/>
            <a:ext cx="5074920" cy="105156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CDD2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6336792" y="3849624"/>
            <a:ext cx="73152" cy="1051560"/>
          </a:xfrm>
          <a:prstGeom prst="rect">
            <a:avLst/>
          </a:prstGeom>
          <a:solidFill>
            <a:srgbClr val="69844F"/>
          </a:solidFill>
          <a:ln w="10160">
            <a:solidFill>
              <a:srgbClr val="6984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537959" y="3986784"/>
            <a:ext cx="4754880" cy="25603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2A3530"/>
                </a:solidFill>
                <a:latin typeface="Noto Sans CJK SC"/>
              </a:rPr>
              <a:t>问题 03｜缺少建筑剖面和关键节点效果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537959" y="4325112"/>
            <a:ext cx="4745736" cy="484631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030" b="0">
                <a:solidFill>
                  <a:srgbClr val="687068"/>
                </a:solidFill>
                <a:latin typeface="Noto Sans CJK SC"/>
              </a:rPr>
              <a:t>建议补入口、下沉广场、树木空井、二层平台与屋顶通风的局部剖透视，形成效果图—剖面—平面闭环。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336792" y="5166360"/>
            <a:ext cx="5074920" cy="676656"/>
          </a:xfrm>
          <a:prstGeom prst="roundRect">
            <a:avLst/>
          </a:prstGeom>
          <a:solidFill>
            <a:srgbClr val="F7EADE"/>
          </a:solidFill>
          <a:ln w="10160">
            <a:solidFill>
              <a:srgbClr val="AE6C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565392" y="5385816"/>
            <a:ext cx="4617720" cy="22860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100" b="1">
                <a:solidFill>
                  <a:srgbClr val="2A3530"/>
                </a:solidFill>
                <a:latin typeface="Noto Sans CJK SC"/>
              </a:rPr>
              <a:t>效果图页脚统一加：概念效果｜以最终 CAD、结构和消防专项为准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6F0"/>
          </a:solidFill>
          <a:ln w="10160">
            <a:solidFill>
              <a:srgbClr val="F7F6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2560320" cy="22860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900" b="1">
                <a:solidFill>
                  <a:srgbClr val="4C7130"/>
                </a:solidFill>
                <a:latin typeface="Noto Sans CJK SC"/>
              </a:rPr>
              <a:t>02 个人设计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02920"/>
            <a:ext cx="10241280" cy="50292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2500" b="1">
                <a:solidFill>
                  <a:srgbClr val="2A3530"/>
                </a:solidFill>
                <a:latin typeface="Noto Sans CJK SC"/>
              </a:rPr>
              <a:t>目前缺少一页“建筑面积与经济技术指标”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01400" y="338328"/>
            <a:ext cx="502920" cy="32004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r">
              <a:spcAft>
                <a:spcPts val="200"/>
              </a:spcAft>
            </a:pPr>
            <a:r>
              <a:rPr sz="1800" b="1">
                <a:solidFill>
                  <a:srgbClr val="69844F"/>
                </a:solidFill>
                <a:latin typeface="Noto Sans CJK SC"/>
              </a:rPr>
              <a:t>10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115568"/>
            <a:ext cx="11155680" cy="12700"/>
          </a:xfrm>
          <a:prstGeom prst="rect">
            <a:avLst/>
          </a:prstGeom>
          <a:solidFill>
            <a:srgbClr val="CDD2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6537960"/>
            <a:ext cx="4572000" cy="16459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800" b="0">
                <a:solidFill>
                  <a:srgbClr val="687068"/>
                </a:solidFill>
                <a:latin typeface="Noto Sans CJK SC"/>
              </a:rPr>
              <a:t>建筑生态策略｜汇报文件检查与修改建议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80960" y="6537960"/>
            <a:ext cx="3977639" cy="16459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r">
              <a:spcAft>
                <a:spcPts val="200"/>
              </a:spcAft>
            </a:pPr>
            <a:r>
              <a:rPr sz="800" b="0">
                <a:solidFill>
                  <a:srgbClr val="687068"/>
                </a:solidFill>
                <a:latin typeface="Noto Sans CJK SC"/>
              </a:rPr>
              <a:t>基于已提交的案例分析与个人设计 PPT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1371600"/>
            <a:ext cx="10789920" cy="36576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2A3530"/>
                </a:solidFill>
                <a:latin typeface="Noto Sans CJK SC"/>
              </a:rPr>
              <a:t>建议在个人设计部分加入一张指标表。已知尺寸可以先用“概念核算”，并在页脚注明需以 CAD 复核。</a:t>
            </a:r>
          </a:p>
        </p:txBody>
      </p:sp>
      <p:sp>
        <p:nvSpPr>
          <p:cNvPr id="10" name="Rectangle 9"/>
          <p:cNvSpPr/>
          <p:nvPr/>
        </p:nvSpPr>
        <p:spPr>
          <a:xfrm>
            <a:off x="640080" y="1938528"/>
            <a:ext cx="2194560" cy="457200"/>
          </a:xfrm>
          <a:prstGeom prst="rect">
            <a:avLst/>
          </a:prstGeom>
          <a:solidFill>
            <a:srgbClr val="2D4D3E"/>
          </a:solidFill>
          <a:ln w="10160">
            <a:solidFill>
              <a:srgbClr val="2D4D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13231" y="2048256"/>
            <a:ext cx="2048255" cy="21031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1100" b="1">
                <a:solidFill>
                  <a:srgbClr val="FFFFFF"/>
                </a:solidFill>
                <a:latin typeface="Noto Sans CJK SC"/>
              </a:rPr>
              <a:t>指标项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834639" y="1938528"/>
            <a:ext cx="2834640" cy="457200"/>
          </a:xfrm>
          <a:prstGeom prst="rect">
            <a:avLst/>
          </a:prstGeom>
          <a:solidFill>
            <a:srgbClr val="2D4D3E"/>
          </a:solidFill>
          <a:ln w="10160">
            <a:solidFill>
              <a:srgbClr val="2D4D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907791" y="2048256"/>
            <a:ext cx="2688336" cy="21031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1100" b="1">
                <a:solidFill>
                  <a:srgbClr val="FFFFFF"/>
                </a:solidFill>
                <a:latin typeface="Noto Sans CJK SC"/>
              </a:rPr>
              <a:t>当前可确认信息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669279" y="1938528"/>
            <a:ext cx="2880360" cy="457200"/>
          </a:xfrm>
          <a:prstGeom prst="rect">
            <a:avLst/>
          </a:prstGeom>
          <a:solidFill>
            <a:srgbClr val="2D4D3E"/>
          </a:solidFill>
          <a:ln w="10160">
            <a:solidFill>
              <a:srgbClr val="2D4D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742431" y="2048256"/>
            <a:ext cx="2734056" cy="21031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1100" b="1">
                <a:solidFill>
                  <a:srgbClr val="FFFFFF"/>
                </a:solidFill>
                <a:latin typeface="Noto Sans CJK SC"/>
              </a:rPr>
              <a:t>建议补充/核算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549640" y="1938528"/>
            <a:ext cx="2743200" cy="457200"/>
          </a:xfrm>
          <a:prstGeom prst="rect">
            <a:avLst/>
          </a:prstGeom>
          <a:solidFill>
            <a:srgbClr val="2D4D3E"/>
          </a:solidFill>
          <a:ln w="10160">
            <a:solidFill>
              <a:srgbClr val="2D4D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622792" y="2048256"/>
            <a:ext cx="2596896" cy="21031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1100" b="1">
                <a:solidFill>
                  <a:srgbClr val="FFFFFF"/>
                </a:solidFill>
                <a:latin typeface="Noto Sans CJK SC"/>
              </a:rPr>
              <a:t>表达位置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40080" y="2395728"/>
            <a:ext cx="2194560" cy="658368"/>
          </a:xfrm>
          <a:prstGeom prst="rect">
            <a:avLst/>
          </a:prstGeom>
          <a:solidFill>
            <a:srgbClr val="FFFFFF"/>
          </a:solidFill>
          <a:ln w="10160">
            <a:solidFill>
              <a:srgbClr val="CDD2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31519" y="2487168"/>
            <a:ext cx="2011679" cy="45720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030" b="1">
                <a:solidFill>
                  <a:srgbClr val="2A3530"/>
                </a:solidFill>
                <a:latin typeface="Noto Sans CJK SC"/>
              </a:rPr>
              <a:t>场地与棚体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834639" y="2395728"/>
            <a:ext cx="2834640" cy="658368"/>
          </a:xfrm>
          <a:prstGeom prst="rect">
            <a:avLst/>
          </a:prstGeom>
          <a:solidFill>
            <a:srgbClr val="FFFFFF"/>
          </a:solidFill>
          <a:ln w="10160">
            <a:solidFill>
              <a:srgbClr val="CDD2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2926079" y="2487168"/>
            <a:ext cx="2651760" cy="45720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030" b="0">
                <a:solidFill>
                  <a:srgbClr val="687068"/>
                </a:solidFill>
                <a:latin typeface="Noto Sans CJK SC"/>
              </a:rPr>
              <a:t>216m × 40.5m；网架下高18.5m；檐口21.37m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669279" y="2395728"/>
            <a:ext cx="2880360" cy="658368"/>
          </a:xfrm>
          <a:prstGeom prst="rect">
            <a:avLst/>
          </a:prstGeom>
          <a:solidFill>
            <a:srgbClr val="FFFFFF"/>
          </a:solidFill>
          <a:ln w="10160">
            <a:solidFill>
              <a:srgbClr val="CDD2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760719" y="2487168"/>
            <a:ext cx="2697479" cy="45720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030" b="0">
                <a:solidFill>
                  <a:srgbClr val="687068"/>
                </a:solidFill>
                <a:latin typeface="Noto Sans CJK SC"/>
              </a:rPr>
              <a:t>轴网、柱距、屋面面积、层高与标高</a:t>
            </a:r>
          </a:p>
        </p:txBody>
      </p:sp>
      <p:sp>
        <p:nvSpPr>
          <p:cNvPr id="24" name="Rectangle 23"/>
          <p:cNvSpPr/>
          <p:nvPr/>
        </p:nvSpPr>
        <p:spPr>
          <a:xfrm>
            <a:off x="8549640" y="2395728"/>
            <a:ext cx="2743200" cy="658368"/>
          </a:xfrm>
          <a:prstGeom prst="rect">
            <a:avLst/>
          </a:prstGeom>
          <a:solidFill>
            <a:srgbClr val="FFFFFF"/>
          </a:solidFill>
          <a:ln w="10160">
            <a:solidFill>
              <a:srgbClr val="CDD2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641080" y="2487168"/>
            <a:ext cx="2560320" cy="45720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030" b="0">
                <a:solidFill>
                  <a:srgbClr val="687068"/>
                </a:solidFill>
                <a:latin typeface="Noto Sans CJK SC"/>
              </a:rPr>
              <a:t>总图 / 剖面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40080" y="3054096"/>
            <a:ext cx="2194560" cy="658368"/>
          </a:xfrm>
          <a:prstGeom prst="rect">
            <a:avLst/>
          </a:prstGeom>
          <a:solidFill>
            <a:srgbClr val="ECF0E5"/>
          </a:solidFill>
          <a:ln w="10160">
            <a:solidFill>
              <a:srgbClr val="CDD2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31519" y="3145536"/>
            <a:ext cx="2011679" cy="45720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030" b="1">
                <a:solidFill>
                  <a:srgbClr val="2A3530"/>
                </a:solidFill>
                <a:latin typeface="Noto Sans CJK SC"/>
              </a:rPr>
              <a:t>建筑面积</a:t>
            </a:r>
          </a:p>
        </p:txBody>
      </p:sp>
      <p:sp>
        <p:nvSpPr>
          <p:cNvPr id="28" name="Rectangle 27"/>
          <p:cNvSpPr/>
          <p:nvPr/>
        </p:nvSpPr>
        <p:spPr>
          <a:xfrm>
            <a:off x="2834639" y="3054096"/>
            <a:ext cx="2834640" cy="658368"/>
          </a:xfrm>
          <a:prstGeom prst="rect">
            <a:avLst/>
          </a:prstGeom>
          <a:solidFill>
            <a:srgbClr val="ECF0E5"/>
          </a:solidFill>
          <a:ln w="10160">
            <a:solidFill>
              <a:srgbClr val="CDD2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2926079" y="3145536"/>
            <a:ext cx="2651760" cy="45720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030" b="0">
                <a:solidFill>
                  <a:srgbClr val="687068"/>
                </a:solidFill>
                <a:latin typeface="Noto Sans CJK SC"/>
              </a:rPr>
              <a:t>一层、二层平台面积尚未统一汇总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669279" y="3054096"/>
            <a:ext cx="2880360" cy="658368"/>
          </a:xfrm>
          <a:prstGeom prst="rect">
            <a:avLst/>
          </a:prstGeom>
          <a:solidFill>
            <a:srgbClr val="ECF0E5"/>
          </a:solidFill>
          <a:ln w="10160">
            <a:solidFill>
              <a:srgbClr val="CDD2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5760719" y="3145536"/>
            <a:ext cx="2697479" cy="45720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030" b="0">
                <a:solidFill>
                  <a:srgbClr val="687068"/>
                </a:solidFill>
                <a:latin typeface="Noto Sans CJK SC"/>
              </a:rPr>
              <a:t>分功能面积、平台面积、公共空间面积、计容口径</a:t>
            </a:r>
          </a:p>
        </p:txBody>
      </p:sp>
      <p:sp>
        <p:nvSpPr>
          <p:cNvPr id="32" name="Rectangle 31"/>
          <p:cNvSpPr/>
          <p:nvPr/>
        </p:nvSpPr>
        <p:spPr>
          <a:xfrm>
            <a:off x="8549640" y="3054096"/>
            <a:ext cx="2743200" cy="658368"/>
          </a:xfrm>
          <a:prstGeom prst="rect">
            <a:avLst/>
          </a:prstGeom>
          <a:solidFill>
            <a:srgbClr val="ECF0E5"/>
          </a:solidFill>
          <a:ln w="10160">
            <a:solidFill>
              <a:srgbClr val="CDD2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641080" y="3145536"/>
            <a:ext cx="2560320" cy="45720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030" b="0">
                <a:solidFill>
                  <a:srgbClr val="687068"/>
                </a:solidFill>
                <a:latin typeface="Noto Sans CJK SC"/>
              </a:rPr>
              <a:t>面积表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40080" y="3712464"/>
            <a:ext cx="2194560" cy="658368"/>
          </a:xfrm>
          <a:prstGeom prst="rect">
            <a:avLst/>
          </a:prstGeom>
          <a:solidFill>
            <a:srgbClr val="FFFFFF"/>
          </a:solidFill>
          <a:ln w="10160">
            <a:solidFill>
              <a:srgbClr val="CDD2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731519" y="3803904"/>
            <a:ext cx="2011679" cy="45720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030" b="1">
                <a:solidFill>
                  <a:srgbClr val="2A3530"/>
                </a:solidFill>
                <a:latin typeface="Noto Sans CJK SC"/>
              </a:rPr>
              <a:t>生态指标</a:t>
            </a:r>
          </a:p>
        </p:txBody>
      </p:sp>
      <p:sp>
        <p:nvSpPr>
          <p:cNvPr id="36" name="Rectangle 35"/>
          <p:cNvSpPr/>
          <p:nvPr/>
        </p:nvSpPr>
        <p:spPr>
          <a:xfrm>
            <a:off x="2834639" y="3712464"/>
            <a:ext cx="2834640" cy="658368"/>
          </a:xfrm>
          <a:prstGeom prst="rect">
            <a:avLst/>
          </a:prstGeom>
          <a:solidFill>
            <a:srgbClr val="FFFFFF"/>
          </a:solidFill>
          <a:ln w="10160">
            <a:solidFill>
              <a:srgbClr val="CDD2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2926079" y="3803904"/>
            <a:ext cx="2651760" cy="45720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030" b="0">
                <a:solidFill>
                  <a:srgbClr val="687068"/>
                </a:solidFill>
                <a:latin typeface="Noto Sans CJK SC"/>
              </a:rPr>
              <a:t>有绿化、树池、下沉广场、雨水策略</a:t>
            </a:r>
          </a:p>
        </p:txBody>
      </p:sp>
      <p:sp>
        <p:nvSpPr>
          <p:cNvPr id="38" name="Rectangle 37"/>
          <p:cNvSpPr/>
          <p:nvPr/>
        </p:nvSpPr>
        <p:spPr>
          <a:xfrm>
            <a:off x="5669279" y="3712464"/>
            <a:ext cx="2880360" cy="658368"/>
          </a:xfrm>
          <a:prstGeom prst="rect">
            <a:avLst/>
          </a:prstGeom>
          <a:solidFill>
            <a:srgbClr val="FFFFFF"/>
          </a:solidFill>
          <a:ln w="10160">
            <a:solidFill>
              <a:srgbClr val="CDD2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5760719" y="3803904"/>
            <a:ext cx="2697479" cy="45720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030" b="0">
                <a:solidFill>
                  <a:srgbClr val="687068"/>
                </a:solidFill>
                <a:latin typeface="Noto Sans CJK SC"/>
              </a:rPr>
              <a:t>绿化率、透水率、树冠覆盖、雨水控制量</a:t>
            </a:r>
          </a:p>
        </p:txBody>
      </p:sp>
      <p:sp>
        <p:nvSpPr>
          <p:cNvPr id="40" name="Rectangle 39"/>
          <p:cNvSpPr/>
          <p:nvPr/>
        </p:nvSpPr>
        <p:spPr>
          <a:xfrm>
            <a:off x="8549640" y="3712464"/>
            <a:ext cx="2743200" cy="658368"/>
          </a:xfrm>
          <a:prstGeom prst="rect">
            <a:avLst/>
          </a:prstGeom>
          <a:solidFill>
            <a:srgbClr val="FFFFFF"/>
          </a:solidFill>
          <a:ln w="10160">
            <a:solidFill>
              <a:srgbClr val="CDD2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8641080" y="3803904"/>
            <a:ext cx="2560320" cy="45720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030" b="0">
                <a:solidFill>
                  <a:srgbClr val="687068"/>
                </a:solidFill>
                <a:latin typeface="Noto Sans CJK SC"/>
              </a:rPr>
              <a:t>生态策略页</a:t>
            </a:r>
          </a:p>
        </p:txBody>
      </p:sp>
      <p:sp>
        <p:nvSpPr>
          <p:cNvPr id="42" name="Rectangle 41"/>
          <p:cNvSpPr/>
          <p:nvPr/>
        </p:nvSpPr>
        <p:spPr>
          <a:xfrm>
            <a:off x="640080" y="4370832"/>
            <a:ext cx="2194560" cy="658368"/>
          </a:xfrm>
          <a:prstGeom prst="rect">
            <a:avLst/>
          </a:prstGeom>
          <a:solidFill>
            <a:srgbClr val="ECF0E5"/>
          </a:solidFill>
          <a:ln w="10160">
            <a:solidFill>
              <a:srgbClr val="CDD2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731519" y="4462272"/>
            <a:ext cx="2011679" cy="45720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030" b="1">
                <a:solidFill>
                  <a:srgbClr val="2A3530"/>
                </a:solidFill>
                <a:latin typeface="Noto Sans CJK SC"/>
              </a:rPr>
              <a:t>运营与成本</a:t>
            </a:r>
          </a:p>
        </p:txBody>
      </p:sp>
      <p:sp>
        <p:nvSpPr>
          <p:cNvPr id="44" name="Rectangle 43"/>
          <p:cNvSpPr/>
          <p:nvPr/>
        </p:nvSpPr>
        <p:spPr>
          <a:xfrm>
            <a:off x="2834639" y="4370832"/>
            <a:ext cx="2834640" cy="658368"/>
          </a:xfrm>
          <a:prstGeom prst="rect">
            <a:avLst/>
          </a:prstGeom>
          <a:solidFill>
            <a:srgbClr val="ECF0E5"/>
          </a:solidFill>
          <a:ln w="10160">
            <a:solidFill>
              <a:srgbClr val="CDD2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2926079" y="4462272"/>
            <a:ext cx="2651760" cy="45720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030" b="0">
                <a:solidFill>
                  <a:srgbClr val="687068"/>
                </a:solidFill>
                <a:latin typeface="Noto Sans CJK SC"/>
              </a:rPr>
              <a:t>尚未表达</a:t>
            </a:r>
          </a:p>
        </p:txBody>
      </p:sp>
      <p:sp>
        <p:nvSpPr>
          <p:cNvPr id="46" name="Rectangle 45"/>
          <p:cNvSpPr/>
          <p:nvPr/>
        </p:nvSpPr>
        <p:spPr>
          <a:xfrm>
            <a:off x="5669279" y="4370832"/>
            <a:ext cx="2880360" cy="658368"/>
          </a:xfrm>
          <a:prstGeom prst="rect">
            <a:avLst/>
          </a:prstGeom>
          <a:solidFill>
            <a:srgbClr val="ECF0E5"/>
          </a:solidFill>
          <a:ln w="10160">
            <a:solidFill>
              <a:srgbClr val="CDD2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5760719" y="4462272"/>
            <a:ext cx="2697479" cy="45720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030" b="0">
                <a:solidFill>
                  <a:srgbClr val="687068"/>
                </a:solidFill>
                <a:latin typeface="Noto Sans CJK SC"/>
              </a:rPr>
              <a:t>开放时段、后勤面积、模块化构件、材料与造价级别</a:t>
            </a:r>
          </a:p>
        </p:txBody>
      </p:sp>
      <p:sp>
        <p:nvSpPr>
          <p:cNvPr id="48" name="Rectangle 47"/>
          <p:cNvSpPr/>
          <p:nvPr/>
        </p:nvSpPr>
        <p:spPr>
          <a:xfrm>
            <a:off x="8549640" y="4370832"/>
            <a:ext cx="2743200" cy="658368"/>
          </a:xfrm>
          <a:prstGeom prst="rect">
            <a:avLst/>
          </a:prstGeom>
          <a:solidFill>
            <a:srgbClr val="ECF0E5"/>
          </a:solidFill>
          <a:ln w="10160">
            <a:solidFill>
              <a:srgbClr val="CDD2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8641080" y="4462272"/>
            <a:ext cx="2560320" cy="45720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030" b="0">
                <a:solidFill>
                  <a:srgbClr val="687068"/>
                </a:solidFill>
                <a:latin typeface="Noto Sans CJK SC"/>
              </a:rPr>
              <a:t>运营 / 技术页</a:t>
            </a:r>
          </a:p>
        </p:txBody>
      </p:sp>
      <p:sp>
        <p:nvSpPr>
          <p:cNvPr id="50" name="Rectangle 49"/>
          <p:cNvSpPr/>
          <p:nvPr/>
        </p:nvSpPr>
        <p:spPr>
          <a:xfrm>
            <a:off x="640080" y="5029200"/>
            <a:ext cx="2194560" cy="658368"/>
          </a:xfrm>
          <a:prstGeom prst="rect">
            <a:avLst/>
          </a:prstGeom>
          <a:solidFill>
            <a:srgbClr val="FFFFFF"/>
          </a:solidFill>
          <a:ln w="10160">
            <a:solidFill>
              <a:srgbClr val="CDD2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731519" y="5120640"/>
            <a:ext cx="2011679" cy="45720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030" b="1">
                <a:solidFill>
                  <a:srgbClr val="2A3530"/>
                </a:solidFill>
                <a:latin typeface="Noto Sans CJK SC"/>
              </a:rPr>
              <a:t>安全指标</a:t>
            </a:r>
          </a:p>
        </p:txBody>
      </p:sp>
      <p:sp>
        <p:nvSpPr>
          <p:cNvPr id="52" name="Rectangle 51"/>
          <p:cNvSpPr/>
          <p:nvPr/>
        </p:nvSpPr>
        <p:spPr>
          <a:xfrm>
            <a:off x="2834639" y="5029200"/>
            <a:ext cx="2834640" cy="658368"/>
          </a:xfrm>
          <a:prstGeom prst="rect">
            <a:avLst/>
          </a:prstGeom>
          <a:solidFill>
            <a:srgbClr val="FFFFFF"/>
          </a:solidFill>
          <a:ln w="10160">
            <a:solidFill>
              <a:srgbClr val="CDD2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2926079" y="5120640"/>
            <a:ext cx="2651760" cy="45720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030" b="0">
                <a:solidFill>
                  <a:srgbClr val="687068"/>
                </a:solidFill>
                <a:latin typeface="Noto Sans CJK SC"/>
              </a:rPr>
              <a:t>有主步道和楼梯概念</a:t>
            </a:r>
          </a:p>
        </p:txBody>
      </p:sp>
      <p:sp>
        <p:nvSpPr>
          <p:cNvPr id="54" name="Rectangle 53"/>
          <p:cNvSpPr/>
          <p:nvPr/>
        </p:nvSpPr>
        <p:spPr>
          <a:xfrm>
            <a:off x="5669279" y="5029200"/>
            <a:ext cx="2880360" cy="658368"/>
          </a:xfrm>
          <a:prstGeom prst="rect">
            <a:avLst/>
          </a:prstGeom>
          <a:solidFill>
            <a:srgbClr val="FFFFFF"/>
          </a:solidFill>
          <a:ln w="10160">
            <a:solidFill>
              <a:srgbClr val="CDD2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5760719" y="5120640"/>
            <a:ext cx="2697479" cy="45720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030" b="0">
                <a:solidFill>
                  <a:srgbClr val="687068"/>
                </a:solidFill>
                <a:latin typeface="Noto Sans CJK SC"/>
              </a:rPr>
              <a:t>疏散宽度、距离、无障碍、电梯、消防分区</a:t>
            </a:r>
          </a:p>
        </p:txBody>
      </p:sp>
      <p:sp>
        <p:nvSpPr>
          <p:cNvPr id="56" name="Rectangle 55"/>
          <p:cNvSpPr/>
          <p:nvPr/>
        </p:nvSpPr>
        <p:spPr>
          <a:xfrm>
            <a:off x="8549640" y="5029200"/>
            <a:ext cx="2743200" cy="658368"/>
          </a:xfrm>
          <a:prstGeom prst="rect">
            <a:avLst/>
          </a:prstGeom>
          <a:solidFill>
            <a:srgbClr val="FFFFFF"/>
          </a:solidFill>
          <a:ln w="10160">
            <a:solidFill>
              <a:srgbClr val="CDD2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8641080" y="5120640"/>
            <a:ext cx="2560320" cy="45720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030" b="0">
                <a:solidFill>
                  <a:srgbClr val="687068"/>
                </a:solidFill>
                <a:latin typeface="Noto Sans CJK SC"/>
              </a:rPr>
              <a:t>平面 / 剖面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640080" y="5715000"/>
            <a:ext cx="10698480" cy="32004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300" b="1">
                <a:solidFill>
                  <a:srgbClr val="4C7130"/>
                </a:solidFill>
                <a:latin typeface="Noto Sans CJK SC"/>
              </a:rPr>
              <a:t>这一页会显著提升方案可信度，也能把“绿色率尽量高、开放公共空间”从愿景转成可比较的指标。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6F0"/>
          </a:solidFill>
          <a:ln w="10160">
            <a:solidFill>
              <a:srgbClr val="F7F6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2560320" cy="22860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900" b="1">
                <a:solidFill>
                  <a:srgbClr val="4C7130"/>
                </a:solidFill>
                <a:latin typeface="Noto Sans CJK SC"/>
              </a:rPr>
              <a:t>03 提交优先级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02920"/>
            <a:ext cx="10241280" cy="50292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2500" b="1">
                <a:solidFill>
                  <a:srgbClr val="2A3530"/>
                </a:solidFill>
                <a:latin typeface="Noto Sans CJK SC"/>
              </a:rPr>
              <a:t>建议按这个顺序完成最后一轮修改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01400" y="338328"/>
            <a:ext cx="502920" cy="32004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r">
              <a:spcAft>
                <a:spcPts val="200"/>
              </a:spcAft>
            </a:pPr>
            <a:r>
              <a:rPr sz="1800" b="1">
                <a:solidFill>
                  <a:srgbClr val="69844F"/>
                </a:solidFill>
                <a:latin typeface="Noto Sans CJK SC"/>
              </a:rPr>
              <a:t>11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115568"/>
            <a:ext cx="11155680" cy="12700"/>
          </a:xfrm>
          <a:prstGeom prst="rect">
            <a:avLst/>
          </a:prstGeom>
          <a:solidFill>
            <a:srgbClr val="CDD2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6537960"/>
            <a:ext cx="4572000" cy="16459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800" b="0">
                <a:solidFill>
                  <a:srgbClr val="687068"/>
                </a:solidFill>
                <a:latin typeface="Noto Sans CJK SC"/>
              </a:rPr>
              <a:t>建筑生态策略｜汇报文件检查与修改建议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80960" y="6537960"/>
            <a:ext cx="3977639" cy="16459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r">
              <a:spcAft>
                <a:spcPts val="200"/>
              </a:spcAft>
            </a:pPr>
            <a:r>
              <a:rPr sz="800" b="0">
                <a:solidFill>
                  <a:srgbClr val="687068"/>
                </a:solidFill>
                <a:latin typeface="Noto Sans CJK SC"/>
              </a:rPr>
              <a:t>基于已提交的案例分析与个人设计 PPT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85800" y="1417320"/>
            <a:ext cx="658368" cy="658368"/>
          </a:xfrm>
          <a:prstGeom prst="roundRect">
            <a:avLst/>
          </a:prstGeom>
          <a:solidFill>
            <a:srgbClr val="AE6C40"/>
          </a:solidFill>
          <a:ln w="10160">
            <a:solidFill>
              <a:srgbClr val="AE6C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85800" y="1581912"/>
            <a:ext cx="658368" cy="25603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1800" b="1">
                <a:solidFill>
                  <a:srgbClr val="FFFFFF"/>
                </a:solidFill>
                <a:latin typeface="Noto Sans CJK SC"/>
              </a:rPr>
              <a:t>01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72768" y="1472184"/>
            <a:ext cx="2468880" cy="25603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600" b="1">
                <a:solidFill>
                  <a:srgbClr val="2A3530"/>
                </a:solidFill>
                <a:latin typeface="Noto Sans CJK SC"/>
              </a:rPr>
              <a:t>先补硬证据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72768" y="1783080"/>
            <a:ext cx="9281160" cy="27432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100" b="0">
                <a:solidFill>
                  <a:srgbClr val="687068"/>
                </a:solidFill>
                <a:latin typeface="Noto Sans CJK SC"/>
              </a:rPr>
              <a:t>尺寸、轴网、面积表、剖面、疏散/无障碍、案例来源。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572768" y="2313432"/>
            <a:ext cx="9326880" cy="12700"/>
          </a:xfrm>
          <a:prstGeom prst="rect">
            <a:avLst/>
          </a:prstGeom>
          <a:solidFill>
            <a:srgbClr val="CDD2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685800" y="2478024"/>
            <a:ext cx="658368" cy="658368"/>
          </a:xfrm>
          <a:prstGeom prst="roundRect">
            <a:avLst/>
          </a:prstGeom>
          <a:solidFill>
            <a:srgbClr val="4C7130"/>
          </a:solidFill>
          <a:ln w="10160">
            <a:solidFill>
              <a:srgbClr val="4C71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85800" y="2642616"/>
            <a:ext cx="658368" cy="25603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1800" b="1">
                <a:solidFill>
                  <a:srgbClr val="FFFFFF"/>
                </a:solidFill>
                <a:latin typeface="Noto Sans CJK SC"/>
              </a:rPr>
              <a:t>02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572768" y="2532888"/>
            <a:ext cx="2468880" cy="25603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600" b="1">
                <a:solidFill>
                  <a:srgbClr val="2A3530"/>
                </a:solidFill>
                <a:latin typeface="Noto Sans CJK SC"/>
              </a:rPr>
              <a:t>再补生态验证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572768" y="2843784"/>
            <a:ext cx="9281160" cy="27432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100" b="0">
                <a:solidFill>
                  <a:srgbClr val="687068"/>
                </a:solidFill>
                <a:latin typeface="Noto Sans CJK SC"/>
              </a:rPr>
              <a:t>雨水剖面、日照/通风路径、植物适生性、维护与运营。</a:t>
            </a:r>
          </a:p>
        </p:txBody>
      </p:sp>
      <p:sp>
        <p:nvSpPr>
          <p:cNvPr id="18" name="Rectangle 17"/>
          <p:cNvSpPr/>
          <p:nvPr/>
        </p:nvSpPr>
        <p:spPr>
          <a:xfrm>
            <a:off x="1572768" y="3374136"/>
            <a:ext cx="9326880" cy="12700"/>
          </a:xfrm>
          <a:prstGeom prst="rect">
            <a:avLst/>
          </a:prstGeom>
          <a:solidFill>
            <a:srgbClr val="CDD2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685800" y="3538728"/>
            <a:ext cx="658368" cy="658368"/>
          </a:xfrm>
          <a:prstGeom prst="roundRect">
            <a:avLst/>
          </a:prstGeom>
          <a:solidFill>
            <a:srgbClr val="69844F"/>
          </a:solidFill>
          <a:ln w="10160">
            <a:solidFill>
              <a:srgbClr val="6984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85800" y="3703320"/>
            <a:ext cx="658368" cy="25603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1800" b="1">
                <a:solidFill>
                  <a:srgbClr val="FFFFFF"/>
                </a:solidFill>
                <a:latin typeface="Noto Sans CJK SC"/>
              </a:rPr>
              <a:t>03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572768" y="3593592"/>
            <a:ext cx="2468880" cy="25603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600" b="1">
                <a:solidFill>
                  <a:srgbClr val="2A3530"/>
                </a:solidFill>
                <a:latin typeface="Noto Sans CJK SC"/>
              </a:rPr>
              <a:t>统一图面语言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572768" y="3904488"/>
            <a:ext cx="9281160" cy="27432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100" b="0">
                <a:solidFill>
                  <a:srgbClr val="687068"/>
                </a:solidFill>
                <a:latin typeface="Noto Sans CJK SC"/>
              </a:rPr>
              <a:t>原有/新增图例、线型、标高、编号、图注和效果图视点。</a:t>
            </a:r>
          </a:p>
        </p:txBody>
      </p:sp>
      <p:sp>
        <p:nvSpPr>
          <p:cNvPr id="23" name="Rectangle 22"/>
          <p:cNvSpPr/>
          <p:nvPr/>
        </p:nvSpPr>
        <p:spPr>
          <a:xfrm>
            <a:off x="1572768" y="4434840"/>
            <a:ext cx="9326880" cy="12700"/>
          </a:xfrm>
          <a:prstGeom prst="rect">
            <a:avLst/>
          </a:prstGeom>
          <a:solidFill>
            <a:srgbClr val="CDD2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685800" y="4599431"/>
            <a:ext cx="658368" cy="658368"/>
          </a:xfrm>
          <a:prstGeom prst="roundRect">
            <a:avLst/>
          </a:prstGeom>
          <a:solidFill>
            <a:srgbClr val="4C7130"/>
          </a:solidFill>
          <a:ln w="10160">
            <a:solidFill>
              <a:srgbClr val="4C71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85800" y="4764023"/>
            <a:ext cx="658368" cy="25603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1800" b="1">
                <a:solidFill>
                  <a:srgbClr val="FFFFFF"/>
                </a:solidFill>
                <a:latin typeface="Noto Sans CJK SC"/>
              </a:rPr>
              <a:t>04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572768" y="4654295"/>
            <a:ext cx="2468880" cy="25603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600" b="1">
                <a:solidFill>
                  <a:srgbClr val="2A3530"/>
                </a:solidFill>
                <a:latin typeface="Noto Sans CJK SC"/>
              </a:rPr>
              <a:t>最后调整叙事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572768" y="4965192"/>
            <a:ext cx="9281160" cy="27432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100" b="0">
                <a:solidFill>
                  <a:srgbClr val="687068"/>
                </a:solidFill>
                <a:latin typeface="Noto Sans CJK SC"/>
              </a:rPr>
              <a:t>案例对比矩阵、设计决策、指标页、结论和下一步。</a:t>
            </a:r>
          </a:p>
        </p:txBody>
      </p:sp>
      <p:sp>
        <p:nvSpPr>
          <p:cNvPr id="28" name="Rectangle 27"/>
          <p:cNvSpPr/>
          <p:nvPr/>
        </p:nvSpPr>
        <p:spPr>
          <a:xfrm>
            <a:off x="1572768" y="5495544"/>
            <a:ext cx="9326880" cy="12700"/>
          </a:xfrm>
          <a:prstGeom prst="rect">
            <a:avLst/>
          </a:prstGeom>
          <a:solidFill>
            <a:srgbClr val="CDD2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685800" y="5742432"/>
            <a:ext cx="10789920" cy="566928"/>
          </a:xfrm>
          <a:prstGeom prst="roundRect">
            <a:avLst/>
          </a:prstGeom>
          <a:solidFill>
            <a:srgbClr val="ECF0E5"/>
          </a:solidFill>
          <a:ln w="10160">
            <a:solidFill>
              <a:srgbClr val="4C71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914400" y="5925312"/>
            <a:ext cx="10332720" cy="20116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100" b="1">
                <a:solidFill>
                  <a:srgbClr val="2A3530"/>
                </a:solidFill>
                <a:latin typeface="Noto Sans CJK SC"/>
              </a:rPr>
              <a:t>最终汇报建议结构：任务书与场地 → 案例对比 → 设计概念 → 总平面/一层/二层 → 剖面与结构 → 生态验证 → 植物与运营 → 效果图 → 指标与结论。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