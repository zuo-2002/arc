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83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refine_cov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31520" y="658368"/>
            <a:ext cx="3657600" cy="274320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l"/>
            <a:r>
              <a:rPr sz="1400" b="1">
                <a:solidFill>
                  <a:srgbClr val="DCE9D6"/>
                </a:solidFill>
                <a:latin typeface="Microsoft YaHei"/>
              </a:rPr>
              <a:t>干煤棚更新设计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143000"/>
            <a:ext cx="8686800" cy="621792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l"/>
            <a:r>
              <a:rPr sz="3300" b="1">
                <a:solidFill>
                  <a:srgbClr val="FFFFFF"/>
                </a:solidFill>
                <a:latin typeface="Microsoft YaHei"/>
              </a:rPr>
              <a:t>廊下花园 · 五项问题专项深化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1920240"/>
            <a:ext cx="6949440" cy="384048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l"/>
            <a:r>
              <a:rPr sz="1800" b="0">
                <a:solidFill>
                  <a:srgbClr val="FFFFFF"/>
                </a:solidFill>
                <a:latin typeface="Microsoft YaHei"/>
              </a:rPr>
              <a:t>在既有功能布局上补全流线、设施、二层目的与生态维护系统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749808" y="2560320"/>
            <a:ext cx="3867912" cy="0"/>
          </a:xfrm>
          <a:prstGeom prst="line">
            <a:avLst/>
          </a:prstGeom>
          <a:ln w="31750">
            <a:solidFill>
              <a:srgbClr val="DCE9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749808" y="2788920"/>
            <a:ext cx="5669280" cy="713232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  <a:latin typeface="Microsoft YaHei"/>
              </a:rPr>
              <a:t>固定结构数据
216m × 40.5m · 网架下高 18.5m · 檐口 21.37m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8" y="6172200"/>
            <a:ext cx="2560320" cy="201168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l"/>
            <a:r>
              <a:rPr sz="1000" b="1">
                <a:solidFill>
                  <a:srgbClr val="DCE9D6"/>
                </a:solidFill>
                <a:latin typeface="Microsoft YaHei"/>
              </a:rPr>
              <a:t>专项设计｜2026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03920" y="6172200"/>
            <a:ext cx="2743200" cy="201168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r"/>
            <a:r>
              <a:rPr sz="1000" b="0">
                <a:solidFill>
                  <a:srgbClr val="FFFFFF"/>
                </a:solidFill>
                <a:latin typeface="Microsoft YaHei"/>
              </a:rPr>
              <a:t>不改原有功能布局 · 增补必要小型设施和体块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5486400" cy="219456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l"/>
            <a:r>
              <a:rPr sz="1000" b="1">
                <a:solidFill>
                  <a:srgbClr val="5F6F67"/>
                </a:solidFill>
                <a:latin typeface="Microsoft YaHei"/>
              </a:rPr>
              <a:t>01  FIXED 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585216"/>
            <a:ext cx="10515600" cy="411480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l"/>
            <a:r>
              <a:rPr sz="2500" b="1">
                <a:solidFill>
                  <a:srgbClr val="233933"/>
                </a:solidFill>
                <a:latin typeface="Microsoft YaHei"/>
              </a:rPr>
              <a:t>本次深化的确定条件与设计边界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347472"/>
            <a:ext cx="502920" cy="329184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r"/>
            <a:r>
              <a:rPr sz="2000" b="0">
                <a:solidFill>
                  <a:srgbClr val="5F6F67"/>
                </a:solidFill>
                <a:latin typeface="Microsoft YaHei"/>
              </a:rPr>
              <a:t>02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94360" y="1143000"/>
            <a:ext cx="11000232" cy="0"/>
          </a:xfrm>
          <a:prstGeom prst="line">
            <a:avLst/>
          </a:prstGeom>
          <a:ln w="12700">
            <a:solidFill>
              <a:srgbClr val="BDC7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685800" y="1371600"/>
            <a:ext cx="10515600" cy="320040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l"/>
            <a:r>
              <a:rPr sz="1600" b="0">
                <a:solidFill>
                  <a:srgbClr val="233933"/>
                </a:solidFill>
                <a:latin typeface="Microsoft YaHei"/>
              </a:rPr>
              <a:t>你已确认的四项结构数据，将作为本次所有空间补全和技术表达的统一基准。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" y="2011680"/>
            <a:ext cx="2514600" cy="1828800"/>
          </a:xfrm>
          <a:prstGeom prst="roundRect">
            <a:avLst/>
          </a:prstGeom>
          <a:solidFill>
            <a:srgbClr val="DCE9D6"/>
          </a:solidFill>
          <a:ln w="12700">
            <a:solidFill>
              <a:srgbClr val="73A4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41832" y="2304288"/>
            <a:ext cx="2011680" cy="256032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l"/>
            <a:r>
              <a:rPr sz="1600" b="1">
                <a:solidFill>
                  <a:srgbClr val="233933"/>
                </a:solidFill>
                <a:latin typeface="Microsoft YaHei"/>
              </a:rPr>
              <a:t>长度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41832" y="2697480"/>
            <a:ext cx="2011680" cy="347472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l"/>
            <a:r>
              <a:rPr sz="2400" b="1">
                <a:solidFill>
                  <a:srgbClr val="A06737"/>
                </a:solidFill>
                <a:latin typeface="Microsoft YaHei"/>
              </a:rPr>
              <a:t>216m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41832" y="3246120"/>
            <a:ext cx="2011680" cy="384048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l"/>
            <a:r>
              <a:rPr sz="1100" b="0">
                <a:solidFill>
                  <a:srgbClr val="5F6F67"/>
                </a:solidFill>
                <a:latin typeface="Microsoft YaHei"/>
              </a:rPr>
              <a:t>沿建筑纵向的连续大屋盖与公共步道骨架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547872" y="2011680"/>
            <a:ext cx="2514600" cy="1828800"/>
          </a:xfrm>
          <a:prstGeom prst="roundRect">
            <a:avLst/>
          </a:prstGeom>
          <a:solidFill>
            <a:srgbClr val="DCE9F1"/>
          </a:solidFill>
          <a:ln w="12700">
            <a:solidFill>
              <a:srgbClr val="7BA6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776472" y="2304288"/>
            <a:ext cx="2011680" cy="256032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l"/>
            <a:r>
              <a:rPr sz="1600" b="1">
                <a:solidFill>
                  <a:srgbClr val="233933"/>
                </a:solidFill>
                <a:latin typeface="Microsoft YaHei"/>
              </a:rPr>
              <a:t>横向宽度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76472" y="2697480"/>
            <a:ext cx="2011680" cy="347472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l"/>
            <a:r>
              <a:rPr sz="2400" b="1">
                <a:solidFill>
                  <a:srgbClr val="A06737"/>
                </a:solidFill>
                <a:latin typeface="Microsoft YaHei"/>
              </a:rPr>
              <a:t>40.5m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76472" y="3246120"/>
            <a:ext cx="2011680" cy="384048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l"/>
            <a:r>
              <a:rPr sz="1100" b="0">
                <a:solidFill>
                  <a:srgbClr val="5F6F67"/>
                </a:solidFill>
                <a:latin typeface="Microsoft YaHei"/>
              </a:rPr>
              <a:t>后续平面面积与疏散宽度校核基准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82512" y="2011680"/>
            <a:ext cx="2514600" cy="1828800"/>
          </a:xfrm>
          <a:prstGeom prst="roundRect">
            <a:avLst/>
          </a:prstGeom>
          <a:solidFill>
            <a:srgbClr val="DCE9D6"/>
          </a:solidFill>
          <a:ln w="12700">
            <a:solidFill>
              <a:srgbClr val="73A4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11112" y="2304288"/>
            <a:ext cx="2011680" cy="256032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l"/>
            <a:r>
              <a:rPr sz="1600" b="1">
                <a:solidFill>
                  <a:srgbClr val="233933"/>
                </a:solidFill>
                <a:latin typeface="Microsoft YaHei"/>
              </a:rPr>
              <a:t>网架下高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11112" y="2697480"/>
            <a:ext cx="2011680" cy="347472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l"/>
            <a:r>
              <a:rPr sz="2400" b="1">
                <a:solidFill>
                  <a:srgbClr val="A06737"/>
                </a:solidFill>
                <a:latin typeface="Microsoft YaHei"/>
              </a:rPr>
              <a:t>18.5m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11112" y="3246120"/>
            <a:ext cx="2011680" cy="384048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l"/>
            <a:r>
              <a:rPr sz="1100" b="0">
                <a:solidFill>
                  <a:srgbClr val="5F6F67"/>
                </a:solidFill>
                <a:latin typeface="Microsoft YaHei"/>
              </a:rPr>
              <a:t>二层平台、空井、通风与展陈尺度基准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217152" y="2011680"/>
            <a:ext cx="2514600" cy="1828800"/>
          </a:xfrm>
          <a:prstGeom prst="roundRect">
            <a:avLst/>
          </a:prstGeom>
          <a:solidFill>
            <a:srgbClr val="DCE9F1"/>
          </a:solidFill>
          <a:ln w="12700">
            <a:solidFill>
              <a:srgbClr val="7BA6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445752" y="2304288"/>
            <a:ext cx="2011680" cy="256032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l"/>
            <a:r>
              <a:rPr sz="1600" b="1">
                <a:solidFill>
                  <a:srgbClr val="233933"/>
                </a:solidFill>
                <a:latin typeface="Microsoft YaHei"/>
              </a:rPr>
              <a:t>檐口高度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445752" y="2697480"/>
            <a:ext cx="2011680" cy="347472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l"/>
            <a:r>
              <a:rPr sz="2400" b="1">
                <a:solidFill>
                  <a:srgbClr val="A06737"/>
                </a:solidFill>
                <a:latin typeface="Microsoft YaHei"/>
              </a:rPr>
              <a:t>21.37m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445752" y="3246120"/>
            <a:ext cx="2011680" cy="384048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l"/>
            <a:r>
              <a:rPr sz="1100" b="0">
                <a:solidFill>
                  <a:srgbClr val="5F6F67"/>
                </a:solidFill>
                <a:latin typeface="Microsoft YaHei"/>
              </a:rPr>
              <a:t>屋面、采光、雨水与设备高度边界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31520" y="4617720"/>
            <a:ext cx="10835640" cy="960120"/>
          </a:xfrm>
          <a:prstGeom prst="roundRect">
            <a:avLst/>
          </a:prstGeom>
          <a:solidFill>
            <a:srgbClr val="183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24128" y="4882896"/>
            <a:ext cx="1005840" cy="228600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l"/>
            <a:r>
              <a:rPr sz="1200" b="1">
                <a:solidFill>
                  <a:srgbClr val="DCE9D6"/>
                </a:solidFill>
                <a:latin typeface="Microsoft YaHei"/>
              </a:rPr>
              <a:t>设计边界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240280" y="4818888"/>
            <a:ext cx="8823960" cy="365760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Microsoft YaHei"/>
              </a:rPr>
              <a:t>保留原煤棚屋盖、柱网和一、二层主要功能布局；新增内容以小型设施、交通核心、平台和生态服务节点为主。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594360" y="6510528"/>
            <a:ext cx="11000232" cy="0"/>
          </a:xfrm>
          <a:prstGeom prst="line">
            <a:avLst/>
          </a:prstGeom>
          <a:ln w="10160">
            <a:solidFill>
              <a:srgbClr val="BDC7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594360" y="6583680"/>
            <a:ext cx="10058400" cy="164592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l"/>
            <a:r>
              <a:rPr sz="800" b="0">
                <a:solidFill>
                  <a:srgbClr val="5F6F67"/>
                </a:solidFill>
                <a:latin typeface="Microsoft YaHei"/>
              </a:rPr>
              <a:t>廊下花园专项深化｜概念方案，需经 CAD、结构、消防、无障碍与设备专项复核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287000" y="6583680"/>
            <a:ext cx="1280160" cy="164592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r"/>
            <a:r>
              <a:rPr sz="800" b="0">
                <a:solidFill>
                  <a:srgbClr val="5F6F67"/>
                </a:solidFill>
                <a:latin typeface="Microsoft YaHei"/>
              </a:rPr>
              <a:t>专项深化 PPT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5486400" cy="219456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l"/>
            <a:r>
              <a:rPr sz="1000" b="1">
                <a:solidFill>
                  <a:srgbClr val="5F6F67"/>
                </a:solidFill>
                <a:latin typeface="Microsoft YaHei"/>
              </a:rPr>
              <a:t>02  OVERALL REFINEMENT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585216"/>
            <a:ext cx="10515600" cy="411480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l"/>
            <a:r>
              <a:rPr sz="2500" b="1">
                <a:solidFill>
                  <a:srgbClr val="233933"/>
                </a:solidFill>
                <a:latin typeface="Microsoft YaHei"/>
              </a:rPr>
              <a:t>五项问题的整体补全关系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347472"/>
            <a:ext cx="502920" cy="329184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r"/>
            <a:r>
              <a:rPr sz="2000" b="0">
                <a:solidFill>
                  <a:srgbClr val="5F6F67"/>
                </a:solidFill>
                <a:latin typeface="Microsoft YaHei"/>
              </a:rPr>
              <a:t>03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94360" y="1143000"/>
            <a:ext cx="11000232" cy="0"/>
          </a:xfrm>
          <a:prstGeom prst="line">
            <a:avLst/>
          </a:prstGeom>
          <a:ln w="12700">
            <a:solidFill>
              <a:srgbClr val="BDC7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7" name="Picture 6" descr="干煤棚廊下花园_五项问题专项深化板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325880"/>
            <a:ext cx="10927080" cy="4983480"/>
          </a:xfrm>
          <a:prstGeom prst="rect">
            <a:avLst/>
          </a:prstGeom>
        </p:spPr>
      </p:pic>
      <p:cxnSp>
        <p:nvCxnSpPr>
          <p:cNvPr id="8" name="Connector 7"/>
          <p:cNvCxnSpPr/>
          <p:nvPr/>
        </p:nvCxnSpPr>
        <p:spPr>
          <a:xfrm>
            <a:off x="594360" y="6510528"/>
            <a:ext cx="11000232" cy="0"/>
          </a:xfrm>
          <a:prstGeom prst="line">
            <a:avLst/>
          </a:prstGeom>
          <a:ln w="10160">
            <a:solidFill>
              <a:srgbClr val="BDC7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594360" y="6583680"/>
            <a:ext cx="10058400" cy="164592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l"/>
            <a:r>
              <a:rPr sz="800" b="0">
                <a:solidFill>
                  <a:srgbClr val="5F6F67"/>
                </a:solidFill>
                <a:latin typeface="Microsoft YaHei"/>
              </a:rPr>
              <a:t>廊下花园专项深化｜概念方案，需经 CAD、结构、消防、无障碍与设备专项复核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287000" y="6583680"/>
            <a:ext cx="1280160" cy="164592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r"/>
            <a:r>
              <a:rPr sz="800" b="0">
                <a:solidFill>
                  <a:srgbClr val="5F6F67"/>
                </a:solidFill>
                <a:latin typeface="Microsoft YaHei"/>
              </a:rPr>
              <a:t>专项深化 PPT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5486400" cy="219456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l"/>
            <a:r>
              <a:rPr sz="1000" b="1">
                <a:solidFill>
                  <a:srgbClr val="5F6F67"/>
                </a:solidFill>
                <a:latin typeface="Microsoft YaHei"/>
              </a:rPr>
              <a:t>03  FIRE &amp; ACCESS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585216"/>
            <a:ext cx="10515600" cy="411480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l"/>
            <a:r>
              <a:rPr sz="2500" b="1">
                <a:solidFill>
                  <a:srgbClr val="233933"/>
                </a:solidFill>
                <a:latin typeface="Microsoft YaHei"/>
              </a:rPr>
              <a:t>问题一：消防与无障碍闭合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347472"/>
            <a:ext cx="502920" cy="329184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r"/>
            <a:r>
              <a:rPr sz="2000" b="0">
                <a:solidFill>
                  <a:srgbClr val="5F6F67"/>
                </a:solidFill>
                <a:latin typeface="Microsoft YaHei"/>
              </a:rPr>
              <a:t>04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94360" y="1143000"/>
            <a:ext cx="11000232" cy="0"/>
          </a:xfrm>
          <a:prstGeom prst="line">
            <a:avLst/>
          </a:prstGeom>
          <a:ln w="12700">
            <a:solidFill>
              <a:srgbClr val="BDC7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685800" y="1417320"/>
            <a:ext cx="6537960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DC7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691640"/>
            <a:ext cx="5989320" cy="411480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l"/>
            <a:r>
              <a:rPr sz="1500" b="0">
                <a:solidFill>
                  <a:srgbClr val="233933"/>
                </a:solidFill>
                <a:latin typeface="Microsoft YaHei"/>
              </a:rPr>
              <a:t>在原有两个横向联系节点上，补充“楼梯 + 无障碍电梯 + 疏散缓冲”复合核心。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05840" y="2487168"/>
            <a:ext cx="5852160" cy="502920"/>
          </a:xfrm>
          <a:prstGeom prst="roundRect">
            <a:avLst/>
          </a:prstGeom>
          <a:solidFill>
            <a:srgbClr val="DCE9D6"/>
          </a:solidFill>
          <a:ln w="12700">
            <a:solidFill>
              <a:srgbClr val="73A4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468880" y="2633472"/>
            <a:ext cx="3017520" cy="182880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ctr"/>
            <a:r>
              <a:rPr sz="1400" b="1">
                <a:solidFill>
                  <a:srgbClr val="233933"/>
                </a:solidFill>
                <a:latin typeface="Microsoft YaHei"/>
              </a:rPr>
              <a:t>连续公共步道 / 无障碍环线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234440" y="2212848"/>
            <a:ext cx="502920" cy="1097280"/>
          </a:xfrm>
          <a:prstGeom prst="roundRect">
            <a:avLst/>
          </a:prstGeom>
          <a:solidFill>
            <a:srgbClr val="183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34440" y="2487168"/>
            <a:ext cx="502920" cy="411480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YaHei"/>
              </a:rPr>
              <a:t>楼梯
电梯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1490472" y="3310128"/>
            <a:ext cx="0" cy="667511"/>
          </a:xfrm>
          <a:prstGeom prst="line">
            <a:avLst/>
          </a:prstGeom>
          <a:ln w="25400">
            <a:solidFill>
              <a:srgbClr val="183A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3246120" y="2212848"/>
            <a:ext cx="502920" cy="1097280"/>
          </a:xfrm>
          <a:prstGeom prst="roundRect">
            <a:avLst/>
          </a:prstGeom>
          <a:solidFill>
            <a:srgbClr val="183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246120" y="2487168"/>
            <a:ext cx="502920" cy="411480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YaHei"/>
              </a:rPr>
              <a:t>楼梯
电梯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3502152" y="3310128"/>
            <a:ext cx="0" cy="667511"/>
          </a:xfrm>
          <a:prstGeom prst="line">
            <a:avLst/>
          </a:prstGeom>
          <a:ln w="25400">
            <a:solidFill>
              <a:srgbClr val="183A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5303520" y="2212848"/>
            <a:ext cx="502920" cy="1097280"/>
          </a:xfrm>
          <a:prstGeom prst="roundRect">
            <a:avLst/>
          </a:prstGeom>
          <a:solidFill>
            <a:srgbClr val="183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303520" y="2487168"/>
            <a:ext cx="502920" cy="411480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YaHei"/>
              </a:rPr>
              <a:t>楼梯
电梯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5559552" y="3310128"/>
            <a:ext cx="0" cy="667511"/>
          </a:xfrm>
          <a:prstGeom prst="line">
            <a:avLst/>
          </a:prstGeom>
          <a:ln w="25400">
            <a:solidFill>
              <a:srgbClr val="183A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914400" y="3611880"/>
            <a:ext cx="594360" cy="384048"/>
          </a:xfrm>
          <a:prstGeom prst="roundRect">
            <a:avLst/>
          </a:prstGeom>
          <a:solidFill>
            <a:srgbClr val="EEDECC"/>
          </a:solidFill>
          <a:ln w="12700">
            <a:solidFill>
              <a:srgbClr val="A067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" y="3703320"/>
            <a:ext cx="594360" cy="155448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ctr"/>
            <a:r>
              <a:rPr sz="1000" b="1">
                <a:solidFill>
                  <a:srgbClr val="A06737"/>
                </a:solidFill>
                <a:latin typeface="Microsoft YaHei"/>
              </a:rPr>
              <a:t>出口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00800" y="3611880"/>
            <a:ext cx="594360" cy="384048"/>
          </a:xfrm>
          <a:prstGeom prst="roundRect">
            <a:avLst/>
          </a:prstGeom>
          <a:solidFill>
            <a:srgbClr val="EEDECC"/>
          </a:solidFill>
          <a:ln w="12700">
            <a:solidFill>
              <a:srgbClr val="A067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0" y="3703320"/>
            <a:ext cx="594360" cy="155448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ctr"/>
            <a:r>
              <a:rPr sz="1000" b="1">
                <a:solidFill>
                  <a:srgbClr val="A06737"/>
                </a:solidFill>
                <a:latin typeface="Microsoft YaHei"/>
              </a:rPr>
              <a:t>出口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468880" y="3703320"/>
            <a:ext cx="2468880" cy="182880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ctr"/>
            <a:r>
              <a:rPr sz="1200" b="1">
                <a:solidFill>
                  <a:srgbClr val="A06737"/>
                </a:solidFill>
                <a:latin typeface="Microsoft YaHei"/>
              </a:rPr>
              <a:t>两端入口 / 疏散出口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914400" y="4434840"/>
            <a:ext cx="5669280" cy="0"/>
          </a:xfrm>
          <a:prstGeom prst="line">
            <a:avLst/>
          </a:prstGeom>
          <a:ln w="25400">
            <a:solidFill>
              <a:srgbClr val="7BA6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2606040" y="4553712"/>
            <a:ext cx="2286000" cy="182880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ctr"/>
            <a:r>
              <a:rPr sz="1100" b="1">
                <a:solidFill>
                  <a:srgbClr val="7BA6BE"/>
                </a:solidFill>
                <a:latin typeface="Microsoft YaHei"/>
              </a:rPr>
              <a:t>连续无障碍回游路径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543800" y="1417320"/>
            <a:ext cx="3977639" cy="4480560"/>
          </a:xfrm>
          <a:prstGeom prst="roundRect">
            <a:avLst/>
          </a:prstGeom>
          <a:solidFill>
            <a:srgbClr val="DCE9D6"/>
          </a:solidFill>
          <a:ln w="12700">
            <a:solidFill>
              <a:srgbClr val="73A4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863840" y="1737360"/>
            <a:ext cx="1828800" cy="256032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l"/>
            <a:r>
              <a:rPr sz="1800" b="1">
                <a:solidFill>
                  <a:srgbClr val="233933"/>
                </a:solidFill>
                <a:latin typeface="Microsoft YaHei"/>
              </a:rPr>
              <a:t>补全内容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863840" y="2304288"/>
            <a:ext cx="146304" cy="274320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l"/>
            <a:r>
              <a:rPr sz="1500" b="1">
                <a:solidFill>
                  <a:srgbClr val="A06737"/>
                </a:solidFill>
                <a:latin typeface="Microsoft YaHei"/>
              </a:rPr>
              <a:t>•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046719" y="2304288"/>
            <a:ext cx="3200400" cy="393192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l"/>
            <a:r>
              <a:rPr sz="1300" b="0">
                <a:solidFill>
                  <a:srgbClr val="233933"/>
                </a:solidFill>
                <a:latin typeface="Microsoft YaHei"/>
              </a:rPr>
              <a:t>两处主要竖向核心：楼梯、无障碍电梯、前室和设备接口。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863840" y="2999232"/>
            <a:ext cx="146304" cy="274320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l"/>
            <a:r>
              <a:rPr sz="1500" b="1">
                <a:solidFill>
                  <a:srgbClr val="A06737"/>
                </a:solidFill>
                <a:latin typeface="Microsoft YaHei"/>
              </a:rPr>
              <a:t>•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046719" y="2999232"/>
            <a:ext cx="3200400" cy="393192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l"/>
            <a:r>
              <a:rPr sz="1300" b="0">
                <a:solidFill>
                  <a:srgbClr val="233933"/>
                </a:solidFill>
                <a:latin typeface="Microsoft YaHei"/>
              </a:rPr>
              <a:t>两端设置清晰出口和入口缓冲，避免人流直接冲入主步道。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863840" y="3703320"/>
            <a:ext cx="146304" cy="274320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l"/>
            <a:r>
              <a:rPr sz="1500" b="1">
                <a:solidFill>
                  <a:srgbClr val="A06737"/>
                </a:solidFill>
                <a:latin typeface="Microsoft YaHei"/>
              </a:rPr>
              <a:t>•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046719" y="3703320"/>
            <a:ext cx="3200400" cy="393192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l"/>
            <a:r>
              <a:rPr sz="1300" b="0">
                <a:solidFill>
                  <a:srgbClr val="233933"/>
                </a:solidFill>
                <a:latin typeface="Microsoft YaHei"/>
              </a:rPr>
              <a:t>形成首层—二层—滨江侧的连续无障碍回游环线。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863840" y="4407408"/>
            <a:ext cx="146304" cy="274320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l"/>
            <a:r>
              <a:rPr sz="1500" b="1">
                <a:solidFill>
                  <a:srgbClr val="A06737"/>
                </a:solidFill>
                <a:latin typeface="Microsoft YaHei"/>
              </a:rPr>
              <a:t>•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046719" y="4407408"/>
            <a:ext cx="3200400" cy="393192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l"/>
            <a:r>
              <a:rPr sz="1300" b="0">
                <a:solidFill>
                  <a:srgbClr val="233933"/>
                </a:solidFill>
                <a:latin typeface="Microsoft YaHei"/>
              </a:rPr>
              <a:t>最终疏散距离、防火分区、楼梯宽度按当地规范复核。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594360" y="6510528"/>
            <a:ext cx="11000232" cy="0"/>
          </a:xfrm>
          <a:prstGeom prst="line">
            <a:avLst/>
          </a:prstGeom>
          <a:ln w="10160">
            <a:solidFill>
              <a:srgbClr val="BDC7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/>
        </p:nvSpPr>
        <p:spPr>
          <a:xfrm>
            <a:off x="594360" y="6583680"/>
            <a:ext cx="10058400" cy="164592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l"/>
            <a:r>
              <a:rPr sz="800" b="0">
                <a:solidFill>
                  <a:srgbClr val="5F6F67"/>
                </a:solidFill>
                <a:latin typeface="Microsoft YaHei"/>
              </a:rPr>
              <a:t>廊下花园专项深化｜概念方案，需经 CAD、结构、消防、无障碍与设备专项复核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287000" y="6583680"/>
            <a:ext cx="1280160" cy="164592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r"/>
            <a:r>
              <a:rPr sz="800" b="0">
                <a:solidFill>
                  <a:srgbClr val="5F6F67"/>
                </a:solidFill>
                <a:latin typeface="Microsoft YaHei"/>
              </a:rPr>
              <a:t>专项深化 PPT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5486400" cy="219456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l"/>
            <a:r>
              <a:rPr sz="1000" b="1">
                <a:solidFill>
                  <a:srgbClr val="5F6F67"/>
                </a:solidFill>
                <a:latin typeface="Microsoft YaHei"/>
              </a:rPr>
              <a:t>04  PUBLIC SPINE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585216"/>
            <a:ext cx="10515600" cy="411480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l"/>
            <a:r>
              <a:rPr sz="2500" b="1">
                <a:solidFill>
                  <a:srgbClr val="233933"/>
                </a:solidFill>
                <a:latin typeface="Microsoft YaHei"/>
              </a:rPr>
              <a:t>问题二：让 8m 公共步道真正可使用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347472"/>
            <a:ext cx="502920" cy="329184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r"/>
            <a:r>
              <a:rPr sz="2000" b="0">
                <a:solidFill>
                  <a:srgbClr val="5F6F67"/>
                </a:solidFill>
                <a:latin typeface="Microsoft YaHei"/>
              </a:rPr>
              <a:t>05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94360" y="1143000"/>
            <a:ext cx="11000232" cy="0"/>
          </a:xfrm>
          <a:prstGeom prst="line">
            <a:avLst/>
          </a:prstGeom>
          <a:ln w="12700">
            <a:solidFill>
              <a:srgbClr val="BDC7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685800" y="1417320"/>
            <a:ext cx="10835640" cy="914400"/>
          </a:xfrm>
          <a:prstGeom prst="roundRect">
            <a:avLst/>
          </a:prstGeom>
          <a:solidFill>
            <a:srgbClr val="183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700784"/>
            <a:ext cx="10241280" cy="274320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主步道不只承担通行，还要承担停留、展陈、遮荫、雨天活动和方向识别。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1097280" y="3291840"/>
            <a:ext cx="9966960" cy="0"/>
          </a:xfrm>
          <a:prstGeom prst="line">
            <a:avLst/>
          </a:prstGeom>
          <a:ln w="50800">
            <a:solidFill>
              <a:srgbClr val="BDC7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914400" y="2880360"/>
            <a:ext cx="1691640" cy="1143000"/>
          </a:xfrm>
          <a:prstGeom prst="roundRect">
            <a:avLst/>
          </a:prstGeom>
          <a:solidFill>
            <a:srgbClr val="DCE9F1"/>
          </a:solidFill>
          <a:ln w="12700">
            <a:solidFill>
              <a:srgbClr val="7BA6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60704" y="3044952"/>
            <a:ext cx="292608" cy="201168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l"/>
            <a:r>
              <a:rPr sz="1100" b="1">
                <a:solidFill>
                  <a:srgbClr val="7BA6BE"/>
                </a:solidFill>
                <a:latin typeface="Microsoft YaHei"/>
              </a:rP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704" y="3364991"/>
            <a:ext cx="1417320" cy="228600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l"/>
            <a:r>
              <a:rPr sz="1500" b="1">
                <a:solidFill>
                  <a:srgbClr val="233933"/>
                </a:solidFill>
                <a:latin typeface="Microsoft YaHei"/>
              </a:rPr>
              <a:t>入口前厅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704" y="3675887"/>
            <a:ext cx="1417320" cy="182880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l"/>
            <a:r>
              <a:rPr sz="1100" b="0">
                <a:solidFill>
                  <a:srgbClr val="5F6F67"/>
                </a:solidFill>
                <a:latin typeface="Microsoft YaHei"/>
              </a:rPr>
              <a:t>识别 / 集散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627632" y="2807208"/>
            <a:ext cx="256032" cy="256032"/>
          </a:xfrm>
          <a:prstGeom prst="roundRect">
            <a:avLst/>
          </a:prstGeom>
          <a:solidFill>
            <a:srgbClr val="7BA6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3127248" y="2880360"/>
            <a:ext cx="1691640" cy="1143000"/>
          </a:xfrm>
          <a:prstGeom prst="roundRect">
            <a:avLst/>
          </a:prstGeom>
          <a:solidFill>
            <a:srgbClr val="EEDECC"/>
          </a:solidFill>
          <a:ln w="12700">
            <a:solidFill>
              <a:srgbClr val="A067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273552" y="3044952"/>
            <a:ext cx="292608" cy="201168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l"/>
            <a:r>
              <a:rPr sz="1100" b="1">
                <a:solidFill>
                  <a:srgbClr val="A06737"/>
                </a:solidFill>
                <a:latin typeface="Microsoft YaHei"/>
              </a:rP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73552" y="3364991"/>
            <a:ext cx="1417320" cy="228600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l"/>
            <a:r>
              <a:rPr sz="1500" b="1">
                <a:solidFill>
                  <a:srgbClr val="233933"/>
                </a:solidFill>
                <a:latin typeface="Microsoft YaHei"/>
              </a:rPr>
              <a:t>展陈口袋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73552" y="3675887"/>
            <a:ext cx="1417320" cy="182880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l"/>
            <a:r>
              <a:rPr sz="1100" b="0">
                <a:solidFill>
                  <a:srgbClr val="5F6F67"/>
                </a:solidFill>
                <a:latin typeface="Microsoft YaHei"/>
              </a:rPr>
              <a:t>短暂停留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840480" y="2807208"/>
            <a:ext cx="256032" cy="256032"/>
          </a:xfrm>
          <a:prstGeom prst="roundRect">
            <a:avLst/>
          </a:prstGeom>
          <a:solidFill>
            <a:srgbClr val="A067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5340096" y="2880360"/>
            <a:ext cx="1691640" cy="1143000"/>
          </a:xfrm>
          <a:prstGeom prst="roundRect">
            <a:avLst/>
          </a:prstGeom>
          <a:solidFill>
            <a:srgbClr val="DCE9D6"/>
          </a:solidFill>
          <a:ln w="12700">
            <a:solidFill>
              <a:srgbClr val="73A4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86400" y="3044952"/>
            <a:ext cx="292608" cy="201168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l"/>
            <a:r>
              <a:rPr sz="1100" b="1">
                <a:solidFill>
                  <a:srgbClr val="73A467"/>
                </a:solidFill>
                <a:latin typeface="Microsoft YaHei"/>
              </a:rPr>
              <a:t>03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0" y="3364991"/>
            <a:ext cx="1417320" cy="228600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l"/>
            <a:r>
              <a:rPr sz="1500" b="1">
                <a:solidFill>
                  <a:srgbClr val="233933"/>
                </a:solidFill>
                <a:latin typeface="Microsoft YaHei"/>
              </a:rPr>
              <a:t>雨水花园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0" y="3675887"/>
            <a:ext cx="1417320" cy="182880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l"/>
            <a:r>
              <a:rPr sz="1100" b="0">
                <a:solidFill>
                  <a:srgbClr val="5F6F67"/>
                </a:solidFill>
                <a:latin typeface="Microsoft YaHei"/>
              </a:rPr>
              <a:t>生态教育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053328" y="2807208"/>
            <a:ext cx="256032" cy="256032"/>
          </a:xfrm>
          <a:prstGeom prst="roundRect">
            <a:avLst/>
          </a:prstGeom>
          <a:solidFill>
            <a:srgbClr val="73A4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7552944" y="2880360"/>
            <a:ext cx="1691640" cy="1143000"/>
          </a:xfrm>
          <a:prstGeom prst="roundRect">
            <a:avLst/>
          </a:prstGeom>
          <a:solidFill>
            <a:srgbClr val="DCE9D6"/>
          </a:solidFill>
          <a:ln w="12700">
            <a:solidFill>
              <a:srgbClr val="73A4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699248" y="3044952"/>
            <a:ext cx="292608" cy="201168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l"/>
            <a:r>
              <a:rPr sz="1100" b="1">
                <a:solidFill>
                  <a:srgbClr val="73A467"/>
                </a:solidFill>
                <a:latin typeface="Microsoft YaHei"/>
              </a:rPr>
              <a:t>04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699248" y="3364991"/>
            <a:ext cx="1417320" cy="228600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l"/>
            <a:r>
              <a:rPr sz="1500" b="1">
                <a:solidFill>
                  <a:srgbClr val="233933"/>
                </a:solidFill>
                <a:latin typeface="Microsoft YaHei"/>
              </a:rPr>
              <a:t>休憩口袋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699248" y="3675887"/>
            <a:ext cx="1417320" cy="182880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l"/>
            <a:r>
              <a:rPr sz="1100" b="0">
                <a:solidFill>
                  <a:srgbClr val="5F6F67"/>
                </a:solidFill>
                <a:latin typeface="Microsoft YaHei"/>
              </a:rPr>
              <a:t>树荫 / 座椅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266175" y="2807208"/>
            <a:ext cx="256032" cy="256032"/>
          </a:xfrm>
          <a:prstGeom prst="roundRect">
            <a:avLst/>
          </a:prstGeom>
          <a:solidFill>
            <a:srgbClr val="73A4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9765792" y="2880360"/>
            <a:ext cx="1691640" cy="1143000"/>
          </a:xfrm>
          <a:prstGeom prst="roundRect">
            <a:avLst/>
          </a:prstGeom>
          <a:solidFill>
            <a:srgbClr val="EEDECC"/>
          </a:solidFill>
          <a:ln w="12700">
            <a:solidFill>
              <a:srgbClr val="A067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912096" y="3044952"/>
            <a:ext cx="292608" cy="201168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l"/>
            <a:r>
              <a:rPr sz="1100" b="1">
                <a:solidFill>
                  <a:srgbClr val="A06737"/>
                </a:solidFill>
                <a:latin typeface="Microsoft YaHei"/>
              </a:rPr>
              <a:t>05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912096" y="3364991"/>
            <a:ext cx="1417320" cy="228600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l"/>
            <a:r>
              <a:rPr sz="1500" b="1">
                <a:solidFill>
                  <a:srgbClr val="233933"/>
                </a:solidFill>
                <a:latin typeface="Microsoft YaHei"/>
              </a:rPr>
              <a:t>观江平台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912096" y="3675887"/>
            <a:ext cx="1417320" cy="182880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l"/>
            <a:r>
              <a:rPr sz="1100" b="0">
                <a:solidFill>
                  <a:srgbClr val="5F6F67"/>
                </a:solidFill>
                <a:latin typeface="Microsoft YaHei"/>
              </a:rPr>
              <a:t>滨江终点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10479024" y="2807208"/>
            <a:ext cx="256032" cy="256032"/>
          </a:xfrm>
          <a:prstGeom prst="roundRect">
            <a:avLst/>
          </a:prstGeom>
          <a:solidFill>
            <a:srgbClr val="A067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731520" y="4892040"/>
            <a:ext cx="10698480" cy="868680"/>
          </a:xfrm>
          <a:prstGeom prst="roundRect">
            <a:avLst/>
          </a:prstGeom>
          <a:solidFill>
            <a:srgbClr val="DCE9D6"/>
          </a:solidFill>
          <a:ln w="12700">
            <a:solidFill>
              <a:srgbClr val="73A4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87552" y="5138928"/>
            <a:ext cx="1188720" cy="201168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l"/>
            <a:r>
              <a:rPr sz="1200" b="1">
                <a:solidFill>
                  <a:srgbClr val="73A467"/>
                </a:solidFill>
                <a:latin typeface="Microsoft YaHei"/>
              </a:rPr>
              <a:t>空间控制建议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331720" y="5074920"/>
            <a:ext cx="8549640" cy="347472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l"/>
            <a:r>
              <a:rPr sz="1400" b="1">
                <a:solidFill>
                  <a:srgbClr val="233933"/>
                </a:solidFill>
                <a:latin typeface="Microsoft YaHei"/>
              </a:rPr>
              <a:t>保留连续净通行带；将座椅、展陈、树池和雨水花园放入侧向停留带；每个节点都对应一个入口、楼梯、空井或观江方向。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594360" y="6510528"/>
            <a:ext cx="11000232" cy="0"/>
          </a:xfrm>
          <a:prstGeom prst="line">
            <a:avLst/>
          </a:prstGeom>
          <a:ln w="10160">
            <a:solidFill>
              <a:srgbClr val="BDC7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TextBox 38"/>
          <p:cNvSpPr txBox="1"/>
          <p:nvPr/>
        </p:nvSpPr>
        <p:spPr>
          <a:xfrm>
            <a:off x="594360" y="6583680"/>
            <a:ext cx="10058400" cy="164592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l"/>
            <a:r>
              <a:rPr sz="800" b="0">
                <a:solidFill>
                  <a:srgbClr val="5F6F67"/>
                </a:solidFill>
                <a:latin typeface="Microsoft YaHei"/>
              </a:rPr>
              <a:t>廊下花园专项深化｜概念方案，需经 CAD、结构、消防、无障碍与设备专项复核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287000" y="6583680"/>
            <a:ext cx="1280160" cy="164592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r"/>
            <a:r>
              <a:rPr sz="800" b="0">
                <a:solidFill>
                  <a:srgbClr val="5F6F67"/>
                </a:solidFill>
                <a:latin typeface="Microsoft YaHei"/>
              </a:rPr>
              <a:t>专项深化 PPT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5486400" cy="219456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l"/>
            <a:r>
              <a:rPr sz="1000" b="1">
                <a:solidFill>
                  <a:srgbClr val="5F6F67"/>
                </a:solidFill>
                <a:latin typeface="Microsoft YaHei"/>
              </a:rPr>
              <a:t>05  SERVICE 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585216"/>
            <a:ext cx="10515600" cy="411480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l"/>
            <a:r>
              <a:rPr sz="2500" b="1">
                <a:solidFill>
                  <a:srgbClr val="233933"/>
                </a:solidFill>
                <a:latin typeface="Microsoft YaHei"/>
              </a:rPr>
              <a:t>问题三：建立厂区侧服务流线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347472"/>
            <a:ext cx="502920" cy="329184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r"/>
            <a:r>
              <a:rPr sz="2000" b="0">
                <a:solidFill>
                  <a:srgbClr val="5F6F67"/>
                </a:solidFill>
                <a:latin typeface="Microsoft YaHei"/>
              </a:rPr>
              <a:t>06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94360" y="1143000"/>
            <a:ext cx="11000232" cy="0"/>
          </a:xfrm>
          <a:prstGeom prst="line">
            <a:avLst/>
          </a:prstGeom>
          <a:ln w="12700">
            <a:solidFill>
              <a:srgbClr val="BDC7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685800" y="1417320"/>
            <a:ext cx="6720840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DC7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709928"/>
            <a:ext cx="4754880" cy="274320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l"/>
            <a:r>
              <a:rPr sz="1800" b="1">
                <a:solidFill>
                  <a:srgbClr val="233933"/>
                </a:solidFill>
                <a:latin typeface="Microsoft YaHei"/>
              </a:rPr>
              <a:t>游客流线与服务流线平行但不交叉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05840" y="2395728"/>
            <a:ext cx="6035040" cy="502920"/>
          </a:xfrm>
          <a:prstGeom prst="roundRect">
            <a:avLst/>
          </a:prstGeom>
          <a:solidFill>
            <a:srgbClr val="DCE9D6"/>
          </a:solidFill>
          <a:ln w="12700">
            <a:solidFill>
              <a:srgbClr val="73A4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34440" y="2560320"/>
            <a:ext cx="5577840" cy="182880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ctr"/>
            <a:r>
              <a:rPr sz="1300" b="1">
                <a:solidFill>
                  <a:srgbClr val="233933"/>
                </a:solidFill>
                <a:latin typeface="Microsoft YaHei"/>
              </a:rPr>
              <a:t>滨江侧：游客主线  展览 → 零售 → 餐饮 → 观江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05840" y="3703320"/>
            <a:ext cx="6035040" cy="502920"/>
          </a:xfrm>
          <a:prstGeom prst="roundRect">
            <a:avLst/>
          </a:prstGeom>
          <a:solidFill>
            <a:srgbClr val="EEDECC"/>
          </a:solidFill>
          <a:ln w="12700">
            <a:solidFill>
              <a:srgbClr val="A067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34440" y="3867912"/>
            <a:ext cx="5577840" cy="182880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ctr"/>
            <a:r>
              <a:rPr sz="1300" b="1">
                <a:solidFill>
                  <a:srgbClr val="233933"/>
                </a:solidFill>
                <a:latin typeface="Microsoft YaHei"/>
              </a:rPr>
              <a:t>厂区侧：后勤线  装卸 → 厨房/补货 → 垃圾暂存 → 外运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1280160" y="2926080"/>
            <a:ext cx="0" cy="704088"/>
          </a:xfrm>
          <a:prstGeom prst="line">
            <a:avLst/>
          </a:prstGeom>
          <a:ln w="25400">
            <a:solidFill>
              <a:srgbClr val="A067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960119" y="3154680"/>
            <a:ext cx="640080" cy="164592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ctr"/>
            <a:r>
              <a:rPr sz="1000" b="1">
                <a:solidFill>
                  <a:srgbClr val="A06737"/>
                </a:solidFill>
                <a:latin typeface="Microsoft YaHei"/>
              </a:rPr>
              <a:t>装卸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3063240" y="2926080"/>
            <a:ext cx="0" cy="704088"/>
          </a:xfrm>
          <a:prstGeom prst="line">
            <a:avLst/>
          </a:prstGeom>
          <a:ln w="25400">
            <a:solidFill>
              <a:srgbClr val="A067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2743200" y="3154680"/>
            <a:ext cx="640080" cy="164592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ctr"/>
            <a:r>
              <a:rPr sz="1000" b="1">
                <a:solidFill>
                  <a:srgbClr val="A06737"/>
                </a:solidFill>
                <a:latin typeface="Microsoft YaHei"/>
              </a:rPr>
              <a:t>布展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4800600" y="2926080"/>
            <a:ext cx="0" cy="704088"/>
          </a:xfrm>
          <a:prstGeom prst="line">
            <a:avLst/>
          </a:prstGeom>
          <a:ln w="25400">
            <a:solidFill>
              <a:srgbClr val="A067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4480560" y="3154680"/>
            <a:ext cx="640080" cy="164592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ctr"/>
            <a:r>
              <a:rPr sz="1000" b="1">
                <a:solidFill>
                  <a:srgbClr val="A06737"/>
                </a:solidFill>
                <a:latin typeface="Microsoft YaHei"/>
              </a:rPr>
              <a:t>厨房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6080760" y="2926080"/>
            <a:ext cx="0" cy="704088"/>
          </a:xfrm>
          <a:prstGeom prst="line">
            <a:avLst/>
          </a:prstGeom>
          <a:ln w="25400">
            <a:solidFill>
              <a:srgbClr val="A067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5760720" y="3154680"/>
            <a:ext cx="640080" cy="164592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ctr"/>
            <a:r>
              <a:rPr sz="1000" b="1">
                <a:solidFill>
                  <a:srgbClr val="A06737"/>
                </a:solidFill>
                <a:latin typeface="Microsoft YaHei"/>
              </a:rPr>
              <a:t>垃圾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680960" y="1417320"/>
            <a:ext cx="3840480" cy="4480560"/>
          </a:xfrm>
          <a:prstGeom prst="roundRect">
            <a:avLst/>
          </a:prstGeom>
          <a:solidFill>
            <a:srgbClr val="EEDECC"/>
          </a:solidFill>
          <a:ln w="12700">
            <a:solidFill>
              <a:srgbClr val="A067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001000" y="1737360"/>
            <a:ext cx="2286000" cy="274320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l"/>
            <a:r>
              <a:rPr sz="1800" b="1">
                <a:solidFill>
                  <a:srgbClr val="233933"/>
                </a:solidFill>
                <a:latin typeface="Microsoft YaHei"/>
              </a:rPr>
              <a:t>新增小型设施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01000" y="2331720"/>
            <a:ext cx="146304" cy="274320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l"/>
            <a:r>
              <a:rPr sz="1500" b="1">
                <a:solidFill>
                  <a:srgbClr val="A06737"/>
                </a:solidFill>
                <a:latin typeface="Microsoft YaHei"/>
              </a:rPr>
              <a:t>•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183879" y="2331720"/>
            <a:ext cx="3017520" cy="393192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l"/>
            <a:r>
              <a:rPr sz="1300" b="0">
                <a:solidFill>
                  <a:srgbClr val="233933"/>
                </a:solidFill>
                <a:latin typeface="Microsoft YaHei"/>
              </a:rPr>
              <a:t>厂区侧连续 3m 后勤通道（概念宽度）。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001000" y="2926080"/>
            <a:ext cx="146304" cy="274320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l"/>
            <a:r>
              <a:rPr sz="1500" b="1">
                <a:solidFill>
                  <a:srgbClr val="A06737"/>
                </a:solidFill>
                <a:latin typeface="Microsoft YaHei"/>
              </a:rPr>
              <a:t>•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183879" y="2926080"/>
            <a:ext cx="3017520" cy="393192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l"/>
            <a:r>
              <a:rPr sz="1300" b="0">
                <a:solidFill>
                  <a:srgbClr val="233933"/>
                </a:solidFill>
                <a:latin typeface="Microsoft YaHei"/>
              </a:rPr>
              <a:t>西侧布展装卸缓冲间，服务展览与活动教室。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001000" y="3611880"/>
            <a:ext cx="146304" cy="274320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l"/>
            <a:r>
              <a:rPr sz="1500" b="1">
                <a:solidFill>
                  <a:srgbClr val="A06737"/>
                </a:solidFill>
                <a:latin typeface="Microsoft YaHei"/>
              </a:rPr>
              <a:t>•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183879" y="3611880"/>
            <a:ext cx="3017520" cy="393192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l"/>
            <a:r>
              <a:rPr sz="1300" b="0">
                <a:solidFill>
                  <a:srgbClr val="233933"/>
                </a:solidFill>
                <a:latin typeface="Microsoft YaHei"/>
              </a:rPr>
              <a:t>东侧厨房后勤、冷藏、垃圾暂存和设备检修点。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001000" y="4297680"/>
            <a:ext cx="146304" cy="274320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l"/>
            <a:r>
              <a:rPr sz="1500" b="1">
                <a:solidFill>
                  <a:srgbClr val="A06737"/>
                </a:solidFill>
                <a:latin typeface="Microsoft YaHei"/>
              </a:rPr>
              <a:t>•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183879" y="4297680"/>
            <a:ext cx="3017520" cy="393192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l"/>
            <a:r>
              <a:rPr sz="1300" b="0">
                <a:solidFill>
                  <a:srgbClr val="233933"/>
                </a:solidFill>
                <a:latin typeface="Microsoft YaHei"/>
              </a:rPr>
              <a:t>后勤门与游客入口分开，运营时间可独立控制。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594360" y="6510528"/>
            <a:ext cx="11000232" cy="0"/>
          </a:xfrm>
          <a:prstGeom prst="line">
            <a:avLst/>
          </a:prstGeom>
          <a:ln w="10160">
            <a:solidFill>
              <a:srgbClr val="BDC7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594360" y="6583680"/>
            <a:ext cx="10058400" cy="164592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l"/>
            <a:r>
              <a:rPr sz="800" b="0">
                <a:solidFill>
                  <a:srgbClr val="5F6F67"/>
                </a:solidFill>
                <a:latin typeface="Microsoft YaHei"/>
              </a:rPr>
              <a:t>廊下花园专项深化｜概念方案，需经 CAD、结构、消防、无障碍与设备专项复核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287000" y="6583680"/>
            <a:ext cx="1280160" cy="164592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r"/>
            <a:r>
              <a:rPr sz="800" b="0">
                <a:solidFill>
                  <a:srgbClr val="5F6F67"/>
                </a:solidFill>
                <a:latin typeface="Microsoft YaHei"/>
              </a:rPr>
              <a:t>专项深化 PPT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5486400" cy="219456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l"/>
            <a:r>
              <a:rPr sz="1000" b="1">
                <a:solidFill>
                  <a:srgbClr val="5F6F67"/>
                </a:solidFill>
                <a:latin typeface="Microsoft YaHei"/>
              </a:rPr>
              <a:t>06  SECOND FLOOR PROGRAM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585216"/>
            <a:ext cx="10515600" cy="411480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l"/>
            <a:r>
              <a:rPr sz="2500" b="1">
                <a:solidFill>
                  <a:srgbClr val="233933"/>
                </a:solidFill>
                <a:latin typeface="Microsoft YaHei"/>
              </a:rPr>
              <a:t>问题四：给二层一个明确的公共目的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347472"/>
            <a:ext cx="502920" cy="329184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r"/>
            <a:r>
              <a:rPr sz="2000" b="0">
                <a:solidFill>
                  <a:srgbClr val="5F6F67"/>
                </a:solidFill>
                <a:latin typeface="Microsoft YaHei"/>
              </a:rPr>
              <a:t>07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94360" y="1143000"/>
            <a:ext cx="11000232" cy="0"/>
          </a:xfrm>
          <a:prstGeom prst="line">
            <a:avLst/>
          </a:prstGeom>
          <a:ln w="12700">
            <a:solidFill>
              <a:srgbClr val="BDC7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685800" y="1417320"/>
            <a:ext cx="6583680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DC7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691640"/>
            <a:ext cx="5943600" cy="384048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l"/>
            <a:r>
              <a:rPr sz="1500" b="0">
                <a:solidFill>
                  <a:srgbClr val="233933"/>
                </a:solidFill>
                <a:latin typeface="Microsoft YaHei"/>
              </a:rPr>
              <a:t>二层局部平台不满铺，围绕空井和通高公共步道形成四类目的地。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1097280" y="4434840"/>
            <a:ext cx="5715000" cy="0"/>
          </a:xfrm>
          <a:prstGeom prst="line">
            <a:avLst/>
          </a:prstGeom>
          <a:ln w="38100">
            <a:solidFill>
              <a:srgbClr val="2339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1097280" y="2331720"/>
            <a:ext cx="5715000" cy="0"/>
          </a:xfrm>
          <a:prstGeom prst="line">
            <a:avLst/>
          </a:prstGeom>
          <a:ln w="38100">
            <a:solidFill>
              <a:srgbClr val="2339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1097280" y="1783080"/>
            <a:ext cx="5715000" cy="0"/>
          </a:xfrm>
          <a:prstGeom prst="line">
            <a:avLst/>
          </a:prstGeom>
          <a:ln w="25400">
            <a:solidFill>
              <a:srgbClr val="2339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1417320" y="3017520"/>
            <a:ext cx="1325880" cy="914400"/>
          </a:xfrm>
          <a:prstGeom prst="roundRect">
            <a:avLst/>
          </a:prstGeom>
          <a:solidFill>
            <a:srgbClr val="EEDECC"/>
          </a:solidFill>
          <a:ln w="12700">
            <a:solidFill>
              <a:srgbClr val="A067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417320" y="3291840"/>
            <a:ext cx="1325880" cy="365760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ctr"/>
            <a:r>
              <a:rPr sz="1300" b="1">
                <a:solidFill>
                  <a:srgbClr val="233933"/>
                </a:solidFill>
                <a:latin typeface="Microsoft YaHei"/>
              </a:rPr>
              <a:t>一层
零售 / 餐饮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063240" y="2560320"/>
            <a:ext cx="1508760" cy="960120"/>
          </a:xfrm>
          <a:prstGeom prst="roundRect">
            <a:avLst/>
          </a:prstGeom>
          <a:solidFill>
            <a:srgbClr val="DCE9F1"/>
          </a:solidFill>
          <a:ln w="12700">
            <a:solidFill>
              <a:srgbClr val="7BA6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063240" y="2880360"/>
            <a:ext cx="1508760" cy="365760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ctr"/>
            <a:r>
              <a:rPr sz="1300" b="1">
                <a:solidFill>
                  <a:srgbClr val="233933"/>
                </a:solidFill>
                <a:latin typeface="Microsoft YaHei"/>
              </a:rPr>
              <a:t>二层
阅读 / 小展陈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892040" y="2560320"/>
            <a:ext cx="1554480" cy="960120"/>
          </a:xfrm>
          <a:prstGeom prst="roundRect">
            <a:avLst/>
          </a:prstGeom>
          <a:solidFill>
            <a:srgbClr val="EEDECC"/>
          </a:solidFill>
          <a:ln w="12700">
            <a:solidFill>
              <a:srgbClr val="A067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892040" y="2880360"/>
            <a:ext cx="1554480" cy="365760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ctr"/>
            <a:r>
              <a:rPr sz="1300" b="1">
                <a:solidFill>
                  <a:srgbClr val="233933"/>
                </a:solidFill>
                <a:latin typeface="Microsoft YaHei"/>
              </a:rPr>
              <a:t>共享
工作坊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520440" y="3794760"/>
            <a:ext cx="914400" cy="502920"/>
          </a:xfrm>
          <a:prstGeom prst="roundRect">
            <a:avLst/>
          </a:prstGeom>
          <a:solidFill>
            <a:srgbClr val="DCE9D6"/>
          </a:solidFill>
          <a:ln w="12700">
            <a:solidFill>
              <a:srgbClr val="73A4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520440" y="3941063"/>
            <a:ext cx="914400" cy="164592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ctr"/>
            <a:r>
              <a:rPr sz="1000" b="1">
                <a:solidFill>
                  <a:srgbClr val="73A467"/>
                </a:solidFill>
                <a:latin typeface="Microsoft YaHei"/>
              </a:rPr>
              <a:t>树木空井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194560" y="1901952"/>
            <a:ext cx="3291840" cy="201168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ctr"/>
            <a:r>
              <a:rPr sz="1100" b="0">
                <a:solidFill>
                  <a:srgbClr val="5F6F67"/>
                </a:solidFill>
                <a:latin typeface="Microsoft YaHei"/>
              </a:rPr>
              <a:t>18.5m 网架下高 / 21.37m 檐口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543800" y="1417320"/>
            <a:ext cx="3977639" cy="4480560"/>
          </a:xfrm>
          <a:prstGeom prst="roundRect">
            <a:avLst/>
          </a:prstGeom>
          <a:solidFill>
            <a:srgbClr val="DCE9F1"/>
          </a:solidFill>
          <a:ln w="12700">
            <a:solidFill>
              <a:srgbClr val="7BA6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863840" y="1737360"/>
            <a:ext cx="2286000" cy="274320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l"/>
            <a:r>
              <a:rPr sz="1800" b="1">
                <a:solidFill>
                  <a:srgbClr val="233933"/>
                </a:solidFill>
                <a:latin typeface="Microsoft YaHei"/>
              </a:rPr>
              <a:t>新增二层体块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863840" y="2331720"/>
            <a:ext cx="146304" cy="274320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l"/>
            <a:r>
              <a:rPr sz="1500" b="1">
                <a:solidFill>
                  <a:srgbClr val="A06737"/>
                </a:solidFill>
                <a:latin typeface="Microsoft YaHei"/>
              </a:rPr>
              <a:t>•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46719" y="2331720"/>
            <a:ext cx="3154680" cy="393192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l"/>
            <a:r>
              <a:rPr sz="1300" b="0">
                <a:solidFill>
                  <a:srgbClr val="233933"/>
                </a:solidFill>
                <a:latin typeface="Microsoft YaHei"/>
              </a:rPr>
              <a:t>阅读休憩 + 小型展陈：让二层成为文化游线的一部分。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863840" y="3063240"/>
            <a:ext cx="146304" cy="274320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l"/>
            <a:r>
              <a:rPr sz="1500" b="1">
                <a:solidFill>
                  <a:srgbClr val="A06737"/>
                </a:solidFill>
                <a:latin typeface="Microsoft YaHei"/>
              </a:rPr>
              <a:t>•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046719" y="3063240"/>
            <a:ext cx="3154680" cy="393192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l"/>
            <a:r>
              <a:rPr sz="1300" b="0">
                <a:solidFill>
                  <a:srgbClr val="233933"/>
                </a:solidFill>
                <a:latin typeface="Microsoft YaHei"/>
              </a:rPr>
              <a:t>共享工作坊：支持社区课程、设计工作室和手作活动。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863840" y="3794760"/>
            <a:ext cx="146304" cy="274320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l"/>
            <a:r>
              <a:rPr sz="1500" b="1">
                <a:solidFill>
                  <a:srgbClr val="A06737"/>
                </a:solidFill>
                <a:latin typeface="Microsoft YaHei"/>
              </a:rPr>
              <a:t>•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046719" y="3794760"/>
            <a:ext cx="3154680" cy="393192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l"/>
            <a:r>
              <a:rPr sz="1300" b="0">
                <a:solidFill>
                  <a:srgbClr val="233933"/>
                </a:solidFill>
                <a:latin typeface="Microsoft YaHei"/>
              </a:rPr>
              <a:t>观景咖啡平台：为滨江端提供明确的上楼理由。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863840" y="4526280"/>
            <a:ext cx="146304" cy="274320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l"/>
            <a:r>
              <a:rPr sz="1500" b="1">
                <a:solidFill>
                  <a:srgbClr val="A06737"/>
                </a:solidFill>
                <a:latin typeface="Microsoft YaHei"/>
              </a:rPr>
              <a:t>•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046719" y="4526280"/>
            <a:ext cx="3154680" cy="393192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l"/>
            <a:r>
              <a:rPr sz="1300" b="0">
                <a:solidFill>
                  <a:srgbClr val="233933"/>
                </a:solidFill>
                <a:latin typeface="Microsoft YaHei"/>
              </a:rPr>
              <a:t>所有新增体块采用独立支撑，保留桁架连续可见。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594360" y="6510528"/>
            <a:ext cx="11000232" cy="0"/>
          </a:xfrm>
          <a:prstGeom prst="line">
            <a:avLst/>
          </a:prstGeom>
          <a:ln w="10160">
            <a:solidFill>
              <a:srgbClr val="BDC7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594360" y="6583680"/>
            <a:ext cx="10058400" cy="164592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l"/>
            <a:r>
              <a:rPr sz="800" b="0">
                <a:solidFill>
                  <a:srgbClr val="5F6F67"/>
                </a:solidFill>
                <a:latin typeface="Microsoft YaHei"/>
              </a:rPr>
              <a:t>廊下花园专项深化｜概念方案，需经 CAD、结构、消防、无障碍与设备专项复核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287000" y="6583680"/>
            <a:ext cx="1280160" cy="164592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r"/>
            <a:r>
              <a:rPr sz="800" b="0">
                <a:solidFill>
                  <a:srgbClr val="5F6F67"/>
                </a:solidFill>
                <a:latin typeface="Microsoft YaHei"/>
              </a:rPr>
              <a:t>专项深化 PPT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5486400" cy="219456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l"/>
            <a:r>
              <a:rPr sz="1000" b="1">
                <a:solidFill>
                  <a:srgbClr val="5F6F67"/>
                </a:solidFill>
                <a:latin typeface="Microsoft YaHei"/>
              </a:rPr>
              <a:t>07  GREEN MAINTENANCE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585216"/>
            <a:ext cx="10515600" cy="411480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l"/>
            <a:r>
              <a:rPr sz="2500" b="1">
                <a:solidFill>
                  <a:srgbClr val="233933"/>
                </a:solidFill>
                <a:latin typeface="Microsoft YaHei"/>
              </a:rPr>
              <a:t>问题五：让绿化成为可维护的基础设施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347472"/>
            <a:ext cx="502920" cy="329184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r"/>
            <a:r>
              <a:rPr sz="2000" b="0">
                <a:solidFill>
                  <a:srgbClr val="5F6F67"/>
                </a:solidFill>
                <a:latin typeface="Microsoft YaHei"/>
              </a:rPr>
              <a:t>08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94360" y="1143000"/>
            <a:ext cx="11000232" cy="0"/>
          </a:xfrm>
          <a:prstGeom prst="line">
            <a:avLst/>
          </a:prstGeom>
          <a:ln w="12700">
            <a:solidFill>
              <a:srgbClr val="BDC7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7" name="Picture 6" descr="07_树木贯穿两层局部空井效果图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1417320"/>
            <a:ext cx="4937760" cy="452628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5897880" y="1417320"/>
            <a:ext cx="5623560" cy="4526280"/>
          </a:xfrm>
          <a:prstGeom prst="roundRect">
            <a:avLst/>
          </a:prstGeom>
          <a:solidFill>
            <a:srgbClr val="DCE9D6"/>
          </a:solidFill>
          <a:ln w="12700">
            <a:solidFill>
              <a:srgbClr val="73A4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63640" y="1755648"/>
            <a:ext cx="2377440" cy="274320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l"/>
            <a:r>
              <a:rPr sz="1800" b="1">
                <a:solidFill>
                  <a:srgbClr val="233933"/>
                </a:solidFill>
                <a:latin typeface="Microsoft YaHei"/>
              </a:rPr>
              <a:t>生态维护闭环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63640" y="2286000"/>
            <a:ext cx="411480" cy="228600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l"/>
            <a:r>
              <a:rPr sz="1100" b="1">
                <a:solidFill>
                  <a:srgbClr val="73A467"/>
                </a:solidFill>
                <a:latin typeface="Microsoft YaHei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12280" y="2286000"/>
            <a:ext cx="914400" cy="228600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l"/>
            <a:r>
              <a:rPr sz="1400" b="1">
                <a:solidFill>
                  <a:srgbClr val="233933"/>
                </a:solidFill>
                <a:latin typeface="Microsoft YaHei"/>
              </a:rPr>
              <a:t>雨水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35240" y="2286000"/>
            <a:ext cx="3337560" cy="365760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l"/>
            <a:r>
              <a:rPr sz="1100" b="0">
                <a:solidFill>
                  <a:srgbClr val="5F6F67"/>
                </a:solidFill>
                <a:latin typeface="Microsoft YaHei"/>
              </a:rPr>
              <a:t>屋面汇水 → 过滤 → 储水罐 → 灌溉树池与雨水花园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63640" y="3017520"/>
            <a:ext cx="411480" cy="228600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l"/>
            <a:r>
              <a:rPr sz="1100" b="1">
                <a:solidFill>
                  <a:srgbClr val="73A467"/>
                </a:solidFill>
                <a:latin typeface="Microsoft YaHei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12280" y="3017520"/>
            <a:ext cx="914400" cy="228600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l"/>
            <a:r>
              <a:rPr sz="1400" b="1">
                <a:solidFill>
                  <a:srgbClr val="233933"/>
                </a:solidFill>
                <a:latin typeface="Microsoft YaHei"/>
              </a:rPr>
              <a:t>植物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35240" y="3017520"/>
            <a:ext cx="3337560" cy="365760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l"/>
            <a:r>
              <a:rPr sz="1100" b="0">
                <a:solidFill>
                  <a:srgbClr val="5F6F67"/>
                </a:solidFill>
                <a:latin typeface="Microsoft YaHei"/>
              </a:rPr>
              <a:t>耐阴、耐湿、根系可控的乔灌草分层配置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63640" y="3749039"/>
            <a:ext cx="411480" cy="228600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l"/>
            <a:r>
              <a:rPr sz="1100" b="1">
                <a:solidFill>
                  <a:srgbClr val="73A467"/>
                </a:solidFill>
                <a:latin typeface="Microsoft YaHei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12280" y="3749039"/>
            <a:ext cx="914400" cy="228600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l"/>
            <a:r>
              <a:rPr sz="1400" b="1">
                <a:solidFill>
                  <a:srgbClr val="233933"/>
                </a:solidFill>
                <a:latin typeface="Microsoft YaHei"/>
              </a:rPr>
              <a:t>维护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35240" y="3749039"/>
            <a:ext cx="3337560" cy="365760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l"/>
            <a:r>
              <a:rPr sz="1100" b="0">
                <a:solidFill>
                  <a:srgbClr val="5F6F67"/>
                </a:solidFill>
                <a:latin typeface="Microsoft YaHei"/>
              </a:rPr>
              <a:t>工具间、苗圃维护点、检修口与独立维护通道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63640" y="4480560"/>
            <a:ext cx="411480" cy="228600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l"/>
            <a:r>
              <a:rPr sz="1100" b="1">
                <a:solidFill>
                  <a:srgbClr val="73A467"/>
                </a:solidFill>
                <a:latin typeface="Microsoft YaHei"/>
              </a:rPr>
              <a:t>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12280" y="4480560"/>
            <a:ext cx="914400" cy="228600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l"/>
            <a:r>
              <a:rPr sz="1400" b="1">
                <a:solidFill>
                  <a:srgbClr val="233933"/>
                </a:solidFill>
                <a:latin typeface="Microsoft YaHei"/>
              </a:rPr>
              <a:t>运营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635240" y="4480560"/>
            <a:ext cx="3337560" cy="365760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l"/>
            <a:r>
              <a:rPr sz="1100" b="0">
                <a:solidFill>
                  <a:srgbClr val="5F6F67"/>
                </a:solidFill>
                <a:latin typeface="Microsoft YaHei"/>
              </a:rPr>
              <a:t>把植物维护、座椅、照明和夜间安全纳入公共空间管理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63640" y="5230368"/>
            <a:ext cx="4800600" cy="411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73A4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73952" y="5340096"/>
            <a:ext cx="4343400" cy="182880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ctr"/>
            <a:r>
              <a:rPr sz="1200" b="1">
                <a:solidFill>
                  <a:srgbClr val="233933"/>
                </a:solidFill>
                <a:latin typeface="Microsoft YaHei"/>
              </a:rPr>
              <a:t>空井 = 采光 + 通风 + 植物生长 + 维护节点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594360" y="6510528"/>
            <a:ext cx="11000232" cy="0"/>
          </a:xfrm>
          <a:prstGeom prst="line">
            <a:avLst/>
          </a:prstGeom>
          <a:ln w="10160">
            <a:solidFill>
              <a:srgbClr val="BDC7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594360" y="6583680"/>
            <a:ext cx="10058400" cy="164592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l"/>
            <a:r>
              <a:rPr sz="800" b="0">
                <a:solidFill>
                  <a:srgbClr val="5F6F67"/>
                </a:solidFill>
                <a:latin typeface="Microsoft YaHei"/>
              </a:rPr>
              <a:t>廊下花园专项深化｜概念方案，需经 CAD、结构、消防、无障碍与设备专项复核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287000" y="6583680"/>
            <a:ext cx="1280160" cy="164592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r"/>
            <a:r>
              <a:rPr sz="800" b="0">
                <a:solidFill>
                  <a:srgbClr val="5F6F67"/>
                </a:solidFill>
                <a:latin typeface="Microsoft YaHei"/>
              </a:rPr>
              <a:t>专项深化 PPT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5486400" cy="219456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l"/>
            <a:r>
              <a:rPr sz="1000" b="1">
                <a:solidFill>
                  <a:srgbClr val="5F6F67"/>
                </a:solidFill>
                <a:latin typeface="Microsoft YaHei"/>
              </a:rPr>
              <a:t>08  TECHNICAL BASIS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585216"/>
            <a:ext cx="10515600" cy="411480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l"/>
            <a:r>
              <a:rPr sz="2500" b="1">
                <a:solidFill>
                  <a:srgbClr val="233933"/>
                </a:solidFill>
                <a:latin typeface="Microsoft YaHei"/>
              </a:rPr>
              <a:t>更新后的面积与技术基准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347472"/>
            <a:ext cx="502920" cy="329184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r"/>
            <a:r>
              <a:rPr sz="2000" b="0">
                <a:solidFill>
                  <a:srgbClr val="5F6F67"/>
                </a:solidFill>
                <a:latin typeface="Microsoft YaHei"/>
              </a:rPr>
              <a:t>09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94360" y="1143000"/>
            <a:ext cx="11000232" cy="0"/>
          </a:xfrm>
          <a:prstGeom prst="line">
            <a:avLst/>
          </a:prstGeom>
          <a:ln w="12700">
            <a:solidFill>
              <a:srgbClr val="BDC7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685800" y="1417320"/>
            <a:ext cx="5486400" cy="4526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DC7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737360"/>
            <a:ext cx="2377440" cy="274320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l"/>
            <a:r>
              <a:rPr sz="1800" b="1">
                <a:solidFill>
                  <a:srgbClr val="233933"/>
                </a:solidFill>
                <a:latin typeface="Microsoft YaHei"/>
              </a:rPr>
              <a:t>已确定结构数据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960120" y="2606040"/>
            <a:ext cx="4846320" cy="0"/>
          </a:xfrm>
          <a:prstGeom prst="line">
            <a:avLst/>
          </a:prstGeom>
          <a:ln w="8890">
            <a:solidFill>
              <a:srgbClr val="BDC7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960120" y="2240280"/>
            <a:ext cx="1645920" cy="228600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l"/>
            <a:r>
              <a:rPr sz="1300" b="0">
                <a:solidFill>
                  <a:srgbClr val="233933"/>
                </a:solidFill>
                <a:latin typeface="Microsoft YaHei"/>
              </a:rPr>
              <a:t>建筑长度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88920" y="2240280"/>
            <a:ext cx="2697480" cy="228600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l"/>
            <a:r>
              <a:rPr sz="1300" b="0">
                <a:solidFill>
                  <a:srgbClr val="5F6F67"/>
                </a:solidFill>
                <a:latin typeface="Microsoft YaHei"/>
              </a:rPr>
              <a:t>216m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960120" y="3136392"/>
            <a:ext cx="4846320" cy="0"/>
          </a:xfrm>
          <a:prstGeom prst="line">
            <a:avLst/>
          </a:prstGeom>
          <a:ln w="8890">
            <a:solidFill>
              <a:srgbClr val="BDC7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960120" y="2770632"/>
            <a:ext cx="1645920" cy="228600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l"/>
            <a:r>
              <a:rPr sz="1300" b="0">
                <a:solidFill>
                  <a:srgbClr val="233933"/>
                </a:solidFill>
                <a:latin typeface="Microsoft YaHei"/>
              </a:rPr>
              <a:t>横向宽度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88920" y="2770632"/>
            <a:ext cx="2697480" cy="228600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l"/>
            <a:r>
              <a:rPr sz="1300" b="0">
                <a:solidFill>
                  <a:srgbClr val="5F6F67"/>
                </a:solidFill>
                <a:latin typeface="Microsoft YaHei"/>
              </a:rPr>
              <a:t>40.5m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960120" y="3666744"/>
            <a:ext cx="4846320" cy="0"/>
          </a:xfrm>
          <a:prstGeom prst="line">
            <a:avLst/>
          </a:prstGeom>
          <a:ln w="8890">
            <a:solidFill>
              <a:srgbClr val="BDC7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960120" y="3300984"/>
            <a:ext cx="1645920" cy="228600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l"/>
            <a:r>
              <a:rPr sz="1300" b="0">
                <a:solidFill>
                  <a:srgbClr val="233933"/>
                </a:solidFill>
                <a:latin typeface="Microsoft YaHei"/>
              </a:rPr>
              <a:t>网架下高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88920" y="3300984"/>
            <a:ext cx="2697480" cy="228600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l"/>
            <a:r>
              <a:rPr sz="1300" b="0">
                <a:solidFill>
                  <a:srgbClr val="5F6F67"/>
                </a:solidFill>
                <a:latin typeface="Microsoft YaHei"/>
              </a:rPr>
              <a:t>18.5m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960120" y="4197096"/>
            <a:ext cx="4846320" cy="0"/>
          </a:xfrm>
          <a:prstGeom prst="line">
            <a:avLst/>
          </a:prstGeom>
          <a:ln w="8890">
            <a:solidFill>
              <a:srgbClr val="BDC7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960120" y="3831336"/>
            <a:ext cx="1645920" cy="228600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l"/>
            <a:r>
              <a:rPr sz="1300" b="0">
                <a:solidFill>
                  <a:srgbClr val="233933"/>
                </a:solidFill>
                <a:latin typeface="Microsoft YaHei"/>
              </a:rPr>
              <a:t>檐口高度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788920" y="3831336"/>
            <a:ext cx="2697480" cy="228600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l"/>
            <a:r>
              <a:rPr sz="1300" b="0">
                <a:solidFill>
                  <a:srgbClr val="5F6F67"/>
                </a:solidFill>
                <a:latin typeface="Microsoft YaHei"/>
              </a:rPr>
              <a:t>21.37m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960120" y="4727448"/>
            <a:ext cx="4846320" cy="0"/>
          </a:xfrm>
          <a:prstGeom prst="line">
            <a:avLst/>
          </a:prstGeom>
          <a:ln w="8890">
            <a:solidFill>
              <a:srgbClr val="BDC7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960120" y="4361688"/>
            <a:ext cx="1645920" cy="228600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l"/>
            <a:r>
              <a:rPr sz="1300" b="0">
                <a:solidFill>
                  <a:srgbClr val="233933"/>
                </a:solidFill>
                <a:latin typeface="Microsoft YaHei"/>
              </a:rPr>
              <a:t>首层包络面积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788920" y="4361688"/>
            <a:ext cx="2697480" cy="228600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l"/>
            <a:r>
              <a:rPr sz="1300" b="1">
                <a:solidFill>
                  <a:srgbClr val="A06737"/>
                </a:solidFill>
                <a:latin typeface="Microsoft YaHei"/>
              </a:rPr>
              <a:t>8,748㎡（216×40.5）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960120" y="5257800"/>
            <a:ext cx="4846320" cy="0"/>
          </a:xfrm>
          <a:prstGeom prst="line">
            <a:avLst/>
          </a:prstGeom>
          <a:ln w="8890">
            <a:solidFill>
              <a:srgbClr val="BDC7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960120" y="4892040"/>
            <a:ext cx="1645920" cy="228600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l"/>
            <a:r>
              <a:rPr sz="1300" b="0">
                <a:solidFill>
                  <a:srgbClr val="233933"/>
                </a:solidFill>
                <a:latin typeface="Microsoft YaHei"/>
              </a:rPr>
              <a:t>层数策略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788920" y="4892040"/>
            <a:ext cx="2697480" cy="228600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l"/>
            <a:r>
              <a:rPr sz="1300" b="0">
                <a:solidFill>
                  <a:srgbClr val="5F6F67"/>
                </a:solidFill>
                <a:latin typeface="Microsoft YaHei"/>
              </a:rPr>
              <a:t>首层 + 局部二层，取消三层运动场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537960" y="1417320"/>
            <a:ext cx="4983480" cy="4526280"/>
          </a:xfrm>
          <a:prstGeom prst="roundRect">
            <a:avLst/>
          </a:prstGeom>
          <a:solidFill>
            <a:srgbClr val="EEDECC"/>
          </a:solidFill>
          <a:ln w="12700">
            <a:solidFill>
              <a:srgbClr val="A067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858000" y="1737360"/>
            <a:ext cx="3291840" cy="274320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l"/>
            <a:r>
              <a:rPr sz="1800" b="1">
                <a:solidFill>
                  <a:srgbClr val="233933"/>
                </a:solidFill>
                <a:latin typeface="Microsoft YaHei"/>
              </a:rPr>
              <a:t>本次不直接锁定的指标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58000" y="2331720"/>
            <a:ext cx="146304" cy="274320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l"/>
            <a:r>
              <a:rPr sz="1500" b="1">
                <a:solidFill>
                  <a:srgbClr val="A06737"/>
                </a:solidFill>
                <a:latin typeface="Microsoft YaHei"/>
              </a:rPr>
              <a:t>•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040880" y="2331720"/>
            <a:ext cx="4023360" cy="393192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l"/>
            <a:r>
              <a:rPr sz="1300" b="0">
                <a:solidFill>
                  <a:srgbClr val="233933"/>
                </a:solidFill>
                <a:latin typeface="Microsoft YaHei"/>
              </a:rPr>
              <a:t>二层局部平台面积：按最新楼板边界 CAD 实测，不按宽度比例机械放大。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858000" y="3090672"/>
            <a:ext cx="146304" cy="274320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l"/>
            <a:r>
              <a:rPr sz="1500" b="1">
                <a:solidFill>
                  <a:srgbClr val="A06737"/>
                </a:solidFill>
                <a:latin typeface="Microsoft YaHei"/>
              </a:rPr>
              <a:t>•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040880" y="3090672"/>
            <a:ext cx="4023360" cy="393192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l"/>
            <a:r>
              <a:rPr sz="1300" b="0">
                <a:solidFill>
                  <a:srgbClr val="233933"/>
                </a:solidFill>
                <a:latin typeface="Microsoft YaHei"/>
              </a:rPr>
              <a:t>公共开放、绿化、功能房间面积：需结合柱网、消防分区和运营需求复核。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858000" y="3858768"/>
            <a:ext cx="146304" cy="274320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l"/>
            <a:r>
              <a:rPr sz="1500" b="1">
                <a:solidFill>
                  <a:srgbClr val="A06737"/>
                </a:solidFill>
                <a:latin typeface="Microsoft YaHei"/>
              </a:rPr>
              <a:t>•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040880" y="3858768"/>
            <a:ext cx="4023360" cy="393192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l"/>
            <a:r>
              <a:rPr sz="1300" b="0">
                <a:solidFill>
                  <a:srgbClr val="233933"/>
                </a:solidFill>
                <a:latin typeface="Microsoft YaHei"/>
              </a:rPr>
              <a:t>消防楼梯宽度、电梯尺寸、疏散距离和防火分区：按当地规范专项校核。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858000" y="4626864"/>
            <a:ext cx="146304" cy="274320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l"/>
            <a:r>
              <a:rPr sz="1500" b="1">
                <a:solidFill>
                  <a:srgbClr val="A06737"/>
                </a:solidFill>
                <a:latin typeface="Microsoft YaHei"/>
              </a:rPr>
              <a:t>•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040880" y="4626864"/>
            <a:ext cx="4023360" cy="393192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l"/>
            <a:r>
              <a:rPr sz="1300" b="0">
                <a:solidFill>
                  <a:srgbClr val="233933"/>
                </a:solidFill>
                <a:latin typeface="Microsoft YaHei"/>
              </a:rPr>
              <a:t>造价：新增设施应在结构、机电、排烟和景观工程量明确后重新估算。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594360" y="6510528"/>
            <a:ext cx="11000232" cy="0"/>
          </a:xfrm>
          <a:prstGeom prst="line">
            <a:avLst/>
          </a:prstGeom>
          <a:ln w="10160">
            <a:solidFill>
              <a:srgbClr val="BDC7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/>
        </p:nvSpPr>
        <p:spPr>
          <a:xfrm>
            <a:off x="594360" y="6583680"/>
            <a:ext cx="10058400" cy="164592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l"/>
            <a:r>
              <a:rPr sz="800" b="0">
                <a:solidFill>
                  <a:srgbClr val="5F6F67"/>
                </a:solidFill>
                <a:latin typeface="Microsoft YaHei"/>
              </a:rPr>
              <a:t>廊下花园专项深化｜概念方案，需经 CAD、结构、消防、无障碍与设备专项复核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287000" y="6583680"/>
            <a:ext cx="1280160" cy="164592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r"/>
            <a:r>
              <a:rPr sz="800" b="0">
                <a:solidFill>
                  <a:srgbClr val="5F6F67"/>
                </a:solidFill>
                <a:latin typeface="Microsoft YaHei"/>
              </a:rPr>
              <a:t>专项深化 PPT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5486400" cy="219456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l"/>
            <a:r>
              <a:rPr sz="1000" b="1">
                <a:solidFill>
                  <a:srgbClr val="5F6F67"/>
                </a:solidFill>
                <a:latin typeface="Microsoft YaHei"/>
              </a:rPr>
              <a:t>09  IMPLEMENTATION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585216"/>
            <a:ext cx="10515600" cy="411480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l"/>
            <a:r>
              <a:rPr sz="2500" b="1">
                <a:solidFill>
                  <a:srgbClr val="233933"/>
                </a:solidFill>
                <a:latin typeface="Microsoft YaHei"/>
              </a:rPr>
              <a:t>五项问题的落地顺序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347472"/>
            <a:ext cx="502920" cy="329184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r"/>
            <a:r>
              <a:rPr sz="2000" b="0">
                <a:solidFill>
                  <a:srgbClr val="5F6F67"/>
                </a:solidFill>
                <a:latin typeface="Microsoft YaHei"/>
              </a:rPr>
              <a:t>10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94360" y="1143000"/>
            <a:ext cx="11000232" cy="0"/>
          </a:xfrm>
          <a:prstGeom prst="line">
            <a:avLst/>
          </a:prstGeom>
          <a:ln w="12700">
            <a:solidFill>
              <a:srgbClr val="BDC7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777240" y="1920240"/>
            <a:ext cx="1097280" cy="713232"/>
          </a:xfrm>
          <a:prstGeom prst="roundRect">
            <a:avLst/>
          </a:prstGeom>
          <a:solidFill>
            <a:srgbClr val="183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148840"/>
            <a:ext cx="1097280" cy="201168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Microsoft YaHei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59" y="2880360"/>
            <a:ext cx="1463040" cy="228600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ctr"/>
            <a:r>
              <a:rPr sz="1500" b="1">
                <a:solidFill>
                  <a:srgbClr val="233933"/>
                </a:solidFill>
                <a:latin typeface="Microsoft YaHei"/>
              </a:rPr>
              <a:t>锁定基准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3273552"/>
            <a:ext cx="1691640" cy="868680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ctr"/>
            <a:r>
              <a:rPr sz="1100" b="0">
                <a:solidFill>
                  <a:srgbClr val="5F6F67"/>
                </a:solidFill>
                <a:latin typeface="Microsoft YaHei"/>
              </a:rPr>
              <a:t>216 × 40.5m、18.5m 网架下高、21.37m 檐口；统一轴网和标高。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1920240" y="2267712"/>
            <a:ext cx="914400" cy="0"/>
          </a:xfrm>
          <a:prstGeom prst="line">
            <a:avLst/>
          </a:prstGeom>
          <a:ln w="25400">
            <a:solidFill>
              <a:srgbClr val="BDC7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3035808" y="1920240"/>
            <a:ext cx="1097280" cy="713232"/>
          </a:xfrm>
          <a:prstGeom prst="roundRect">
            <a:avLst/>
          </a:prstGeom>
          <a:solidFill>
            <a:srgbClr val="183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035808" y="2148840"/>
            <a:ext cx="1097280" cy="201168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Microsoft YaHei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852928" y="2880360"/>
            <a:ext cx="1463040" cy="228600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ctr"/>
            <a:r>
              <a:rPr sz="1500" b="1">
                <a:solidFill>
                  <a:srgbClr val="233933"/>
                </a:solidFill>
                <a:latin typeface="Microsoft YaHei"/>
              </a:rPr>
              <a:t>先做安全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34056" y="3273552"/>
            <a:ext cx="1691640" cy="868680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ctr"/>
            <a:r>
              <a:rPr sz="1100" b="0">
                <a:solidFill>
                  <a:srgbClr val="5F6F67"/>
                </a:solidFill>
                <a:latin typeface="Microsoft YaHei"/>
              </a:rPr>
              <a:t>楼梯、电梯、疏散、无障碍、空井防护和防火分区。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4178808" y="2267712"/>
            <a:ext cx="914400" cy="0"/>
          </a:xfrm>
          <a:prstGeom prst="line">
            <a:avLst/>
          </a:prstGeom>
          <a:ln w="25400">
            <a:solidFill>
              <a:srgbClr val="BDC7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5294376" y="1920240"/>
            <a:ext cx="1097280" cy="713232"/>
          </a:xfrm>
          <a:prstGeom prst="roundRect">
            <a:avLst/>
          </a:prstGeom>
          <a:solidFill>
            <a:srgbClr val="183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294376" y="2148840"/>
            <a:ext cx="1097280" cy="201168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Microsoft YaHei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111496" y="2880360"/>
            <a:ext cx="1463040" cy="228600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ctr"/>
            <a:r>
              <a:rPr sz="1500" b="1">
                <a:solidFill>
                  <a:srgbClr val="233933"/>
                </a:solidFill>
                <a:latin typeface="Microsoft YaHei"/>
              </a:rPr>
              <a:t>再做运营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992624" y="3273552"/>
            <a:ext cx="1691640" cy="868680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ctr"/>
            <a:r>
              <a:rPr sz="1100" b="0">
                <a:solidFill>
                  <a:srgbClr val="5F6F67"/>
                </a:solidFill>
                <a:latin typeface="Microsoft YaHei"/>
              </a:rPr>
              <a:t>步道节点、后勤通道、布展装卸、厨房与垃圾暂存。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6437376" y="2267712"/>
            <a:ext cx="914399" cy="0"/>
          </a:xfrm>
          <a:prstGeom prst="line">
            <a:avLst/>
          </a:prstGeom>
          <a:ln w="25400">
            <a:solidFill>
              <a:srgbClr val="BDC7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7552944" y="1920240"/>
            <a:ext cx="1097280" cy="713232"/>
          </a:xfrm>
          <a:prstGeom prst="roundRect">
            <a:avLst/>
          </a:prstGeom>
          <a:solidFill>
            <a:srgbClr val="183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552944" y="2148840"/>
            <a:ext cx="1097280" cy="201168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Microsoft YaHei"/>
              </a:rPr>
              <a:t>04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70064" y="2880360"/>
            <a:ext cx="1463040" cy="228600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ctr"/>
            <a:r>
              <a:rPr sz="1500" b="1">
                <a:solidFill>
                  <a:srgbClr val="233933"/>
                </a:solidFill>
                <a:latin typeface="Microsoft YaHei"/>
              </a:rPr>
              <a:t>补足二层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51192" y="3273552"/>
            <a:ext cx="1691640" cy="868680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ctr"/>
            <a:r>
              <a:rPr sz="1100" b="0">
                <a:solidFill>
                  <a:srgbClr val="5F6F67"/>
                </a:solidFill>
                <a:latin typeface="Microsoft YaHei"/>
              </a:rPr>
              <a:t>阅读、小展陈、工作坊、观景咖啡平台与树木空井。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8695944" y="2267712"/>
            <a:ext cx="914400" cy="0"/>
          </a:xfrm>
          <a:prstGeom prst="line">
            <a:avLst/>
          </a:prstGeom>
          <a:ln w="25400">
            <a:solidFill>
              <a:srgbClr val="BDC7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9811512" y="1920240"/>
            <a:ext cx="1097280" cy="713232"/>
          </a:xfrm>
          <a:prstGeom prst="roundRect">
            <a:avLst/>
          </a:prstGeom>
          <a:solidFill>
            <a:srgbClr val="183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811512" y="2148840"/>
            <a:ext cx="1097280" cy="201168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Microsoft YaHei"/>
              </a:rPr>
              <a:t>05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628632" y="2880360"/>
            <a:ext cx="1463040" cy="228600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ctr"/>
            <a:r>
              <a:rPr sz="1500" b="1">
                <a:solidFill>
                  <a:srgbClr val="233933"/>
                </a:solidFill>
                <a:latin typeface="Microsoft YaHei"/>
              </a:rPr>
              <a:t>闭合生态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509760" y="3273552"/>
            <a:ext cx="1691640" cy="868680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ctr"/>
            <a:r>
              <a:rPr sz="1100" b="0">
                <a:solidFill>
                  <a:srgbClr val="5F6F67"/>
                </a:solidFill>
                <a:latin typeface="Microsoft YaHei"/>
              </a:rPr>
              <a:t>雨水、灌溉、苗圃、工具间、维护路径和植物清单。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60120" y="5212080"/>
            <a:ext cx="10241280" cy="530352"/>
          </a:xfrm>
          <a:prstGeom prst="roundRect">
            <a:avLst/>
          </a:prstGeom>
          <a:solidFill>
            <a:srgbClr val="DCE9D6"/>
          </a:solidFill>
          <a:ln w="12700">
            <a:solidFill>
              <a:srgbClr val="73A4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143000" y="5367528"/>
            <a:ext cx="9875520" cy="201168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ctr"/>
            <a:r>
              <a:rPr sz="1400" b="1">
                <a:solidFill>
                  <a:srgbClr val="233933"/>
                </a:solidFill>
                <a:latin typeface="Microsoft YaHei"/>
              </a:rPr>
              <a:t>结果：原有功能布局不变，但形成安全、可运营、可维护、可持续的“廊下花园”公共空间系统。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594360" y="6510528"/>
            <a:ext cx="11000232" cy="0"/>
          </a:xfrm>
          <a:prstGeom prst="line">
            <a:avLst/>
          </a:prstGeom>
          <a:ln w="10160">
            <a:solidFill>
              <a:srgbClr val="BDC7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594360" y="6583680"/>
            <a:ext cx="10058400" cy="164592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l"/>
            <a:r>
              <a:rPr sz="800" b="0">
                <a:solidFill>
                  <a:srgbClr val="5F6F67"/>
                </a:solidFill>
                <a:latin typeface="Microsoft YaHei"/>
              </a:rPr>
              <a:t>廊下花园专项深化｜概念方案，需经 CAD、结构、消防、无障碍与设备专项复核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287000" y="6583680"/>
            <a:ext cx="1280160" cy="164592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r"/>
            <a:r>
              <a:rPr sz="800" b="0">
                <a:solidFill>
                  <a:srgbClr val="5F6F67"/>
                </a:solidFill>
                <a:latin typeface="Microsoft YaHei"/>
              </a:rPr>
              <a:t>专项深化 PPT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